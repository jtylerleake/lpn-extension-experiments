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6"/>
  </p:notesMasterIdLst>
  <p:handoutMasterIdLst>
    <p:handoutMasterId r:id="rId7"/>
  </p:handoutMasterIdLst>
  <p:sldIdLst>
    <p:sldId id="283" r:id="rId2"/>
    <p:sldId id="289" r:id="rId3"/>
    <p:sldId id="290" r:id="rId4"/>
    <p:sldId id="291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590" userDrawn="1">
          <p15:clr>
            <a:srgbClr val="A4A3A4"/>
          </p15:clr>
        </p15:guide>
        <p15:guide id="2" orient="horz" pos="1656" userDrawn="1">
          <p15:clr>
            <a:srgbClr val="A4A3A4"/>
          </p15:clr>
        </p15:guide>
        <p15:guide id="3" pos="54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234B"/>
    <a:srgbClr val="AB0520"/>
    <a:srgbClr val="1E5288"/>
    <a:srgbClr val="4EA72E"/>
    <a:srgbClr val="106AB1"/>
    <a:srgbClr val="F2EFEA"/>
    <a:srgbClr val="9E0000"/>
    <a:srgbClr val="0000FF"/>
    <a:srgbClr val="FF797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33" y="62"/>
      </p:cViewPr>
      <p:guideLst>
        <p:guide pos="4590"/>
        <p:guide orient="horz" pos="1656"/>
        <p:guide pos="547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7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C6252BF-30AC-0341-149F-F2CD0681B4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41DD26-21A1-DC29-F9F6-53EB0B882B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950A6-1B47-4DE2-A2E4-16A3270F6C85}" type="datetimeFigureOut">
              <a:rPr lang="en-US" smtClean="0"/>
              <a:t>10/08/2026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85CC53-A606-8A64-6AA4-09ED352DDD5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7B6A5-01AD-B5FC-780F-F04BE9EE9B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E890A-A667-4778-BED7-31E20088D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157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79547A-5776-4380-B2F0-6D10DA2F49ED}" type="datetimeFigureOut">
              <a:rPr lang="en-US" smtClean="0"/>
              <a:t>10/08/2026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FC99D-A838-46DF-9DDE-78CC941D8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032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rgbClr val="1E52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9041-D81A-8B7D-C597-0CFB27E4F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3086436"/>
            <a:ext cx="8029575" cy="685800"/>
          </a:xfrm>
        </p:spPr>
        <p:txBody>
          <a:bodyPr anchor="ctr">
            <a:norm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F89AE30-89BD-B9EB-8A7B-8A8B8FAD47F5}"/>
              </a:ext>
            </a:extLst>
          </p:cNvPr>
          <p:cNvCxnSpPr>
            <a:cxnSpLocks/>
          </p:cNvCxnSpPr>
          <p:nvPr userDrawn="1"/>
        </p:nvCxnSpPr>
        <p:spPr>
          <a:xfrm>
            <a:off x="479943" y="3017856"/>
            <a:ext cx="0" cy="82296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489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">
    <p:bg>
      <p:bgPr>
        <a:solidFill>
          <a:srgbClr val="AB0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C2B93C8-56A2-15D3-13CD-913958CDE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3086436"/>
            <a:ext cx="8029575" cy="685800"/>
          </a:xfrm>
        </p:spPr>
        <p:txBody>
          <a:bodyPr anchor="ctr">
            <a:norm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43E60EA-240B-4681-B907-7A4E1EFE443E}"/>
              </a:ext>
            </a:extLst>
          </p:cNvPr>
          <p:cNvCxnSpPr>
            <a:cxnSpLocks/>
          </p:cNvCxnSpPr>
          <p:nvPr userDrawn="1"/>
        </p:nvCxnSpPr>
        <p:spPr>
          <a:xfrm>
            <a:off x="479943" y="3017856"/>
            <a:ext cx="0" cy="82296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82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F6059-8930-7107-63AB-E6525044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01" y="607485"/>
            <a:ext cx="8229600" cy="387258"/>
          </a:xfrm>
        </p:spPr>
        <p:txBody>
          <a:bodyPr lIns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C3F78-B6F1-D4A4-1305-3C973C090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701" y="1462729"/>
            <a:ext cx="8229600" cy="4842272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4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586F3-5D02-0914-F663-04039218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6" y="6485131"/>
            <a:ext cx="7291990" cy="228600"/>
          </a:xfrm>
        </p:spPr>
        <p:txBody>
          <a:bodyPr/>
          <a:lstStyle>
            <a:lvl1pPr algn="l">
              <a:defRPr sz="1200"/>
            </a:lvl1pPr>
          </a:lstStyle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87FEB-FC71-739E-D11C-5AA8A074C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8973" y="6485131"/>
            <a:ext cx="477827" cy="228600"/>
          </a:xfrm>
        </p:spPr>
        <p:txBody>
          <a:bodyPr/>
          <a:lstStyle>
            <a:lvl1pPr>
              <a:defRPr sz="1200"/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 sz="12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FF12DD4-7D96-C881-08EC-EEE924E03B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701" y="274625"/>
            <a:ext cx="8229600" cy="274320"/>
          </a:xfrm>
        </p:spPr>
        <p:txBody>
          <a:bodyPr lIns="0" anchor="ctr">
            <a:noAutofit/>
          </a:bodyPr>
          <a:lstStyle>
            <a:lvl1pPr marL="0" indent="0">
              <a:spcBef>
                <a:spcPts val="450"/>
              </a:spcBef>
              <a:buNone/>
              <a:defRPr sz="1300" b="1" i="0" cap="all" baseline="0">
                <a:solidFill>
                  <a:srgbClr val="C00000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9D62AE-C3FC-A00E-16E3-7B61E1750E50}"/>
              </a:ext>
            </a:extLst>
          </p:cNvPr>
          <p:cNvCxnSpPr>
            <a:cxnSpLocks/>
          </p:cNvCxnSpPr>
          <p:nvPr userDrawn="1"/>
        </p:nvCxnSpPr>
        <p:spPr>
          <a:xfrm>
            <a:off x="457200" y="1056304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5D7F130-F001-6499-248B-157FE784D7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2701" y="1122357"/>
            <a:ext cx="8231029" cy="274320"/>
          </a:xfrm>
        </p:spPr>
        <p:txBody>
          <a:bodyPr lIns="0" anchor="t">
            <a:noAutofit/>
          </a:bodyPr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596E07-EF93-073F-57C1-2D978E000A73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13912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File:Arizona Wildcats logo.svg - Wikimedia Commons">
            <a:extLst>
              <a:ext uri="{FF2B5EF4-FFF2-40B4-BE49-F238E27FC236}">
                <a16:creationId xmlns:a16="http://schemas.microsoft.com/office/drawing/2014/main" id="{6B15867A-DDBD-396E-8D54-3467CA9F75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07" y="6489930"/>
            <a:ext cx="236959" cy="2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68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pos="2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bg>
      <p:bgPr>
        <a:solidFill>
          <a:srgbClr val="F2E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31BC3EA-A564-8064-9F69-C308268EB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01" y="607485"/>
            <a:ext cx="8229600" cy="387258"/>
          </a:xfrm>
        </p:spPr>
        <p:txBody>
          <a:bodyPr lIns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004E324-BBDD-4A99-7C86-13B180C8B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701" y="1462729"/>
            <a:ext cx="8229600" cy="4842272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4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C2073B7-F4B7-F5A5-3B2D-4E06AFD3FD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701" y="274625"/>
            <a:ext cx="8229600" cy="274320"/>
          </a:xfrm>
        </p:spPr>
        <p:txBody>
          <a:bodyPr lIns="0" anchor="ctr">
            <a:noAutofit/>
          </a:bodyPr>
          <a:lstStyle>
            <a:lvl1pPr marL="0" indent="0">
              <a:spcBef>
                <a:spcPts val="450"/>
              </a:spcBef>
              <a:buNone/>
              <a:defRPr sz="1300" b="1" i="0" cap="all" baseline="0">
                <a:solidFill>
                  <a:srgbClr val="C00000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811126-2348-A5AF-C1FD-F3DF54E72A78}"/>
              </a:ext>
            </a:extLst>
          </p:cNvPr>
          <p:cNvCxnSpPr>
            <a:cxnSpLocks/>
          </p:cNvCxnSpPr>
          <p:nvPr userDrawn="1"/>
        </p:nvCxnSpPr>
        <p:spPr>
          <a:xfrm>
            <a:off x="457200" y="1056304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2CCF7C3C-ECA9-622C-8D1E-1F5F02E36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6" y="6485131"/>
            <a:ext cx="7291990" cy="228600"/>
          </a:xfrm>
        </p:spPr>
        <p:txBody>
          <a:bodyPr/>
          <a:lstStyle>
            <a:lvl1pPr algn="l">
              <a:defRPr sz="1200"/>
            </a:lvl1pPr>
          </a:lstStyle>
          <a:p>
            <a:endParaRPr lang="en-US" sz="1200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9FCEC7A-72E5-CDDF-04BC-950749FF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8973" y="6485131"/>
            <a:ext cx="477827" cy="228600"/>
          </a:xfrm>
        </p:spPr>
        <p:txBody>
          <a:bodyPr/>
          <a:lstStyle>
            <a:lvl1pPr>
              <a:defRPr sz="1200"/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 sz="12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8679B6-54F0-4076-EA12-2F813A3918A6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13912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File:Arizona Wildcats logo.svg - Wikimedia Commons">
            <a:extLst>
              <a:ext uri="{FF2B5EF4-FFF2-40B4-BE49-F238E27FC236}">
                <a16:creationId xmlns:a16="http://schemas.microsoft.com/office/drawing/2014/main" id="{E6F37EB9-5AB5-96E3-D26A-16435183B3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07" y="6489930"/>
            <a:ext cx="236959" cy="219002"/>
          </a:xfrm>
          <a:prstGeom prst="rect">
            <a:avLst/>
          </a:prstGeom>
        </p:spPr>
      </p:pic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4E4A507A-5DBF-A6A2-C5DE-84C550693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2701" y="1122357"/>
            <a:ext cx="8231029" cy="274320"/>
          </a:xfrm>
        </p:spPr>
        <p:txBody>
          <a:bodyPr lIns="0" anchor="t">
            <a:noAutofit/>
          </a:bodyPr>
          <a:lstStyle>
            <a:lvl1pPr>
              <a:lnSpc>
                <a:spcPts val="19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29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pos="2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93C829-8823-8C9C-4D74-A164C84572CA}"/>
              </a:ext>
            </a:extLst>
          </p:cNvPr>
          <p:cNvSpPr/>
          <p:nvPr userDrawn="1"/>
        </p:nvSpPr>
        <p:spPr>
          <a:xfrm>
            <a:off x="451698" y="1067337"/>
            <a:ext cx="4120301" cy="5346572"/>
          </a:xfrm>
          <a:prstGeom prst="rect">
            <a:avLst/>
          </a:prstGeom>
          <a:solidFill>
            <a:srgbClr val="F2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C3F78-B6F1-D4A4-1305-3C973C090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91" y="1203160"/>
            <a:ext cx="3930315" cy="5101842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4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16D0597-E61B-A844-526B-5E3BDBE3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01" y="607485"/>
            <a:ext cx="8229600" cy="387258"/>
          </a:xfrm>
        </p:spPr>
        <p:txBody>
          <a:bodyPr lIns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93BA80BA-0347-802D-ED8D-EC6EC44D30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701" y="274625"/>
            <a:ext cx="8229600" cy="274320"/>
          </a:xfrm>
        </p:spPr>
        <p:txBody>
          <a:bodyPr lIns="0" anchor="ctr">
            <a:noAutofit/>
          </a:bodyPr>
          <a:lstStyle>
            <a:lvl1pPr marL="0" indent="0">
              <a:spcBef>
                <a:spcPts val="450"/>
              </a:spcBef>
              <a:buNone/>
              <a:defRPr sz="1300" b="1" i="0" cap="all" baseline="0">
                <a:solidFill>
                  <a:srgbClr val="C00000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4D8F3C-4255-55E3-3442-02AE9DFB2521}"/>
              </a:ext>
            </a:extLst>
          </p:cNvPr>
          <p:cNvCxnSpPr>
            <a:cxnSpLocks/>
          </p:cNvCxnSpPr>
          <p:nvPr userDrawn="1"/>
        </p:nvCxnSpPr>
        <p:spPr>
          <a:xfrm>
            <a:off x="457200" y="1056304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9EA7DA3-0F54-FEFB-B958-EACC129BFD0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761986" y="1203160"/>
            <a:ext cx="3930315" cy="5101842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4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40" name="Footer Placeholder 4">
            <a:extLst>
              <a:ext uri="{FF2B5EF4-FFF2-40B4-BE49-F238E27FC236}">
                <a16:creationId xmlns:a16="http://schemas.microsoft.com/office/drawing/2014/main" id="{0D25A5CF-B93C-3399-EBB4-D072A246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6" y="6485131"/>
            <a:ext cx="7291990" cy="228600"/>
          </a:xfrm>
        </p:spPr>
        <p:txBody>
          <a:bodyPr/>
          <a:lstStyle>
            <a:lvl1pPr algn="l">
              <a:defRPr sz="1200"/>
            </a:lvl1pPr>
          </a:lstStyle>
          <a:p>
            <a:endParaRPr lang="en-US" sz="1200" dirty="0"/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443F13E4-FF7C-4F19-E974-7CDBFA4F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8973" y="6485131"/>
            <a:ext cx="477827" cy="228600"/>
          </a:xfrm>
        </p:spPr>
        <p:txBody>
          <a:bodyPr/>
          <a:lstStyle>
            <a:lvl1pPr>
              <a:defRPr sz="1200"/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3B69253-B81D-B3D7-69DF-DE9B67EE55E7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13912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2" descr="File:Arizona Wildcats logo.svg - Wikimedia Commons">
            <a:extLst>
              <a:ext uri="{FF2B5EF4-FFF2-40B4-BE49-F238E27FC236}">
                <a16:creationId xmlns:a16="http://schemas.microsoft.com/office/drawing/2014/main" id="{D0AC0779-26BA-0F51-B9AB-6152B2611A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07" y="6489930"/>
            <a:ext cx="236959" cy="2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59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pos="28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93C829-8823-8C9C-4D74-A164C84572CA}"/>
              </a:ext>
            </a:extLst>
          </p:cNvPr>
          <p:cNvSpPr/>
          <p:nvPr userDrawn="1"/>
        </p:nvSpPr>
        <p:spPr>
          <a:xfrm>
            <a:off x="4572000" y="1067337"/>
            <a:ext cx="4114800" cy="5346572"/>
          </a:xfrm>
          <a:prstGeom prst="rect">
            <a:avLst/>
          </a:prstGeom>
          <a:solidFill>
            <a:srgbClr val="F2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C3F78-B6F1-D4A4-1305-3C973C090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243" y="1203160"/>
            <a:ext cx="3930315" cy="5101842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4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16D0597-E61B-A844-526B-5E3BDBE3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01" y="607485"/>
            <a:ext cx="8229600" cy="387258"/>
          </a:xfrm>
        </p:spPr>
        <p:txBody>
          <a:bodyPr lIns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93BA80BA-0347-802D-ED8D-EC6EC44D30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701" y="274625"/>
            <a:ext cx="8229600" cy="274320"/>
          </a:xfrm>
        </p:spPr>
        <p:txBody>
          <a:bodyPr lIns="0" anchor="ctr">
            <a:noAutofit/>
          </a:bodyPr>
          <a:lstStyle>
            <a:lvl1pPr marL="0" indent="0">
              <a:spcBef>
                <a:spcPts val="450"/>
              </a:spcBef>
              <a:buNone/>
              <a:defRPr sz="1300" b="1" i="0" cap="all" baseline="0">
                <a:solidFill>
                  <a:srgbClr val="C00000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4D8F3C-4255-55E3-3442-02AE9DFB2521}"/>
              </a:ext>
            </a:extLst>
          </p:cNvPr>
          <p:cNvCxnSpPr>
            <a:cxnSpLocks/>
          </p:cNvCxnSpPr>
          <p:nvPr userDrawn="1"/>
        </p:nvCxnSpPr>
        <p:spPr>
          <a:xfrm>
            <a:off x="457200" y="1056304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50807C-A53B-DB65-D291-34B32C22538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7411" y="1203160"/>
            <a:ext cx="3930315" cy="5101842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4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DB8BA16-0EF1-9517-AC5E-592F6A93E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6" y="6485131"/>
            <a:ext cx="7291990" cy="228600"/>
          </a:xfrm>
        </p:spPr>
        <p:txBody>
          <a:bodyPr/>
          <a:lstStyle>
            <a:lvl1pPr algn="l">
              <a:defRPr sz="1200"/>
            </a:lvl1pPr>
          </a:lstStyle>
          <a:p>
            <a:endParaRPr lang="en-US" sz="12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AE6440B-CD16-D5D5-EF0A-EE7FA4D7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8973" y="6485131"/>
            <a:ext cx="477827" cy="228600"/>
          </a:xfrm>
        </p:spPr>
        <p:txBody>
          <a:bodyPr/>
          <a:lstStyle>
            <a:lvl1pPr>
              <a:defRPr sz="1200"/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 sz="12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6BFEAB-88C7-2870-3372-B181B97E6384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13912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File:Arizona Wildcats logo.svg - Wikimedia Commons">
            <a:extLst>
              <a:ext uri="{FF2B5EF4-FFF2-40B4-BE49-F238E27FC236}">
                <a16:creationId xmlns:a16="http://schemas.microsoft.com/office/drawing/2014/main" id="{F0C42098-0CAF-F8FA-C1AB-B5E81AA7D7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07" y="6489930"/>
            <a:ext cx="236959" cy="2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6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pos="28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93C829-8823-8C9C-4D74-A164C84572CA}"/>
              </a:ext>
            </a:extLst>
          </p:cNvPr>
          <p:cNvSpPr/>
          <p:nvPr userDrawn="1"/>
        </p:nvSpPr>
        <p:spPr>
          <a:xfrm>
            <a:off x="5172635" y="1067337"/>
            <a:ext cx="3514164" cy="5346572"/>
          </a:xfrm>
          <a:prstGeom prst="rect">
            <a:avLst/>
          </a:prstGeom>
          <a:solidFill>
            <a:srgbClr val="F2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C3F78-B6F1-D4A4-1305-3C973C090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797" y="1563664"/>
            <a:ext cx="3291840" cy="4741338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200" b="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16D0597-E61B-A844-526B-5E3BDBE3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01" y="607485"/>
            <a:ext cx="8229600" cy="387258"/>
          </a:xfrm>
        </p:spPr>
        <p:txBody>
          <a:bodyPr lIns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93BA80BA-0347-802D-ED8D-EC6EC44D30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701" y="274625"/>
            <a:ext cx="8229600" cy="274320"/>
          </a:xfrm>
        </p:spPr>
        <p:txBody>
          <a:bodyPr lIns="0" anchor="ctr">
            <a:noAutofit/>
          </a:bodyPr>
          <a:lstStyle>
            <a:lvl1pPr marL="0" indent="0">
              <a:spcBef>
                <a:spcPts val="450"/>
              </a:spcBef>
              <a:buNone/>
              <a:defRPr sz="1300" b="1" i="0" cap="all" baseline="0">
                <a:solidFill>
                  <a:srgbClr val="C00000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4D8F3C-4255-55E3-3442-02AE9DFB2521}"/>
              </a:ext>
            </a:extLst>
          </p:cNvPr>
          <p:cNvCxnSpPr>
            <a:cxnSpLocks/>
          </p:cNvCxnSpPr>
          <p:nvPr userDrawn="1"/>
        </p:nvCxnSpPr>
        <p:spPr>
          <a:xfrm>
            <a:off x="457200" y="1056304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1A9DC1D-AB0C-8625-B0C6-E4CE8E5DAA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83797" y="1203160"/>
            <a:ext cx="3291840" cy="298942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400" b="1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8A1DBA5-19B5-AFDE-0AEA-BCC65A9E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6" y="6485131"/>
            <a:ext cx="7291990" cy="228600"/>
          </a:xfrm>
        </p:spPr>
        <p:txBody>
          <a:bodyPr/>
          <a:lstStyle>
            <a:lvl1pPr algn="l">
              <a:defRPr sz="1200"/>
            </a:lvl1pPr>
          </a:lstStyle>
          <a:p>
            <a:endParaRPr lang="en-US" sz="12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CB907D2-58A6-C232-5275-D10A7703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8973" y="6485131"/>
            <a:ext cx="477827" cy="228600"/>
          </a:xfrm>
        </p:spPr>
        <p:txBody>
          <a:bodyPr/>
          <a:lstStyle>
            <a:lvl1pPr>
              <a:defRPr sz="1200"/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 sz="12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97F5D4-A85B-928F-20CF-D8A10CCE1BDA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13912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File:Arizona Wildcats logo.svg - Wikimedia Commons">
            <a:extLst>
              <a:ext uri="{FF2B5EF4-FFF2-40B4-BE49-F238E27FC236}">
                <a16:creationId xmlns:a16="http://schemas.microsoft.com/office/drawing/2014/main" id="{3E0F10C2-A62F-E776-9544-9E5C7AB4F2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07" y="6489930"/>
            <a:ext cx="236959" cy="2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677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pos="28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93C829-8823-8C9C-4D74-A164C84572CA}"/>
              </a:ext>
            </a:extLst>
          </p:cNvPr>
          <p:cNvSpPr/>
          <p:nvPr userDrawn="1"/>
        </p:nvSpPr>
        <p:spPr>
          <a:xfrm>
            <a:off x="457199" y="1053281"/>
            <a:ext cx="8229600" cy="1280160"/>
          </a:xfrm>
          <a:prstGeom prst="rect">
            <a:avLst/>
          </a:prstGeom>
          <a:solidFill>
            <a:srgbClr val="F2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C3F78-B6F1-D4A4-1305-3C973C090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7866"/>
            <a:ext cx="8229600" cy="1188720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200" b="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16D0597-E61B-A844-526B-5E3BDBE3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01" y="607485"/>
            <a:ext cx="8229600" cy="387258"/>
          </a:xfrm>
        </p:spPr>
        <p:txBody>
          <a:bodyPr lIns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93BA80BA-0347-802D-ED8D-EC6EC44D30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701" y="274625"/>
            <a:ext cx="8229600" cy="274320"/>
          </a:xfrm>
        </p:spPr>
        <p:txBody>
          <a:bodyPr lIns="0" anchor="ctr">
            <a:noAutofit/>
          </a:bodyPr>
          <a:lstStyle>
            <a:lvl1pPr marL="0" indent="0">
              <a:spcBef>
                <a:spcPts val="450"/>
              </a:spcBef>
              <a:buNone/>
              <a:defRPr sz="1300" b="1" i="0" cap="all" baseline="0">
                <a:solidFill>
                  <a:srgbClr val="C00000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4D8F3C-4255-55E3-3442-02AE9DFB2521}"/>
              </a:ext>
            </a:extLst>
          </p:cNvPr>
          <p:cNvCxnSpPr>
            <a:cxnSpLocks/>
          </p:cNvCxnSpPr>
          <p:nvPr userDrawn="1"/>
        </p:nvCxnSpPr>
        <p:spPr>
          <a:xfrm>
            <a:off x="457200" y="1056304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8A1DBA5-19B5-AFDE-0AEA-BCC65A9E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6" y="6485131"/>
            <a:ext cx="7291990" cy="228600"/>
          </a:xfrm>
        </p:spPr>
        <p:txBody>
          <a:bodyPr/>
          <a:lstStyle>
            <a:lvl1pPr algn="l">
              <a:defRPr sz="1200"/>
            </a:lvl1pPr>
          </a:lstStyle>
          <a:p>
            <a:endParaRPr lang="en-US" sz="12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CB907D2-58A6-C232-5275-D10A7703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8973" y="6485131"/>
            <a:ext cx="477827" cy="228600"/>
          </a:xfrm>
        </p:spPr>
        <p:txBody>
          <a:bodyPr/>
          <a:lstStyle>
            <a:lvl1pPr>
              <a:defRPr sz="1200"/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 sz="12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97F5D4-A85B-928F-20CF-D8A10CCE1BDA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13912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File:Arizona Wildcats logo.svg - Wikimedia Commons">
            <a:extLst>
              <a:ext uri="{FF2B5EF4-FFF2-40B4-BE49-F238E27FC236}">
                <a16:creationId xmlns:a16="http://schemas.microsoft.com/office/drawing/2014/main" id="{3E0F10C2-A62F-E776-9544-9E5C7AB4F2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07" y="6489930"/>
            <a:ext cx="236959" cy="2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56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pos="28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1E6A35EB-4AEF-A307-1FAF-700E6CDB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6" y="6485131"/>
            <a:ext cx="7291990" cy="228600"/>
          </a:xfrm>
        </p:spPr>
        <p:txBody>
          <a:bodyPr/>
          <a:lstStyle>
            <a:lvl1pPr algn="l">
              <a:defRPr sz="1200"/>
            </a:lvl1pPr>
          </a:lstStyle>
          <a:p>
            <a:endParaRPr lang="en-US" sz="1200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A1AFD1C0-45E4-57D2-C006-E2F19A153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8973" y="6485131"/>
            <a:ext cx="477827" cy="228600"/>
          </a:xfrm>
        </p:spPr>
        <p:txBody>
          <a:bodyPr/>
          <a:lstStyle>
            <a:lvl1pPr>
              <a:defRPr sz="1200"/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 sz="12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5313DD-A859-CBED-2435-37C37193CED3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13912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File:Arizona Wildcats logo.svg - Wikimedia Commons">
            <a:extLst>
              <a:ext uri="{FF2B5EF4-FFF2-40B4-BE49-F238E27FC236}">
                <a16:creationId xmlns:a16="http://schemas.microsoft.com/office/drawing/2014/main" id="{C271CFF4-AFB1-88C1-BE6F-5795E72276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07" y="6489930"/>
            <a:ext cx="236959" cy="2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48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pos="28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solidFill>
          <a:srgbClr val="F2E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31BC3EA-A564-8064-9F69-C308268EB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01" y="607485"/>
            <a:ext cx="8229600" cy="387258"/>
          </a:xfrm>
        </p:spPr>
        <p:txBody>
          <a:bodyPr lIns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C2073B7-F4B7-F5A5-3B2D-4E06AFD3FD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701" y="274625"/>
            <a:ext cx="8229600" cy="274320"/>
          </a:xfrm>
        </p:spPr>
        <p:txBody>
          <a:bodyPr lIns="0" anchor="ctr">
            <a:noAutofit/>
          </a:bodyPr>
          <a:lstStyle>
            <a:lvl1pPr marL="0" indent="0">
              <a:spcBef>
                <a:spcPts val="450"/>
              </a:spcBef>
              <a:buNone/>
              <a:defRPr sz="1300" b="1" i="0" cap="all" baseline="0">
                <a:solidFill>
                  <a:srgbClr val="C00000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811126-2348-A5AF-C1FD-F3DF54E72A78}"/>
              </a:ext>
            </a:extLst>
          </p:cNvPr>
          <p:cNvCxnSpPr>
            <a:cxnSpLocks/>
          </p:cNvCxnSpPr>
          <p:nvPr userDrawn="1"/>
        </p:nvCxnSpPr>
        <p:spPr>
          <a:xfrm>
            <a:off x="457200" y="1056304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2CCF7C3C-ECA9-622C-8D1E-1F5F02E36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6" y="6485131"/>
            <a:ext cx="7291990" cy="228600"/>
          </a:xfrm>
        </p:spPr>
        <p:txBody>
          <a:bodyPr/>
          <a:lstStyle>
            <a:lvl1pPr algn="l">
              <a:defRPr sz="1200"/>
            </a:lvl1pPr>
          </a:lstStyle>
          <a:p>
            <a:endParaRPr lang="en-US" sz="1200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9FCEC7A-72E5-CDDF-04BC-950749FF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8973" y="6485131"/>
            <a:ext cx="477827" cy="228600"/>
          </a:xfrm>
        </p:spPr>
        <p:txBody>
          <a:bodyPr/>
          <a:lstStyle>
            <a:lvl1pPr>
              <a:defRPr sz="1200"/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 sz="12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8679B6-54F0-4076-EA12-2F813A3918A6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13912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File:Arizona Wildcats logo.svg - Wikimedia Commons">
            <a:extLst>
              <a:ext uri="{FF2B5EF4-FFF2-40B4-BE49-F238E27FC236}">
                <a16:creationId xmlns:a16="http://schemas.microsoft.com/office/drawing/2014/main" id="{E6F37EB9-5AB5-96E3-D26A-16435183B3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07" y="6489930"/>
            <a:ext cx="236959" cy="2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03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pos="28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8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6" r:id="rId2"/>
    <p:sldLayoutId id="2147483678" r:id="rId3"/>
    <p:sldLayoutId id="2147483685" r:id="rId4"/>
    <p:sldLayoutId id="2147483681" r:id="rId5"/>
    <p:sldLayoutId id="2147483682" r:id="rId6"/>
    <p:sldLayoutId id="2147483683" r:id="rId7"/>
    <p:sldLayoutId id="2147483684" r:id="rId8"/>
    <p:sldLayoutId id="2147483680" r:id="rId9"/>
    <p:sldLayoutId id="214748367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985A7-7A7E-BF52-D635-391BD3C91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D9FD2-A315-EB0A-DAAE-ACC661A0F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 1: Full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8EC61-5B06-78FA-51C0-85FC8C63D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701D8-BF45-46A2-ADF3-0D690B397DE9}" type="slidenum">
              <a:rPr lang="en-US" smtClean="0"/>
              <a:pPr/>
              <a:t>1</a:t>
            </a:fld>
            <a:endParaRPr lang="en-US" sz="1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389E8C-D759-197B-FE82-5CC6AD2DC8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Weekly Meeting</a:t>
            </a:r>
          </a:p>
        </p:txBody>
      </p:sp>
      <p:pic>
        <p:nvPicPr>
          <p:cNvPr id="6" name="Picture 5" descr="File:Claude AI symbol.svg - Wikimedia Commons">
            <a:extLst>
              <a:ext uri="{FF2B5EF4-FFF2-40B4-BE49-F238E27FC236}">
                <a16:creationId xmlns:a16="http://schemas.microsoft.com/office/drawing/2014/main" id="{CE7D6D3A-396F-9163-C845-3FB5A43D6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592" y="518333"/>
            <a:ext cx="425709" cy="425709"/>
          </a:xfrm>
          <a:prstGeom prst="rect">
            <a:avLst/>
          </a:prstGeom>
        </p:spPr>
      </p:pic>
      <p:sp>
        <p:nvSpPr>
          <p:cNvPr id="101" name="LatentOptContainer 101"/>
          <p:cNvSpPr/>
          <p:nvPr/>
        </p:nvSpPr>
        <p:spPr>
          <a:xfrm>
            <a:off x="744322" y="1371600"/>
            <a:ext cx="6053328" cy="470916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2700">
            <a:solidFill>
              <a:srgbClr val="9AA6B8"/>
            </a:solidFill>
            <a:prstDash val="dash"/>
          </a:ln>
        </p:spPr>
        <p:txBody>
          <a:bodyPr wrap="square" lIns="54864" tIns="36576" rIns="54864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Label 102"/>
              <p:cNvSpPr/>
              <p:nvPr/>
            </p:nvSpPr>
            <p:spPr>
              <a:xfrm>
                <a:off x="1498702" y="1463040"/>
                <a:ext cx="4562856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Latent Optimization (Steps </a:t>
                </a:r>
                <a14:m>
                  <m:oMath xmlns:m="http://schemas.openxmlformats.org/officeDocument/2006/math">
                    <m:r>
                      <a:rPr lang="en-US" sz="1100" b="0" i="0" dirty="0">
                        <a:solidFill>
                          <a:srgbClr val="0C234B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sz="1100" b="0" i="0" dirty="0">
                        <a:solidFill>
                          <a:srgbClr val="0C234B"/>
                        </a:solidFill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1100" b="0" i="0" dirty="0">
                        <a:solidFill>
                          <a:srgbClr val="0C234B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05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)</a:t>
                </a:r>
                <a:endParaRPr lang="en-US" sz="1050" dirty="0"/>
              </a:p>
            </p:txBody>
          </p:sp>
        </mc:Choice>
        <mc:Fallback>
          <p:sp>
            <p:nvSpPr>
              <p:cNvPr id="102" name="Label 102"/>
              <p:cNvSpPr/>
              <p:nvPr/>
            </p:nvSpPr>
            <p:spPr>
              <a:xfrm>
                <a:off x="1498702" y="1463040"/>
                <a:ext cx="4562856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Latent Optimization (Steps </a:t>
                </a:r>
                <a:r>
                  <a:rPr lang="en-US" sz="105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k=1,…,K</a:t>
                </a:r>
                <a:r>
                  <a:rPr lang="en-US" sz="105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)</a:t>
                </a:r>
                <a:endParaRPr lang="en-US" sz="105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zk 103"/>
              <p:cNvSpPr/>
              <p:nvPr/>
            </p:nvSpPr>
            <p:spPr>
              <a:xfrm>
                <a:off x="1498702" y="3044952"/>
                <a:ext cx="640080" cy="640080"/>
              </a:xfrm>
              <a:prstGeom prst="ellipse">
                <a:avLst/>
              </a:prstGeom>
              <a:solidFill>
                <a:srgbClr val="FFFFFF"/>
              </a:solidFill>
              <a:ln w="22225">
                <a:solidFill>
                  <a:srgbClr val="0C234B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2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2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03" name="zk 103"/>
              <p:cNvSpPr/>
              <p:nvPr/>
            </p:nvSpPr>
            <p:spPr>
              <a:xfrm>
                <a:off x="1498702" y="3044952"/>
                <a:ext cx="640080" cy="640080"/>
              </a:xfrm>
              <a:prstGeom prst="ellipse">
                <a:avLst/>
              </a:prstGeom>
              <a:solidFill>
                <a:srgbClr val="FFFFFF"/>
              </a:solidFill>
              <a:ln w="22225">
                <a:solidFill>
                  <a:srgbClr val="0C234B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z_k</a:t>
                </a:r>
                <a:endParaRPr lang="en-US" sz="12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Decoder 104"/>
              <p:cNvSpPr/>
              <p:nvPr/>
            </p:nvSpPr>
            <p:spPr>
              <a:xfrm>
                <a:off x="2321662" y="1755648"/>
                <a:ext cx="1847088" cy="987552"/>
              </a:xfrm>
              <a:prstGeom prst="roundRect">
                <a:avLst>
                  <a:gd name="adj" fmla="val 9000"/>
                </a:avLst>
              </a:prstGeom>
              <a:solidFill>
                <a:srgbClr val="E9EEF5"/>
              </a:solidFill>
              <a:ln w="12700">
                <a:solidFill>
                  <a:srgbClr val="0C234B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Decoder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m:rPr>
                        <m:sty m:val="p"/>
                      </m:rPr>
                      <a:rPr lang="en-US" sz="11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US" sz="11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11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US" sz="11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1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US" sz="11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2-Layer, 6-Head Transformer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Opaque Pixel-Wise Output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No Explicit Program</a:t>
                </a:r>
                <a:endParaRPr lang="en-US" sz="800" dirty="0"/>
              </a:p>
            </p:txBody>
          </p:sp>
        </mc:Choice>
        <mc:Fallback>
          <p:sp>
            <p:nvSpPr>
              <p:cNvPr id="104" name="Decoder 104"/>
              <p:cNvSpPr/>
              <p:nvPr/>
            </p:nvSpPr>
            <p:spPr>
              <a:xfrm>
                <a:off x="2321662" y="1755648"/>
                <a:ext cx="1847088" cy="987552"/>
              </a:xfrm>
              <a:prstGeom prst="roundRect">
                <a:avLst>
                  <a:gd name="adj" fmla="val 9000"/>
                </a:avLst>
              </a:prstGeom>
              <a:solidFill>
                <a:srgbClr val="E9EEF5"/>
              </a:solidFill>
              <a:ln w="12700">
                <a:solidFill>
                  <a:srgbClr val="0C234B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Decoder </a:t>
                </a: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p_θ(y∣x,z)</a:t>
                </a:r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2-Layer, 6-Head Transformer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Opaque Pixel-Wise Output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No Explicit Program</a:t>
                </a:r>
                <a:endParaRPr lang="en-US" sz="8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MLPHead 105"/>
              <p:cNvSpPr/>
              <p:nvPr/>
            </p:nvSpPr>
            <p:spPr>
              <a:xfrm>
                <a:off x="2321662" y="2871216"/>
                <a:ext cx="1847088" cy="987552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MLP Head </a:t>
                </a:r>
                <a14:m>
                  <m:oMath xmlns:m="http://schemas.openxmlformats.org/officeDocument/2006/math">
                    <m:r>
                      <a:rPr lang="en-US" sz="1100" b="0" i="0" dirty="0">
                        <a:solidFill>
                          <a:srgbClr val="AB0520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US" sz="1100" b="0" i="0" dirty="0">
                        <a:solidFill>
                          <a:srgbClr val="AB052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00" b="0" i="0" dirty="0">
                        <a:solidFill>
                          <a:srgbClr val="AB052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US" sz="1100" b="0" i="0" dirty="0">
                        <a:solidFill>
                          <a:srgbClr val="AB052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Input: </a:t>
                </a:r>
                <a14:m>
                  <m:oMath xmlns:m="http://schemas.openxmlformats.org/officeDocument/2006/math">
                    <m: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Only, Never </a:t>
                </a:r>
                <a14:m>
                  <m:oMath xmlns:m="http://schemas.openxmlformats.org/officeDocument/2006/math">
                    <m: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2–3 Linear Layers + ReLU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Output: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m:rPr>
                        <m:sty m:val="p"/>
                      </m:rP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∈[0,1</m:t>
                    </m:r>
                    <m:sSup>
                      <m:sSupPr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4×10</m:t>
                        </m:r>
                      </m:sup>
                    </m:sSup>
                  </m:oMath>
                </a14:m>
                <a:endParaRPr lang="en-US" sz="800" dirty="0"/>
              </a:p>
            </p:txBody>
          </p:sp>
        </mc:Choice>
        <mc:Fallback>
          <p:sp>
            <p:nvSpPr>
              <p:cNvPr id="105" name="MLPHead 105"/>
              <p:cNvSpPr/>
              <p:nvPr/>
            </p:nvSpPr>
            <p:spPr>
              <a:xfrm>
                <a:off x="2321662" y="2871216"/>
                <a:ext cx="1847088" cy="987552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MLP Head </a:t>
                </a: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h(z)</a:t>
                </a:r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Input: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z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Only, Never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x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2–3 Linear Layers + ReLU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Output: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Ŝ∈[0,1]^4×10</a:t>
                </a:r>
                <a:endParaRPr lang="en-US" sz="8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Executor 106"/>
              <p:cNvSpPr/>
              <p:nvPr/>
            </p:nvSpPr>
            <p:spPr>
              <a:xfrm>
                <a:off x="2321662" y="3986784"/>
                <a:ext cx="1847088" cy="987552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Executor</a:t>
                </a:r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FIND: Anchor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(Hard)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PASTE: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at Anchor (Soft)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900" b="0" i="0" dirty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0" dirty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=EXECUTE(</m:t>
                      </m:r>
                      <m:acc>
                        <m:accPr>
                          <m:chr m:val="̂"/>
                          <m:ctrlP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106" name="Executor 106"/>
              <p:cNvSpPr/>
              <p:nvPr/>
            </p:nvSpPr>
            <p:spPr>
              <a:xfrm>
                <a:off x="2321662" y="3986784"/>
                <a:ext cx="1847088" cy="987552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Executor</a:t>
                </a:r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FIND: Anchor in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x_i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(Hard)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PASTE: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Ŝ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at Anchor (Soft)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Ŷ_i=EXECUTE(Ŝ,x_i)</a:t>
                </a:r>
                <a:endParaRPr lang="en-US" sz="800" dirty="0"/>
              </a:p>
            </p:txBody>
          </p:sp>
        </mc:Fallback>
      </mc:AlternateContent>
      <p:sp>
        <p:nvSpPr>
          <p:cNvPr id="107" name="Arrow 107"/>
          <p:cNvSpPr/>
          <p:nvPr/>
        </p:nvSpPr>
        <p:spPr>
          <a:xfrm>
            <a:off x="2138782" y="3364992"/>
            <a:ext cx="182880" cy="1"/>
          </a:xfrm>
          <a:custGeom>
            <a:avLst/>
            <a:gdLst/>
            <a:ahLst/>
            <a:cxnLst/>
            <a:rect l="0" t="0" r="r" b="b"/>
            <a:pathLst>
              <a:path w="182880" h="1" fill="none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p:sp>
        <p:nvSpPr>
          <p:cNvPr id="108" name="Arrow 108"/>
          <p:cNvSpPr/>
          <p:nvPr/>
        </p:nvSpPr>
        <p:spPr>
          <a:xfrm>
            <a:off x="2230222" y="2432304"/>
            <a:ext cx="91440" cy="932688"/>
          </a:xfrm>
          <a:custGeom>
            <a:avLst/>
            <a:gdLst/>
            <a:ahLst/>
            <a:cxnLst/>
            <a:rect l="0" t="0" r="r" b="b"/>
            <a:pathLst>
              <a:path w="91440" h="932688" fill="none">
                <a:moveTo>
                  <a:pt x="0" y="932688"/>
                </a:moveTo>
                <a:lnTo>
                  <a:pt x="0" y="0"/>
                </a:lnTo>
                <a:lnTo>
                  <a:pt x="91440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xiTag 109"/>
              <p:cNvSpPr/>
              <p:nvPr/>
            </p:nvSpPr>
            <p:spPr>
              <a:xfrm>
                <a:off x="1773022" y="1929384"/>
                <a:ext cx="365760" cy="23774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4D4D4D"/>
                </a:solidFill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109" name="xiTag 109"/>
              <p:cNvSpPr/>
              <p:nvPr/>
            </p:nvSpPr>
            <p:spPr>
              <a:xfrm>
                <a:off x="1773022" y="1929384"/>
                <a:ext cx="365760" cy="23774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4D4D4D"/>
                </a:solidFill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x_i</a:t>
                </a:r>
                <a:endParaRPr lang="en-US" sz="800" dirty="0"/>
              </a:p>
            </p:txBody>
          </p:sp>
        </mc:Fallback>
      </mc:AlternateContent>
      <p:sp>
        <p:nvSpPr>
          <p:cNvPr id="110" name="Arrow 110"/>
          <p:cNvSpPr/>
          <p:nvPr/>
        </p:nvSpPr>
        <p:spPr>
          <a:xfrm>
            <a:off x="2138782" y="2048256"/>
            <a:ext cx="182880" cy="1"/>
          </a:xfrm>
          <a:custGeom>
            <a:avLst/>
            <a:gdLst/>
            <a:ahLst/>
            <a:cxnLst/>
            <a:rect l="0" t="0" r="r" b="b"/>
            <a:pathLst>
              <a:path w="182880" h="1" fill="none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15875" cap="flat">
            <a:solidFill>
              <a:srgbClr val="4D4D4D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xiTag 111"/>
              <p:cNvSpPr/>
              <p:nvPr/>
            </p:nvSpPr>
            <p:spPr>
              <a:xfrm>
                <a:off x="1773022" y="4361688"/>
                <a:ext cx="365760" cy="23774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4D4D4D"/>
                </a:solidFill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111" name="xiTag 111"/>
              <p:cNvSpPr/>
              <p:nvPr/>
            </p:nvSpPr>
            <p:spPr>
              <a:xfrm>
                <a:off x="1773022" y="4361688"/>
                <a:ext cx="365760" cy="23774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4D4D4D"/>
                </a:solidFill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x_i</a:t>
                </a:r>
                <a:endParaRPr lang="en-US" sz="800" dirty="0"/>
              </a:p>
            </p:txBody>
          </p:sp>
        </mc:Fallback>
      </mc:AlternateContent>
      <p:sp>
        <p:nvSpPr>
          <p:cNvPr id="112" name="Arrow 112"/>
          <p:cNvSpPr/>
          <p:nvPr/>
        </p:nvSpPr>
        <p:spPr>
          <a:xfrm>
            <a:off x="2138782" y="4480560"/>
            <a:ext cx="182880" cy="1"/>
          </a:xfrm>
          <a:custGeom>
            <a:avLst/>
            <a:gdLst/>
            <a:ahLst/>
            <a:cxnLst/>
            <a:rect l="0" t="0" r="r" b="b"/>
            <a:pathLst>
              <a:path w="182880" h="1" fill="none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15875" cap="flat">
            <a:solidFill>
              <a:srgbClr val="4D4D4D"/>
            </a:solidFill>
            <a:round/>
            <a:tailEnd type="triangle" w="med" len="med"/>
          </a:ln>
        </p:spPr>
      </p:sp>
      <p:sp>
        <p:nvSpPr>
          <p:cNvPr id="113" name="Arrow 113"/>
          <p:cNvSpPr/>
          <p:nvPr/>
        </p:nvSpPr>
        <p:spPr>
          <a:xfrm>
            <a:off x="3245206" y="3858768"/>
            <a:ext cx="1" cy="128016"/>
          </a:xfrm>
          <a:custGeom>
            <a:avLst/>
            <a:gdLst/>
            <a:ahLst/>
            <a:cxnLst/>
            <a:rect l="0" t="0" r="r" b="b"/>
            <a:pathLst>
              <a:path w="1" h="128016" fill="none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/>
          <a:ln w="19050" cap="flat">
            <a:solidFill>
              <a:srgbClr val="AB0520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Label 114"/>
              <p:cNvSpPr/>
              <p:nvPr/>
            </p:nvSpPr>
            <p:spPr>
              <a:xfrm>
                <a:off x="3373222" y="3849624"/>
                <a:ext cx="365760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̂"/>
                          <m:ctrlPr>
                            <a:rPr lang="en-US" sz="105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5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114" name="Label 114"/>
              <p:cNvSpPr/>
              <p:nvPr/>
            </p:nvSpPr>
            <p:spPr>
              <a:xfrm>
                <a:off x="3373222" y="3849624"/>
                <a:ext cx="365760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Ŝ</a:t>
                </a:r>
                <a:endParaRPr lang="en-US" sz="10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Ldec 115"/>
              <p:cNvSpPr/>
              <p:nvPr/>
            </p:nvSpPr>
            <p:spPr>
              <a:xfrm>
                <a:off x="4397350" y="1810512"/>
                <a:ext cx="1572768" cy="877824"/>
              </a:xfrm>
              <a:prstGeom prst="roundRect">
                <a:avLst>
                  <a:gd name="adj" fmla="val 9000"/>
                </a:avLst>
              </a:prstGeom>
              <a:solidFill>
                <a:srgbClr val="F5F5F5"/>
              </a:solidFill>
              <a:ln w="9525">
                <a:solidFill>
                  <a:srgbClr val="7F7F7F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Reconstruction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dec</m:t>
                        </m:r>
                      </m:sub>
                    </m:sSub>
                  </m:oMath>
                </a14:m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func>
                        <m:func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9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Negative Log-Likelihood</a:t>
                </a:r>
                <a:endParaRPr lang="en-US" sz="800" dirty="0"/>
              </a:p>
            </p:txBody>
          </p:sp>
        </mc:Choice>
        <mc:Fallback>
          <p:sp>
            <p:nvSpPr>
              <p:cNvPr id="115" name="Ldec 115"/>
              <p:cNvSpPr/>
              <p:nvPr/>
            </p:nvSpPr>
            <p:spPr>
              <a:xfrm>
                <a:off x="4397350" y="1810512"/>
                <a:ext cx="1572768" cy="877824"/>
              </a:xfrm>
              <a:prstGeom prst="roundRect">
                <a:avLst>
                  <a:gd name="adj" fmla="val 9000"/>
                </a:avLst>
              </a:prstGeom>
              <a:solidFill>
                <a:srgbClr val="F5F5F5"/>
              </a:solidFill>
              <a:ln w="9525">
                <a:solidFill>
                  <a:srgbClr val="7F7F7F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Reconstruction </a:t>
                </a:r>
                <a:r>
                  <a:rPr lang="en-US" sz="100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L_dec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None/>
                </a:pPr>
                <a:r>
                  <a:rPr lang="en-US" sz="9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−Σ_i log p_θ(y_i∣x_i,z)</a:t>
                </a:r>
                <a:endParaRPr lang="en-US" sz="9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Negative Log-Likelihood</a:t>
                </a:r>
                <a:endParaRPr lang="en-US" sz="8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Lcommit 116"/>
              <p:cNvSpPr/>
              <p:nvPr/>
            </p:nvSpPr>
            <p:spPr>
              <a:xfrm>
                <a:off x="4397350" y="2926080"/>
                <a:ext cx="1572768" cy="877824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952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Commitment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5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  <m:t>commit</m:t>
                        </m:r>
                      </m:sub>
                    </m:sSub>
                  </m:oMath>
                </a14:m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cells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cell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9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Low Entropy = Crisp Color</a:t>
                </a:r>
                <a:endParaRPr lang="en-US" sz="800" dirty="0"/>
              </a:p>
            </p:txBody>
          </p:sp>
        </mc:Choice>
        <mc:Fallback>
          <p:sp>
            <p:nvSpPr>
              <p:cNvPr id="116" name="Lcommit 116"/>
              <p:cNvSpPr/>
              <p:nvPr/>
            </p:nvSpPr>
            <p:spPr>
              <a:xfrm>
                <a:off x="4397350" y="2926080"/>
                <a:ext cx="1572768" cy="877824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952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Commitment </a:t>
                </a: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L_commit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None/>
                </a:pPr>
                <a:r>
                  <a:rPr lang="en-US" sz="9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Σ_cells H(Ŝ_cell)</a:t>
                </a:r>
                <a:endParaRPr lang="en-US" sz="9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Low Entropy = Crisp Color</a:t>
                </a:r>
                <a:endParaRPr lang="en-US" sz="8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Lexec 117"/>
              <p:cNvSpPr/>
              <p:nvPr/>
            </p:nvSpPr>
            <p:spPr>
              <a:xfrm>
                <a:off x="4397350" y="4041648"/>
                <a:ext cx="1572768" cy="877824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952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Execution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5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  <m:t>exec</m:t>
                        </m:r>
                      </m:sub>
                    </m:sSub>
                  </m:oMath>
                </a14:m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CE(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9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Cross-Entropy vs. Targets</a:t>
                </a:r>
                <a:endParaRPr lang="en-US" sz="800" dirty="0"/>
              </a:p>
            </p:txBody>
          </p:sp>
        </mc:Choice>
        <mc:Fallback>
          <p:sp>
            <p:nvSpPr>
              <p:cNvPr id="117" name="Lexec 117"/>
              <p:cNvSpPr/>
              <p:nvPr/>
            </p:nvSpPr>
            <p:spPr>
              <a:xfrm>
                <a:off x="4397350" y="4041648"/>
                <a:ext cx="1572768" cy="877824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952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Execution </a:t>
                </a: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L_exec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None/>
                </a:pPr>
                <a:r>
                  <a:rPr lang="en-US" sz="9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Σ_i CE(Ŷ_i,y_i)</a:t>
                </a:r>
                <a:endParaRPr lang="en-US" sz="9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Cross-Entropy vs. Targets</a:t>
                </a:r>
                <a:endParaRPr lang="en-US" sz="800" dirty="0"/>
              </a:p>
            </p:txBody>
          </p:sp>
        </mc:Fallback>
      </mc:AlternateContent>
      <p:sp>
        <p:nvSpPr>
          <p:cNvPr id="118" name="Arrow 118"/>
          <p:cNvSpPr/>
          <p:nvPr/>
        </p:nvSpPr>
        <p:spPr>
          <a:xfrm>
            <a:off x="4168750" y="2249424"/>
            <a:ext cx="228600" cy="1"/>
          </a:xfrm>
          <a:custGeom>
            <a:avLst/>
            <a:gdLst/>
            <a:ahLst/>
            <a:cxnLst/>
            <a:rect l="0" t="0" r="r" b="b"/>
            <a:pathLst>
              <a:path w="228600" h="1" fill="none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Label 119"/>
              <p:cNvSpPr/>
              <p:nvPr/>
            </p:nvSpPr>
            <p:spPr>
              <a:xfrm>
                <a:off x="4168750" y="2002536"/>
                <a:ext cx="22860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900" b="0" i="0" dirty="0">
                              <a:solidFill>
                                <a:srgbClr val="0C234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900" b="0" i="0" dirty="0">
                                  <a:solidFill>
                                    <a:srgbClr val="0C234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0" dirty="0">
                                  <a:solidFill>
                                    <a:srgbClr val="0C234B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900" b="0" i="0" dirty="0">
                              <a:solidFill>
                                <a:srgbClr val="0C234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119" name="Label 119"/>
              <p:cNvSpPr/>
              <p:nvPr/>
            </p:nvSpPr>
            <p:spPr>
              <a:xfrm>
                <a:off x="4168750" y="2002536"/>
                <a:ext cx="22860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ŷ_i</a:t>
                </a:r>
                <a:endParaRPr lang="en-US" sz="800" dirty="0"/>
              </a:p>
            </p:txBody>
          </p:sp>
        </mc:Fallback>
      </mc:AlternateContent>
      <p:sp>
        <p:nvSpPr>
          <p:cNvPr id="120" name="Arrow 120"/>
          <p:cNvSpPr/>
          <p:nvPr/>
        </p:nvSpPr>
        <p:spPr>
          <a:xfrm>
            <a:off x="4168750" y="3364992"/>
            <a:ext cx="228600" cy="1"/>
          </a:xfrm>
          <a:custGeom>
            <a:avLst/>
            <a:gdLst/>
            <a:ahLst/>
            <a:cxnLst/>
            <a:rect l="0" t="0" r="r" b="b"/>
            <a:pathLst>
              <a:path w="228600" h="1" fill="none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9050" cap="flat">
            <a:solidFill>
              <a:srgbClr val="AB0520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Label 121"/>
              <p:cNvSpPr/>
              <p:nvPr/>
            </p:nvSpPr>
            <p:spPr>
              <a:xfrm>
                <a:off x="4168750" y="3118104"/>
                <a:ext cx="22860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lang="en-US" sz="9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9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121" name="Label 121"/>
              <p:cNvSpPr/>
              <p:nvPr/>
            </p:nvSpPr>
            <p:spPr>
              <a:xfrm>
                <a:off x="4168750" y="3118104"/>
                <a:ext cx="22860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Ŝ</a:t>
                </a:r>
                <a:endParaRPr lang="en-US" sz="800" dirty="0"/>
              </a:p>
            </p:txBody>
          </p:sp>
        </mc:Fallback>
      </mc:AlternateContent>
      <p:sp>
        <p:nvSpPr>
          <p:cNvPr id="122" name="Arrow 122"/>
          <p:cNvSpPr/>
          <p:nvPr/>
        </p:nvSpPr>
        <p:spPr>
          <a:xfrm>
            <a:off x="4168750" y="4480560"/>
            <a:ext cx="228600" cy="1"/>
          </a:xfrm>
          <a:custGeom>
            <a:avLst/>
            <a:gdLst/>
            <a:ahLst/>
            <a:cxnLst/>
            <a:rect l="0" t="0" r="r" b="b"/>
            <a:pathLst>
              <a:path w="228600" h="1" fill="none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9050" cap="flat">
            <a:solidFill>
              <a:srgbClr val="AB0520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Label 123"/>
              <p:cNvSpPr/>
              <p:nvPr/>
            </p:nvSpPr>
            <p:spPr>
              <a:xfrm>
                <a:off x="4168750" y="4233672"/>
                <a:ext cx="22860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9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900" b="0" i="0" dirty="0">
                                  <a:solidFill>
                                    <a:srgbClr val="AB052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0" dirty="0">
                                  <a:solidFill>
                                    <a:srgbClr val="AB052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9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123" name="Label 123"/>
              <p:cNvSpPr/>
              <p:nvPr/>
            </p:nvSpPr>
            <p:spPr>
              <a:xfrm>
                <a:off x="4168750" y="4233672"/>
                <a:ext cx="22860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Ŷ_i</a:t>
                </a:r>
                <a:endParaRPr lang="en-US" sz="800" dirty="0"/>
              </a:p>
            </p:txBody>
          </p:sp>
        </mc:Fallback>
      </mc:AlternateContent>
      <p:sp>
        <p:nvSpPr>
          <p:cNvPr id="124" name="Arrow 124"/>
          <p:cNvSpPr/>
          <p:nvPr/>
        </p:nvSpPr>
        <p:spPr>
          <a:xfrm>
            <a:off x="5970118" y="2249424"/>
            <a:ext cx="118872" cy="1"/>
          </a:xfrm>
          <a:custGeom>
            <a:avLst/>
            <a:gdLst/>
            <a:ahLst/>
            <a:cxnLst/>
            <a:rect l="0" t="0" r="r" b="b"/>
            <a:pathLst>
              <a:path w="118872" h="1" fill="none">
                <a:moveTo>
                  <a:pt x="0" y="0"/>
                </a:moveTo>
                <a:lnTo>
                  <a:pt x="118872" y="0"/>
                </a:lnTo>
              </a:path>
            </a:pathLst>
          </a:custGeom>
          <a:noFill/>
          <a:ln w="15875" cap="flat">
            <a:solidFill>
              <a:srgbClr val="7F7F7F"/>
            </a:solidFill>
            <a:round/>
          </a:ln>
        </p:spPr>
      </p:sp>
      <p:sp>
        <p:nvSpPr>
          <p:cNvPr id="125" name="Arrow 125"/>
          <p:cNvSpPr/>
          <p:nvPr/>
        </p:nvSpPr>
        <p:spPr>
          <a:xfrm>
            <a:off x="5970118" y="3364992"/>
            <a:ext cx="118872" cy="1"/>
          </a:xfrm>
          <a:custGeom>
            <a:avLst/>
            <a:gdLst/>
            <a:ahLst/>
            <a:cxnLst/>
            <a:rect l="0" t="0" r="r" b="b"/>
            <a:pathLst>
              <a:path w="118872" h="1" fill="none">
                <a:moveTo>
                  <a:pt x="0" y="0"/>
                </a:moveTo>
                <a:lnTo>
                  <a:pt x="118872" y="0"/>
                </a:lnTo>
              </a:path>
            </a:pathLst>
          </a:custGeom>
          <a:noFill/>
          <a:ln w="15875" cap="flat">
            <a:solidFill>
              <a:srgbClr val="7F7F7F"/>
            </a:solidFill>
            <a:round/>
          </a:ln>
        </p:spPr>
      </p:sp>
      <p:sp>
        <p:nvSpPr>
          <p:cNvPr id="126" name="Arrow 126"/>
          <p:cNvSpPr/>
          <p:nvPr/>
        </p:nvSpPr>
        <p:spPr>
          <a:xfrm>
            <a:off x="5970118" y="4480560"/>
            <a:ext cx="118872" cy="1"/>
          </a:xfrm>
          <a:custGeom>
            <a:avLst/>
            <a:gdLst/>
            <a:ahLst/>
            <a:cxnLst/>
            <a:rect l="0" t="0" r="r" b="b"/>
            <a:pathLst>
              <a:path w="118872" h="1" fill="none">
                <a:moveTo>
                  <a:pt x="0" y="0"/>
                </a:moveTo>
                <a:lnTo>
                  <a:pt x="118872" y="0"/>
                </a:lnTo>
              </a:path>
            </a:pathLst>
          </a:custGeom>
          <a:noFill/>
          <a:ln w="15875" cap="flat">
            <a:solidFill>
              <a:srgbClr val="7F7F7F"/>
            </a:solidFill>
            <a:round/>
          </a:ln>
        </p:spPr>
      </p:sp>
      <p:sp>
        <p:nvSpPr>
          <p:cNvPr id="127" name="Arrow 127"/>
          <p:cNvSpPr/>
          <p:nvPr/>
        </p:nvSpPr>
        <p:spPr>
          <a:xfrm>
            <a:off x="5970118" y="2249424"/>
            <a:ext cx="118872" cy="3264408"/>
          </a:xfrm>
          <a:custGeom>
            <a:avLst/>
            <a:gdLst/>
            <a:ahLst/>
            <a:cxnLst/>
            <a:rect l="0" t="0" r="r" b="b"/>
            <a:pathLst>
              <a:path w="118872" h="3264408" fill="none">
                <a:moveTo>
                  <a:pt x="118872" y="0"/>
                </a:moveTo>
                <a:lnTo>
                  <a:pt x="118872" y="3264408"/>
                </a:lnTo>
                <a:lnTo>
                  <a:pt x="0" y="3264408"/>
                </a:lnTo>
              </a:path>
            </a:pathLst>
          </a:custGeom>
          <a:noFill/>
          <a:ln w="15875" cap="flat">
            <a:solidFill>
              <a:srgbClr val="7F7F7F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Ltotal 128"/>
              <p:cNvSpPr/>
              <p:nvPr/>
            </p:nvSpPr>
            <p:spPr>
              <a:xfrm>
                <a:off x="2321662" y="5102352"/>
                <a:ext cx="3648456" cy="82296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1F1F1F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Total Objective (All Terms Minimized)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total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dec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exec</m:t>
                          </m:r>
                        </m:sub>
                      </m:sSub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exec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commit</m:t>
                          </m:r>
                        </m:sub>
                      </m:sSub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commit</m:t>
                          </m:r>
                        </m:sub>
                      </m:sSub>
                    </m:oMath>
                  </m:oMathPara>
                </a14:m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Update: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US" sz="9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m:rPr>
                        <m:sty m:val="p"/>
                      </m:rPr>
                      <a:rPr lang="en-US" sz="9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sSub>
                      <m:sSubPr>
                        <m:ctrlP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total</m:t>
                        </m:r>
                      </m:sub>
                    </m:sSub>
                  </m:oMath>
                </a14:m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Initial Weights: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exec</m:t>
                        </m:r>
                      </m:sub>
                    </m:sSub>
                    <m:r>
                      <m:rPr>
                        <m:sty m:val="p"/>
                      </m:rP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=1.0, </m:t>
                    </m:r>
                    <m:sSub>
                      <m:sSubPr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commit</m:t>
                        </m:r>
                      </m:sub>
                    </m:sSub>
                    <m:r>
                      <m:rPr>
                        <m:sty m:val="p"/>
                      </m:rP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 lang="en-US" sz="800" dirty="0"/>
              </a:p>
            </p:txBody>
          </p:sp>
        </mc:Choice>
        <mc:Fallback>
          <p:sp>
            <p:nvSpPr>
              <p:cNvPr id="128" name="Ltotal 128"/>
              <p:cNvSpPr/>
              <p:nvPr/>
            </p:nvSpPr>
            <p:spPr>
              <a:xfrm>
                <a:off x="2321662" y="5102352"/>
                <a:ext cx="3648456" cy="82296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1F1F1F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Total Objective (All Terms Minimized)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L_total=L_dec+λ_execL_exec+λ_commitL_commit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Update:  </a:t>
                </a: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z_k=z_k−1−α∇_zL_total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Initial Weights: 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λ_exec=1.0, λ_commit=0.1</a:t>
                </a:r>
                <a:endParaRPr lang="en-US" sz="800" dirty="0"/>
              </a:p>
            </p:txBody>
          </p:sp>
        </mc:Fallback>
      </mc:AlternateContent>
      <p:sp>
        <p:nvSpPr>
          <p:cNvPr id="129" name="Arrow 129"/>
          <p:cNvSpPr/>
          <p:nvPr/>
        </p:nvSpPr>
        <p:spPr>
          <a:xfrm>
            <a:off x="1635862" y="3630168"/>
            <a:ext cx="685800" cy="1883664"/>
          </a:xfrm>
          <a:custGeom>
            <a:avLst/>
            <a:gdLst/>
            <a:ahLst/>
            <a:cxnLst/>
            <a:rect l="0" t="0" r="r" b="b"/>
            <a:pathLst>
              <a:path w="685800" h="1883664" fill="none">
                <a:moveTo>
                  <a:pt x="685800" y="1883664"/>
                </a:moveTo>
                <a:lnTo>
                  <a:pt x="0" y="1883664"/>
                </a:lnTo>
                <a:lnTo>
                  <a:pt x="0" y="0"/>
                </a:lnTo>
              </a:path>
            </a:pathLst>
          </a:custGeom>
          <a:noFill/>
          <a:ln w="22225" cap="flat">
            <a:solidFill>
              <a:srgbClr val="AB0520"/>
            </a:solidFill>
            <a:prstDash val="dash"/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Label 130"/>
              <p:cNvSpPr/>
              <p:nvPr/>
            </p:nvSpPr>
            <p:spPr>
              <a:xfrm>
                <a:off x="1379830" y="4572000"/>
                <a:ext cx="237744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b>
                        <m:sSubPr>
                          <m:ctrlPr>
                            <a:rPr lang="en-US" sz="105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05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130" name="Label 130"/>
              <p:cNvSpPr/>
              <p:nvPr/>
            </p:nvSpPr>
            <p:spPr>
              <a:xfrm>
                <a:off x="1379830" y="4572000"/>
                <a:ext cx="237744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∇_z</a:t>
                </a:r>
                <a:endParaRPr lang="en-US" sz="10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Label 131"/>
              <p:cNvSpPr/>
              <p:nvPr/>
            </p:nvSpPr>
            <p:spPr>
              <a:xfrm>
                <a:off x="6934810" y="1371600"/>
                <a:ext cx="1463040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Outputs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10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endParaRPr lang="en-US" sz="1050" dirty="0"/>
              </a:p>
            </p:txBody>
          </p:sp>
        </mc:Choice>
        <mc:Fallback>
          <p:sp>
            <p:nvSpPr>
              <p:cNvPr id="131" name="Label 131"/>
              <p:cNvSpPr/>
              <p:nvPr/>
            </p:nvSpPr>
            <p:spPr>
              <a:xfrm>
                <a:off x="6934810" y="1371600"/>
                <a:ext cx="1463040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Outputs at </a:t>
                </a:r>
                <a:r>
                  <a:rPr lang="en-US" sz="105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z^*</a:t>
                </a:r>
                <a:endParaRPr lang="en-US" sz="105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OutDec 132"/>
              <p:cNvSpPr/>
              <p:nvPr/>
            </p:nvSpPr>
            <p:spPr>
              <a:xfrm>
                <a:off x="6934810" y="1755648"/>
                <a:ext cx="1463040" cy="987552"/>
              </a:xfrm>
              <a:prstGeom prst="roundRect">
                <a:avLst>
                  <a:gd name="adj" fmla="val 9000"/>
                </a:avLst>
              </a:prstGeom>
              <a:solidFill>
                <a:srgbClr val="E9EEF5"/>
              </a:solidFill>
              <a:ln w="12700">
                <a:solidFill>
                  <a:srgbClr val="0C234B"/>
                </a:solidFill>
              </a:ln>
            </p:spPr>
            <p:txBody>
              <a:bodyPr wrap="square" lIns="18288" tIns="36576" rIns="18288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Predicted Output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argmax</m:t>
                          </m:r>
                        </m:fName>
                        <m:e>
                          <m:sSub>
                            <m:sSubPr>
                              <m:ctrlP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*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9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Vanilla LPN Readout</a:t>
                </a:r>
                <a:endParaRPr lang="en-US" sz="800" dirty="0"/>
              </a:p>
            </p:txBody>
          </p:sp>
        </mc:Choice>
        <mc:Fallback>
          <p:sp>
            <p:nvSpPr>
              <p:cNvPr id="132" name="OutDec 132"/>
              <p:cNvSpPr/>
              <p:nvPr/>
            </p:nvSpPr>
            <p:spPr>
              <a:xfrm>
                <a:off x="6934810" y="1755648"/>
                <a:ext cx="1463040" cy="987552"/>
              </a:xfrm>
              <a:prstGeom prst="roundRect">
                <a:avLst>
                  <a:gd name="adj" fmla="val 9000"/>
                </a:avLst>
              </a:prstGeom>
              <a:solidFill>
                <a:srgbClr val="E9EEF5"/>
              </a:solidFill>
              <a:ln w="12700">
                <a:solidFill>
                  <a:srgbClr val="0C234B"/>
                </a:solidFill>
              </a:ln>
            </p:spPr>
            <p:txBody>
              <a:bodyPr wrap="square" lIns="18288" tIns="36576" rIns="18288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Predicted Output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9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ŷ=argmax p_θ(y∣x,z^*)</a:t>
                </a:r>
                <a:endParaRPr lang="en-US" sz="9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Vanilla LPN Readout</a:t>
                </a:r>
                <a:endParaRPr lang="en-US" sz="800" dirty="0"/>
              </a:p>
            </p:txBody>
          </p:sp>
        </mc:Fallback>
      </mc:AlternateContent>
      <p:sp>
        <p:nvSpPr>
          <p:cNvPr id="133" name="Arrow 133"/>
          <p:cNvSpPr/>
          <p:nvPr/>
        </p:nvSpPr>
        <p:spPr>
          <a:xfrm>
            <a:off x="6797650" y="2249424"/>
            <a:ext cx="137160" cy="1"/>
          </a:xfrm>
          <a:custGeom>
            <a:avLst/>
            <a:gdLst/>
            <a:ahLst/>
            <a:cxnLst/>
            <a:rect l="0" t="0" r="r" b="b"/>
            <a:pathLst>
              <a:path w="137160" h="1" fill="none">
                <a:moveTo>
                  <a:pt x="0" y="0"/>
                </a:moveTo>
                <a:lnTo>
                  <a:pt x="137160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OutProg 134"/>
              <p:cNvSpPr/>
              <p:nvPr/>
            </p:nvSpPr>
            <p:spPr>
              <a:xfrm>
                <a:off x="6934810" y="2871216"/>
                <a:ext cx="1463040" cy="2103120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36576" tIns="64008" rIns="36576" bIns="36576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Interpretable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Program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0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argmax</m:t>
                          </m:r>
                        </m:fName>
                        <m:e>
                          <m: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m:rPr>
                              <m:sty m:val="p"/>
                            </m:r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0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0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*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0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Color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2×2</m:t>
                          </m:r>
                        </m:sup>
                      </m:sSup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134" name="OutProg 134"/>
              <p:cNvSpPr/>
              <p:nvPr/>
            </p:nvSpPr>
            <p:spPr>
              <a:xfrm>
                <a:off x="6934810" y="2871216"/>
                <a:ext cx="1463040" cy="2103120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36576" tIns="64008" rIns="36576" bIns="36576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Interpretable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Program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T̂=argmax h(z^*)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T̂∈Color^2×2</a:t>
                </a:r>
                <a:endParaRPr lang="en-US" sz="1000" dirty="0"/>
              </a:p>
            </p:txBody>
          </p:sp>
        </mc:Fallback>
      </mc:AlternateContent>
      <p:sp>
        <p:nvSpPr>
          <p:cNvPr id="135" name="HardTile 135"/>
          <p:cNvSpPr/>
          <p:nvPr/>
        </p:nvSpPr>
        <p:spPr>
          <a:xfrm>
            <a:off x="7401154" y="3895344"/>
            <a:ext cx="265176" cy="265176"/>
          </a:xfrm>
          <a:prstGeom prst="rect">
            <a:avLst/>
          </a:prstGeom>
          <a:solidFill>
            <a:srgbClr val="FF851B"/>
          </a:solidFill>
          <a:ln>
            <a:noFill/>
          </a:ln>
        </p:spPr>
      </p:sp>
      <p:sp>
        <p:nvSpPr>
          <p:cNvPr id="136" name="HardTile 136"/>
          <p:cNvSpPr/>
          <p:nvPr/>
        </p:nvSpPr>
        <p:spPr>
          <a:xfrm>
            <a:off x="7666330" y="3895344"/>
            <a:ext cx="265176" cy="265176"/>
          </a:xfrm>
          <a:prstGeom prst="rect">
            <a:avLst/>
          </a:prstGeom>
          <a:solidFill>
            <a:srgbClr val="7FDBFF"/>
          </a:solidFill>
          <a:ln>
            <a:noFill/>
          </a:ln>
        </p:spPr>
      </p:sp>
      <p:sp>
        <p:nvSpPr>
          <p:cNvPr id="137" name="HardTile 137"/>
          <p:cNvSpPr/>
          <p:nvPr/>
        </p:nvSpPr>
        <p:spPr>
          <a:xfrm>
            <a:off x="7401154" y="4160520"/>
            <a:ext cx="265176" cy="265176"/>
          </a:xfrm>
          <a:prstGeom prst="rect">
            <a:avLst/>
          </a:prstGeom>
          <a:solidFill>
            <a:srgbClr val="7FDBFF"/>
          </a:solidFill>
          <a:ln>
            <a:noFill/>
          </a:ln>
        </p:spPr>
      </p:sp>
      <p:sp>
        <p:nvSpPr>
          <p:cNvPr id="138" name="HardTile 138"/>
          <p:cNvSpPr/>
          <p:nvPr/>
        </p:nvSpPr>
        <p:spPr>
          <a:xfrm>
            <a:off x="7666330" y="4160520"/>
            <a:ext cx="265176" cy="265176"/>
          </a:xfrm>
          <a:prstGeom prst="rect">
            <a:avLst/>
          </a:prstGeom>
          <a:solidFill>
            <a:srgbClr val="870C25"/>
          </a:solidFill>
          <a:ln>
            <a:noFill/>
          </a:ln>
        </p:spPr>
      </p:sp>
      <p:sp>
        <p:nvSpPr>
          <p:cNvPr id="139" name="HardTileLine 139"/>
          <p:cNvSpPr/>
          <p:nvPr/>
        </p:nvSpPr>
        <p:spPr>
          <a:xfrm>
            <a:off x="7401154" y="3895344"/>
            <a:ext cx="265176" cy="265176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140" name="HardTileLine 140"/>
          <p:cNvSpPr/>
          <p:nvPr/>
        </p:nvSpPr>
        <p:spPr>
          <a:xfrm>
            <a:off x="7666330" y="3895344"/>
            <a:ext cx="265176" cy="265176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141" name="HardTileLine 141"/>
          <p:cNvSpPr/>
          <p:nvPr/>
        </p:nvSpPr>
        <p:spPr>
          <a:xfrm>
            <a:off x="7401154" y="4160520"/>
            <a:ext cx="265176" cy="265176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142" name="HardTileLine 142"/>
          <p:cNvSpPr/>
          <p:nvPr/>
        </p:nvSpPr>
        <p:spPr>
          <a:xfrm>
            <a:off x="7666330" y="4160520"/>
            <a:ext cx="265176" cy="265176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143" name="HardTileFrame 143"/>
          <p:cNvSpPr/>
          <p:nvPr/>
        </p:nvSpPr>
        <p:spPr>
          <a:xfrm>
            <a:off x="7401154" y="3895344"/>
            <a:ext cx="530352" cy="530352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Label 144"/>
              <p:cNvSpPr/>
              <p:nvPr/>
            </p:nvSpPr>
            <p:spPr>
              <a:xfrm>
                <a:off x="6971386" y="4553712"/>
                <a:ext cx="138988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Compared Cell-by-Cell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With Ground Truth </a:t>
                </a:r>
                <a14:m>
                  <m:oMath xmlns:m="http://schemas.openxmlformats.org/officeDocument/2006/math">
                    <m: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800" dirty="0"/>
              </a:p>
            </p:txBody>
          </p:sp>
        </mc:Choice>
        <mc:Fallback>
          <p:sp>
            <p:nvSpPr>
              <p:cNvPr id="144" name="Label 144"/>
              <p:cNvSpPr/>
              <p:nvPr/>
            </p:nvSpPr>
            <p:spPr>
              <a:xfrm>
                <a:off x="6971386" y="4553712"/>
                <a:ext cx="138988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Compared Cell-by-Cell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With Ground Truth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T</a:t>
                </a:r>
                <a:endParaRPr lang="en-US" sz="800" dirty="0"/>
              </a:p>
            </p:txBody>
          </p:sp>
        </mc:Fallback>
      </mc:AlternateContent>
      <p:sp>
        <p:nvSpPr>
          <p:cNvPr id="145" name="Arrow 145"/>
          <p:cNvSpPr/>
          <p:nvPr/>
        </p:nvSpPr>
        <p:spPr>
          <a:xfrm>
            <a:off x="6797650" y="3364992"/>
            <a:ext cx="137160" cy="1"/>
          </a:xfrm>
          <a:custGeom>
            <a:avLst/>
            <a:gdLst/>
            <a:ahLst/>
            <a:cxnLst/>
            <a:rect l="0" t="0" r="r" b="b"/>
            <a:pathLst>
              <a:path w="137160" h="1" fill="none">
                <a:moveTo>
                  <a:pt x="0" y="0"/>
                </a:moveTo>
                <a:lnTo>
                  <a:pt x="137160" y="0"/>
                </a:lnTo>
              </a:path>
            </a:pathLst>
          </a:custGeom>
          <a:noFill/>
          <a:ln w="19050" cap="flat">
            <a:solidFill>
              <a:srgbClr val="AB0520"/>
            </a:solidFill>
            <a:round/>
            <a:tailEnd type="triangle" w="med" len="med"/>
          </a:ln>
        </p:spPr>
      </p:sp>
      <p:sp>
        <p:nvSpPr>
          <p:cNvPr id="146" name="Legend 146"/>
          <p:cNvSpPr/>
          <p:nvPr/>
        </p:nvSpPr>
        <p:spPr>
          <a:xfrm>
            <a:off x="6934810" y="5120640"/>
            <a:ext cx="14630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9AA6B8"/>
            </a:solidFill>
          </a:ln>
        </p:spPr>
        <p:txBody>
          <a:bodyPr wrap="square" lIns="54864" tIns="36576" rIns="54864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/>
          </a:p>
        </p:txBody>
      </p:sp>
      <p:sp>
        <p:nvSpPr>
          <p:cNvPr id="147" name="LegKey 147"/>
          <p:cNvSpPr/>
          <p:nvPr/>
        </p:nvSpPr>
        <p:spPr>
          <a:xfrm>
            <a:off x="7026250" y="5202936"/>
            <a:ext cx="237744" cy="137160"/>
          </a:xfrm>
          <a:prstGeom prst="roundRect">
            <a:avLst>
              <a:gd name="adj" fmla="val 15000"/>
            </a:avLst>
          </a:prstGeom>
          <a:solidFill>
            <a:srgbClr val="E9EEF5"/>
          </a:solidFill>
          <a:ln w="12700">
            <a:solidFill>
              <a:srgbClr val="0C234B"/>
            </a:solidFill>
          </a:ln>
        </p:spPr>
        <p:txBody>
          <a:bodyPr wrap="square" lIns="54864" tIns="36576" rIns="54864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/>
          </a:p>
        </p:txBody>
      </p:sp>
      <p:sp>
        <p:nvSpPr>
          <p:cNvPr id="148" name="Label 148"/>
          <p:cNvSpPr/>
          <p:nvPr/>
        </p:nvSpPr>
        <p:spPr>
          <a:xfrm>
            <a:off x="7337146" y="517550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dirty="0">
                <a:solidFill>
                  <a:srgbClr val="1F1F1F"/>
                </a:solidFill>
                <a:latin typeface="+mn-lt"/>
                <a:cs typeface="+mn-cs"/>
              </a:rPr>
              <a:t xml:space="preserve">Baseline LPN</a:t>
            </a:r>
            <a:endParaRPr lang="en-US" sz="800" dirty="0"/>
          </a:p>
        </p:txBody>
      </p:sp>
      <p:sp>
        <p:nvSpPr>
          <p:cNvPr id="149" name="LegKey 149"/>
          <p:cNvSpPr/>
          <p:nvPr/>
        </p:nvSpPr>
        <p:spPr>
          <a:xfrm>
            <a:off x="7026250" y="5413248"/>
            <a:ext cx="237744" cy="137160"/>
          </a:xfrm>
          <a:prstGeom prst="roundRect">
            <a:avLst>
              <a:gd name="adj" fmla="val 15000"/>
            </a:avLst>
          </a:prstGeom>
          <a:solidFill>
            <a:srgbClr val="FBECEE"/>
          </a:solidFill>
          <a:ln w="12700">
            <a:solidFill>
              <a:srgbClr val="AB0520"/>
            </a:solidFill>
          </a:ln>
        </p:spPr>
        <p:txBody>
          <a:bodyPr wrap="square" lIns="54864" tIns="36576" rIns="54864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/>
          </a:p>
        </p:txBody>
      </p:sp>
      <p:sp>
        <p:nvSpPr>
          <p:cNvPr id="150" name="Label 150"/>
          <p:cNvSpPr/>
          <p:nvPr/>
        </p:nvSpPr>
        <p:spPr>
          <a:xfrm>
            <a:off x="7337146" y="538581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dirty="0">
                <a:solidFill>
                  <a:srgbClr val="1F1F1F"/>
                </a:solidFill>
                <a:latin typeface="+mn-lt"/>
                <a:cs typeface="+mn-cs"/>
              </a:rPr>
              <a:t xml:space="preserve">New Module</a:t>
            </a:r>
            <a:endParaRPr lang="en-US" sz="800" dirty="0"/>
          </a:p>
        </p:txBody>
      </p:sp>
      <p:sp>
        <p:nvSpPr>
          <p:cNvPr id="151" name="LegKey 151"/>
          <p:cNvSpPr/>
          <p:nvPr/>
        </p:nvSpPr>
        <p:spPr>
          <a:xfrm>
            <a:off x="7026250" y="5623560"/>
            <a:ext cx="237744" cy="13716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12700">
            <a:solidFill>
              <a:srgbClr val="7F7F7F"/>
            </a:solidFill>
          </a:ln>
        </p:spPr>
        <p:txBody>
          <a:bodyPr wrap="square" lIns="54864" tIns="36576" rIns="54864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/>
          </a:p>
        </p:txBody>
      </p:sp>
      <p:sp>
        <p:nvSpPr>
          <p:cNvPr id="152" name="Label 152"/>
          <p:cNvSpPr/>
          <p:nvPr/>
        </p:nvSpPr>
        <p:spPr>
          <a:xfrm>
            <a:off x="7337146" y="559612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dirty="0">
                <a:solidFill>
                  <a:srgbClr val="1F1F1F"/>
                </a:solidFill>
                <a:latin typeface="+mn-lt"/>
                <a:cs typeface="+mn-cs"/>
              </a:rPr>
              <a:t xml:space="preserve">Loss Term</a:t>
            </a:r>
            <a:endParaRPr lang="en-US" sz="800" dirty="0"/>
          </a:p>
        </p:txBody>
      </p:sp>
      <p:sp>
        <p:nvSpPr>
          <p:cNvPr id="153" name="Arrow 153"/>
          <p:cNvSpPr/>
          <p:nvPr/>
        </p:nvSpPr>
        <p:spPr>
          <a:xfrm>
            <a:off x="7026250" y="5907024"/>
            <a:ext cx="237744" cy="1"/>
          </a:xfrm>
          <a:custGeom>
            <a:avLst/>
            <a:gdLst/>
            <a:ahLst/>
            <a:cxnLst/>
            <a:rect l="0" t="0" r="r" b="b"/>
            <a:pathLst>
              <a:path w="237744" h="1" fill="none">
                <a:moveTo>
                  <a:pt x="0" y="0"/>
                </a:moveTo>
                <a:lnTo>
                  <a:pt x="237744" y="0"/>
                </a:lnTo>
              </a:path>
            </a:pathLst>
          </a:custGeom>
          <a:noFill/>
          <a:ln w="19050" cap="flat">
            <a:solidFill>
              <a:srgbClr val="AB0520"/>
            </a:solidFill>
            <a:prstDash val="dash"/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4" name="Label 154"/>
              <p:cNvSpPr/>
              <p:nvPr/>
            </p:nvSpPr>
            <p:spPr>
              <a:xfrm>
                <a:off x="7337146" y="5806440"/>
                <a:ext cx="1005840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Gradient in </a:t>
                </a:r>
                <a14:m>
                  <m:oMath xmlns:m="http://schemas.openxmlformats.org/officeDocument/2006/math">
                    <m:r>
                      <a:rPr lang="en-US" sz="9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sz="800" dirty="0"/>
              </a:p>
            </p:txBody>
          </p:sp>
        </mc:Choice>
        <mc:Fallback>
          <p:sp>
            <p:nvSpPr>
              <p:cNvPr id="154" name="Label 154"/>
              <p:cNvSpPr/>
              <p:nvPr/>
            </p:nvSpPr>
            <p:spPr>
              <a:xfrm>
                <a:off x="7337146" y="5806440"/>
                <a:ext cx="1005840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Gradient in </a:t>
                </a:r>
                <a:r>
                  <a:rPr lang="en-US" sz="8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z</a:t>
                </a:r>
                <a:endParaRPr lang="en-US" sz="800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6167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98903-EB57-9ED4-DFBE-5C27FB547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A6A5F-ECB7-BC95-412C-D21A419D7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1: MLP 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FC6D4-2428-DCDF-BAEA-CC2103234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701D8-BF45-46A2-ADF3-0D690B397DE9}" type="slidenum">
              <a:rPr lang="en-US" smtClean="0"/>
              <a:pPr/>
              <a:t>2</a:t>
            </a:fld>
            <a:endParaRPr lang="en-US" sz="1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8E19ED-319E-E8AA-EBDF-D7E0166D8A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Weekly Meeting</a:t>
            </a:r>
          </a:p>
        </p:txBody>
      </p:sp>
      <p:pic>
        <p:nvPicPr>
          <p:cNvPr id="6" name="Picture 5" descr="File:Claude AI symbol.svg - Wikimedia Commons">
            <a:extLst>
              <a:ext uri="{FF2B5EF4-FFF2-40B4-BE49-F238E27FC236}">
                <a16:creationId xmlns:a16="http://schemas.microsoft.com/office/drawing/2014/main" id="{AA6D8025-27A8-2D34-EAB4-9618BA2EE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592" y="508394"/>
            <a:ext cx="425709" cy="4257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Label 101"/>
              <p:cNvSpPr/>
              <p:nvPr/>
            </p:nvSpPr>
            <p:spPr>
              <a:xfrm>
                <a:off x="457200" y="1861718"/>
                <a:ext cx="8229600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Forward Pass  </a:t>
                </a:r>
                <a14:m>
                  <m:oMath xmlns:m="http://schemas.openxmlformats.org/officeDocument/2006/math">
                    <m:r>
                      <a:rPr lang="en-US" sz="1250" b="0" i="0" dirty="0">
                        <a:solidFill>
                          <a:srgbClr val="0C234B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US" sz="1250" b="0" i="0" dirty="0">
                        <a:solidFill>
                          <a:srgbClr val="0C234B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125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25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5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250" b="0" i="0" dirty="0">
                        <a:solidFill>
                          <a:srgbClr val="0C234B"/>
                        </a:solidFill>
                        <a:latin typeface="Cambria Math" panose="02040503050406030204" pitchFamily="18" charset="0"/>
                      </a:rPr>
                      <m:t>→[0,1</m:t>
                    </m:r>
                    <m:sSup>
                      <m:sSupPr>
                        <m:ctrlPr>
                          <a:rPr lang="en-US" sz="125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25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5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  <m:t>4×10</m:t>
                        </m:r>
                      </m:sup>
                    </m:sSup>
                  </m:oMath>
                </a14:m>
                <a:r>
                  <a:rPr lang="en-US" sz="120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,  Applied at Every Optimization Step </a:t>
                </a:r>
                <a14:m>
                  <m:oMath xmlns:m="http://schemas.openxmlformats.org/officeDocument/2006/math">
                    <m:r>
                      <a:rPr lang="en-US" sz="1250" b="0" i="0" dirty="0">
                        <a:solidFill>
                          <a:srgbClr val="0C234B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1200" dirty="0"/>
              </a:p>
            </p:txBody>
          </p:sp>
        </mc:Choice>
        <mc:Fallback>
          <p:sp>
            <p:nvSpPr>
              <p:cNvPr id="101" name="Label 101"/>
              <p:cNvSpPr/>
              <p:nvPr/>
            </p:nvSpPr>
            <p:spPr>
              <a:xfrm>
                <a:off x="457200" y="1861718"/>
                <a:ext cx="8229600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Forward Pass  </a:t>
                </a:r>
                <a:r>
                  <a:rPr lang="en-US" sz="120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h:ℝ^2→[0,1]^4×10</a:t>
                </a:r>
                <a:r>
                  <a:rPr lang="en-US" sz="120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,  Applied at Every Optimization Step </a:t>
                </a:r>
                <a:r>
                  <a:rPr lang="en-US" sz="120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k</a:t>
                </a:r>
                <a:endParaRPr lang="en-US" sz="1200" dirty="0"/>
              </a:p>
            </p:txBody>
          </p:sp>
        </mc:Fallback>
      </mc:AlternateContent>
      <p:sp>
        <p:nvSpPr>
          <p:cNvPr id="102" name="zCell 102"/>
          <p:cNvSpPr/>
          <p:nvPr/>
        </p:nvSpPr>
        <p:spPr>
          <a:xfrm>
            <a:off x="603504" y="3024835"/>
            <a:ext cx="201168" cy="274320"/>
          </a:xfrm>
          <a:prstGeom prst="rect">
            <a:avLst/>
          </a:prstGeom>
          <a:solidFill>
            <a:srgbClr val="0C234B">
              <a:alpha val="700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103" name="zCell 103"/>
          <p:cNvSpPr/>
          <p:nvPr/>
        </p:nvSpPr>
        <p:spPr>
          <a:xfrm>
            <a:off x="603504" y="3299155"/>
            <a:ext cx="201168" cy="274320"/>
          </a:xfrm>
          <a:prstGeom prst="rect">
            <a:avLst/>
          </a:prstGeom>
          <a:solidFill>
            <a:srgbClr val="0C234B">
              <a:alpha val="350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104" name="zFrame 104"/>
          <p:cNvSpPr/>
          <p:nvPr/>
        </p:nvSpPr>
        <p:spPr>
          <a:xfrm>
            <a:off x="603504" y="3024835"/>
            <a:ext cx="201168" cy="548640"/>
          </a:xfrm>
          <a:prstGeom prst="rect">
            <a:avLst/>
          </a:prstGeom>
          <a:noFill/>
          <a:ln w="9525">
            <a:solidFill>
              <a:srgbClr val="0C234B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Label 105"/>
              <p:cNvSpPr/>
              <p:nvPr/>
            </p:nvSpPr>
            <p:spPr>
              <a:xfrm>
                <a:off x="384048" y="2750515"/>
                <a:ext cx="640080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3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3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>
          <p:sp>
            <p:nvSpPr>
              <p:cNvPr id="105" name="Label 105"/>
              <p:cNvSpPr/>
              <p:nvPr/>
            </p:nvSpPr>
            <p:spPr>
              <a:xfrm>
                <a:off x="384048" y="2750515"/>
                <a:ext cx="640080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z_k</a:t>
                </a:r>
                <a:endParaRPr lang="en-US" sz="13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Label 106"/>
              <p:cNvSpPr/>
              <p:nvPr/>
            </p:nvSpPr>
            <p:spPr>
              <a:xfrm>
                <a:off x="347472" y="3619195"/>
                <a:ext cx="713232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11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1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1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1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Only Input</a:t>
                </a:r>
                <a:endParaRPr lang="en-US" sz="1000" dirty="0"/>
              </a:p>
            </p:txBody>
          </p:sp>
        </mc:Choice>
        <mc:Fallback>
          <p:sp>
            <p:nvSpPr>
              <p:cNvPr id="106" name="Label 106"/>
              <p:cNvSpPr/>
              <p:nvPr/>
            </p:nvSpPr>
            <p:spPr>
              <a:xfrm>
                <a:off x="347472" y="3619195"/>
                <a:ext cx="713232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∈ℝ^2</a:t>
                </a:r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Only Input</a:t>
                </a:r>
                <a:endParaRPr lang="en-US" sz="10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Layer 107"/>
              <p:cNvSpPr/>
              <p:nvPr/>
            </p:nvSpPr>
            <p:spPr>
              <a:xfrm>
                <a:off x="1060704" y="2585923"/>
                <a:ext cx="987552" cy="1426464"/>
              </a:xfrm>
              <a:prstGeom prst="roundRect">
                <a:avLst>
                  <a:gd name="adj" fmla="val 8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27432" tIns="36576" rIns="27432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2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Linear 1</a:t>
                </a:r>
                <a:endParaRPr lang="en-US" sz="12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×2</m:t>
                          </m:r>
                        </m:sup>
                      </m:sSup>
                    </m:oMath>
                  </m:oMathPara>
                </a14:m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+ ReLU</a:t>
                </a:r>
                <a:endParaRPr lang="en-US" sz="1050" dirty="0"/>
              </a:p>
            </p:txBody>
          </p:sp>
        </mc:Choice>
        <mc:Fallback>
          <p:sp>
            <p:nvSpPr>
              <p:cNvPr id="107" name="Layer 107"/>
              <p:cNvSpPr/>
              <p:nvPr/>
            </p:nvSpPr>
            <p:spPr>
              <a:xfrm>
                <a:off x="1060704" y="2585923"/>
                <a:ext cx="987552" cy="1426464"/>
              </a:xfrm>
              <a:prstGeom prst="roundRect">
                <a:avLst>
                  <a:gd name="adj" fmla="val 8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27432" tIns="36576" rIns="27432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2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Linear 1</a:t>
                </a:r>
                <a:endParaRPr lang="en-US" sz="12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W_1∈ℝ^H×2</a:t>
                </a:r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+ ReLU</a:t>
                </a:r>
                <a:endParaRPr lang="en-US" sz="105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Layer 108"/>
              <p:cNvSpPr/>
              <p:nvPr/>
            </p:nvSpPr>
            <p:spPr>
              <a:xfrm>
                <a:off x="2286000" y="2585923"/>
                <a:ext cx="987552" cy="1426464"/>
              </a:xfrm>
              <a:prstGeom prst="roundRect">
                <a:avLst>
                  <a:gd name="adj" fmla="val 8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  <a:prstDash val="dash"/>
              </a:ln>
            </p:spPr>
            <p:txBody>
              <a:bodyPr wrap="square" lIns="27432" tIns="36576" rIns="27432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2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Linear 2</a:t>
                </a:r>
                <a:endParaRPr lang="en-US" sz="12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</m:oMath>
                  </m:oMathPara>
                </a14:m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+ ReLU</a:t>
                </a:r>
                <a:endParaRPr lang="en-US" sz="1050" dirty="0"/>
              </a:p>
            </p:txBody>
          </p:sp>
        </mc:Choice>
        <mc:Fallback>
          <p:sp>
            <p:nvSpPr>
              <p:cNvPr id="108" name="Layer 108"/>
              <p:cNvSpPr/>
              <p:nvPr/>
            </p:nvSpPr>
            <p:spPr>
              <a:xfrm>
                <a:off x="2286000" y="2585923"/>
                <a:ext cx="987552" cy="1426464"/>
              </a:xfrm>
              <a:prstGeom prst="roundRect">
                <a:avLst>
                  <a:gd name="adj" fmla="val 8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  <a:prstDash val="dash"/>
              </a:ln>
            </p:spPr>
            <p:txBody>
              <a:bodyPr wrap="square" lIns="27432" tIns="36576" rIns="27432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2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Linear 2</a:t>
                </a:r>
                <a:endParaRPr lang="en-US" sz="12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W_2∈ℝ^H×H</a:t>
                </a:r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+ ReLU</a:t>
                </a:r>
                <a:endParaRPr lang="en-US" sz="105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Layer 109"/>
              <p:cNvSpPr/>
              <p:nvPr/>
            </p:nvSpPr>
            <p:spPr>
              <a:xfrm>
                <a:off x="3511296" y="2448763"/>
                <a:ext cx="98755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27432" tIns="36576" rIns="27432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2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Linear 3</a:t>
                </a:r>
                <a:endParaRPr lang="en-US" sz="12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40×</m:t>
                          </m:r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</m:oMath>
                  </m:oMathPara>
                </a14:m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Logits </a:t>
                </a:r>
                <a14:m>
                  <m:oMath xmlns:m="http://schemas.openxmlformats.org/officeDocument/2006/math">
                    <m:r>
                      <a:rPr lang="en-US" sz="11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endParaRPr lang="en-US" sz="1050" dirty="0"/>
              </a:p>
            </p:txBody>
          </p:sp>
        </mc:Choice>
        <mc:Fallback>
          <p:sp>
            <p:nvSpPr>
              <p:cNvPr id="109" name="Layer 109"/>
              <p:cNvSpPr/>
              <p:nvPr/>
            </p:nvSpPr>
            <p:spPr>
              <a:xfrm>
                <a:off x="3511296" y="2448763"/>
                <a:ext cx="98755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27432" tIns="36576" rIns="27432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2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Linear 3</a:t>
                </a:r>
                <a:endParaRPr lang="en-US" sz="12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W_3∈ℝ^40×H</a:t>
                </a:r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Logits </a:t>
                </a: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ℓ</a:t>
                </a:r>
                <a:endParaRPr lang="en-US" sz="1050" dirty="0"/>
              </a:p>
            </p:txBody>
          </p:sp>
        </mc:Fallback>
      </mc:AlternateContent>
      <p:sp>
        <p:nvSpPr>
          <p:cNvPr id="110" name="Label 110"/>
          <p:cNvSpPr/>
          <p:nvPr/>
        </p:nvSpPr>
        <p:spPr>
          <a:xfrm>
            <a:off x="2194560" y="4067251"/>
            <a:ext cx="117043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dirty="0">
                <a:solidFill>
                  <a:srgbClr val="AB0520"/>
                </a:solidFill>
                <a:latin typeface="+mn-lt"/>
                <a:cs typeface="+mn-cs"/>
              </a:rPr>
              <a:t xml:space="preserve">Optional Layer</a:t>
            </a:r>
            <a:endParaRPr lang="en-US" sz="1000" dirty="0"/>
          </a:p>
        </p:txBody>
      </p:sp>
      <p:sp>
        <p:nvSpPr>
          <p:cNvPr id="111" name="Arrow 111"/>
          <p:cNvSpPr/>
          <p:nvPr/>
        </p:nvSpPr>
        <p:spPr>
          <a:xfrm>
            <a:off x="832104" y="3299155"/>
            <a:ext cx="228600" cy="1"/>
          </a:xfrm>
          <a:custGeom>
            <a:avLst/>
            <a:gdLst/>
            <a:ahLst/>
            <a:cxnLst/>
            <a:rect l="0" t="0" r="r" b="b"/>
            <a:pathLst>
              <a:path w="228600" h="1" fill="none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Label 112"/>
              <p:cNvSpPr/>
              <p:nvPr/>
            </p:nvSpPr>
            <p:spPr>
              <a:xfrm>
                <a:off x="804672" y="3024835"/>
                <a:ext cx="256032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11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112" name="Label 112"/>
              <p:cNvSpPr/>
              <p:nvPr/>
            </p:nvSpPr>
            <p:spPr>
              <a:xfrm>
                <a:off x="804672" y="3024835"/>
                <a:ext cx="256032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2</a:t>
                </a:r>
                <a:endParaRPr lang="en-US" sz="1050" dirty="0"/>
              </a:p>
            </p:txBody>
          </p:sp>
        </mc:Fallback>
      </mc:AlternateContent>
      <p:sp>
        <p:nvSpPr>
          <p:cNvPr id="113" name="Arrow 113"/>
          <p:cNvSpPr/>
          <p:nvPr/>
        </p:nvSpPr>
        <p:spPr>
          <a:xfrm>
            <a:off x="2075688" y="3299155"/>
            <a:ext cx="210312" cy="1"/>
          </a:xfrm>
          <a:custGeom>
            <a:avLst/>
            <a:gdLst/>
            <a:ahLst/>
            <a:cxnLst/>
            <a:rect l="0" t="0" r="r" b="b"/>
            <a:pathLst>
              <a:path w="210312" h="1" fill="none">
                <a:moveTo>
                  <a:pt x="0" y="0"/>
                </a:moveTo>
                <a:lnTo>
                  <a:pt x="210312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Label 114"/>
              <p:cNvSpPr/>
              <p:nvPr/>
            </p:nvSpPr>
            <p:spPr>
              <a:xfrm>
                <a:off x="2048256" y="3024835"/>
                <a:ext cx="237744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1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114" name="Label 114"/>
              <p:cNvSpPr/>
              <p:nvPr/>
            </p:nvSpPr>
            <p:spPr>
              <a:xfrm>
                <a:off x="2048256" y="3024835"/>
                <a:ext cx="237744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H</a:t>
                </a:r>
                <a:endParaRPr lang="en-US" sz="1050" dirty="0"/>
              </a:p>
            </p:txBody>
          </p:sp>
        </mc:Fallback>
      </mc:AlternateContent>
      <p:sp>
        <p:nvSpPr>
          <p:cNvPr id="115" name="Arrow 115"/>
          <p:cNvSpPr/>
          <p:nvPr/>
        </p:nvSpPr>
        <p:spPr>
          <a:xfrm>
            <a:off x="3300984" y="3299155"/>
            <a:ext cx="210312" cy="1"/>
          </a:xfrm>
          <a:custGeom>
            <a:avLst/>
            <a:gdLst/>
            <a:ahLst/>
            <a:cxnLst/>
            <a:rect l="0" t="0" r="r" b="b"/>
            <a:pathLst>
              <a:path w="210312" h="1" fill="none">
                <a:moveTo>
                  <a:pt x="0" y="0"/>
                </a:moveTo>
                <a:lnTo>
                  <a:pt x="210312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Label 116"/>
              <p:cNvSpPr/>
              <p:nvPr/>
            </p:nvSpPr>
            <p:spPr>
              <a:xfrm>
                <a:off x="3273552" y="3024835"/>
                <a:ext cx="237744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1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116" name="Label 116"/>
              <p:cNvSpPr/>
              <p:nvPr/>
            </p:nvSpPr>
            <p:spPr>
              <a:xfrm>
                <a:off x="3273552" y="3024835"/>
                <a:ext cx="237744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H</a:t>
                </a:r>
                <a:endParaRPr lang="en-US" sz="1050" dirty="0"/>
              </a:p>
            </p:txBody>
          </p:sp>
        </mc:Fallback>
      </mc:AlternateContent>
      <p:sp>
        <p:nvSpPr>
          <p:cNvPr id="117" name="Logit 117"/>
          <p:cNvSpPr/>
          <p:nvPr/>
        </p:nvSpPr>
        <p:spPr>
          <a:xfrm>
            <a:off x="4791456" y="3143707"/>
            <a:ext cx="77724" cy="77724"/>
          </a:xfrm>
          <a:prstGeom prst="rect">
            <a:avLst/>
          </a:prstGeom>
          <a:solidFill>
            <a:srgbClr val="595959">
              <a:alpha val="74847"/>
            </a:srgbClr>
          </a:solidFill>
          <a:ln w="3175">
            <a:solidFill>
              <a:srgbClr val="FFFFFF"/>
            </a:solidFill>
          </a:ln>
        </p:spPr>
      </p:sp>
      <p:sp>
        <p:nvSpPr>
          <p:cNvPr id="118" name="Prob 118"/>
          <p:cNvSpPr/>
          <p:nvPr/>
        </p:nvSpPr>
        <p:spPr>
          <a:xfrm>
            <a:off x="6217920" y="3143707"/>
            <a:ext cx="77724" cy="77724"/>
          </a:xfrm>
          <a:prstGeom prst="rect">
            <a:avLst/>
          </a:prstGeom>
          <a:solidFill>
            <a:srgbClr val="0C234B">
              <a:alpha val="4900"/>
            </a:srgbClr>
          </a:solidFill>
          <a:ln w="3175">
            <a:solidFill>
              <a:srgbClr val="FFFFFF"/>
            </a:solidFill>
          </a:ln>
        </p:spPr>
      </p:sp>
      <p:sp>
        <p:nvSpPr>
          <p:cNvPr id="119" name="Logit 119"/>
          <p:cNvSpPr/>
          <p:nvPr/>
        </p:nvSpPr>
        <p:spPr>
          <a:xfrm>
            <a:off x="4869180" y="3143707"/>
            <a:ext cx="77724" cy="77724"/>
          </a:xfrm>
          <a:prstGeom prst="rect">
            <a:avLst/>
          </a:prstGeom>
          <a:solidFill>
            <a:srgbClr val="595959">
              <a:alpha val="74719"/>
            </a:srgbClr>
          </a:solidFill>
          <a:ln w="3175">
            <a:solidFill>
              <a:srgbClr val="FFFFFF"/>
            </a:solidFill>
          </a:ln>
        </p:spPr>
      </p:sp>
      <p:sp>
        <p:nvSpPr>
          <p:cNvPr id="120" name="Prob 120"/>
          <p:cNvSpPr/>
          <p:nvPr/>
        </p:nvSpPr>
        <p:spPr>
          <a:xfrm>
            <a:off x="6295644" y="3143707"/>
            <a:ext cx="77724" cy="77724"/>
          </a:xfrm>
          <a:prstGeom prst="rect">
            <a:avLst/>
          </a:prstGeom>
          <a:solidFill>
            <a:srgbClr val="0C234B">
              <a:alpha val="5114"/>
            </a:srgbClr>
          </a:solidFill>
          <a:ln w="3175">
            <a:solidFill>
              <a:srgbClr val="FFFFFF"/>
            </a:solidFill>
          </a:ln>
        </p:spPr>
      </p:sp>
      <p:sp>
        <p:nvSpPr>
          <p:cNvPr id="121" name="Logit 121"/>
          <p:cNvSpPr/>
          <p:nvPr/>
        </p:nvSpPr>
        <p:spPr>
          <a:xfrm>
            <a:off x="4946904" y="3143707"/>
            <a:ext cx="77724" cy="77724"/>
          </a:xfrm>
          <a:prstGeom prst="rect">
            <a:avLst/>
          </a:prstGeom>
          <a:solidFill>
            <a:srgbClr val="595959">
              <a:alpha val="64614"/>
            </a:srgbClr>
          </a:solidFill>
          <a:ln w="3175">
            <a:solidFill>
              <a:srgbClr val="FFFFFF"/>
            </a:solidFill>
          </a:ln>
        </p:spPr>
      </p:sp>
      <p:sp>
        <p:nvSpPr>
          <p:cNvPr id="122" name="Prob 122"/>
          <p:cNvSpPr/>
          <p:nvPr/>
        </p:nvSpPr>
        <p:spPr>
          <a:xfrm>
            <a:off x="6373368" y="3143707"/>
            <a:ext cx="77724" cy="77724"/>
          </a:xfrm>
          <a:prstGeom prst="rect">
            <a:avLst/>
          </a:prstGeom>
          <a:solidFill>
            <a:srgbClr val="0C234B">
              <a:alpha val="5839"/>
            </a:srgbClr>
          </a:solidFill>
          <a:ln w="3175">
            <a:solidFill>
              <a:srgbClr val="FFFFFF"/>
            </a:solidFill>
          </a:ln>
        </p:spPr>
      </p:sp>
      <p:sp>
        <p:nvSpPr>
          <p:cNvPr id="123" name="Logit 123"/>
          <p:cNvSpPr/>
          <p:nvPr/>
        </p:nvSpPr>
        <p:spPr>
          <a:xfrm>
            <a:off x="5024628" y="3143707"/>
            <a:ext cx="77724" cy="77724"/>
          </a:xfrm>
          <a:prstGeom prst="rect">
            <a:avLst/>
          </a:prstGeom>
          <a:solidFill>
            <a:srgbClr val="595959">
              <a:alpha val="56007"/>
            </a:srgbClr>
          </a:solidFill>
          <a:ln w="3175">
            <a:solidFill>
              <a:srgbClr val="FFFFFF"/>
            </a:solidFill>
          </a:ln>
        </p:spPr>
      </p:sp>
      <p:sp>
        <p:nvSpPr>
          <p:cNvPr id="124" name="Prob 124"/>
          <p:cNvSpPr/>
          <p:nvPr/>
        </p:nvSpPr>
        <p:spPr>
          <a:xfrm>
            <a:off x="6451092" y="3143707"/>
            <a:ext cx="77724" cy="77724"/>
          </a:xfrm>
          <a:prstGeom prst="rect">
            <a:avLst/>
          </a:prstGeom>
          <a:solidFill>
            <a:srgbClr val="0C234B">
              <a:alpha val="4926"/>
            </a:srgbClr>
          </a:solidFill>
          <a:ln w="3175">
            <a:solidFill>
              <a:srgbClr val="FFFFFF"/>
            </a:solidFill>
          </a:ln>
        </p:spPr>
      </p:sp>
      <p:sp>
        <p:nvSpPr>
          <p:cNvPr id="125" name="Logit 125"/>
          <p:cNvSpPr/>
          <p:nvPr/>
        </p:nvSpPr>
        <p:spPr>
          <a:xfrm>
            <a:off x="5102352" y="3143707"/>
            <a:ext cx="77724" cy="77724"/>
          </a:xfrm>
          <a:prstGeom prst="rect">
            <a:avLst/>
          </a:prstGeom>
          <a:solidFill>
            <a:srgbClr val="595959">
              <a:alpha val="30493"/>
            </a:srgbClr>
          </a:solidFill>
          <a:ln w="3175">
            <a:solidFill>
              <a:srgbClr val="FFFFFF"/>
            </a:solidFill>
          </a:ln>
        </p:spPr>
      </p:sp>
      <p:sp>
        <p:nvSpPr>
          <p:cNvPr id="126" name="Prob 126"/>
          <p:cNvSpPr/>
          <p:nvPr/>
        </p:nvSpPr>
        <p:spPr>
          <a:xfrm>
            <a:off x="6528816" y="3143707"/>
            <a:ext cx="77724" cy="77724"/>
          </a:xfrm>
          <a:prstGeom prst="rect">
            <a:avLst/>
          </a:prstGeom>
          <a:solidFill>
            <a:srgbClr val="0C234B">
              <a:alpha val="5010"/>
            </a:srgbClr>
          </a:solidFill>
          <a:ln w="3175">
            <a:solidFill>
              <a:srgbClr val="FFFFFF"/>
            </a:solidFill>
          </a:ln>
        </p:spPr>
      </p:sp>
      <p:sp>
        <p:nvSpPr>
          <p:cNvPr id="127" name="Logit 127"/>
          <p:cNvSpPr/>
          <p:nvPr/>
        </p:nvSpPr>
        <p:spPr>
          <a:xfrm>
            <a:off x="5180076" y="3143707"/>
            <a:ext cx="77724" cy="77724"/>
          </a:xfrm>
          <a:prstGeom prst="rect">
            <a:avLst/>
          </a:prstGeom>
          <a:solidFill>
            <a:srgbClr val="595959">
              <a:alpha val="24928"/>
            </a:srgbClr>
          </a:solidFill>
          <a:ln w="3175">
            <a:solidFill>
              <a:srgbClr val="FFFFFF"/>
            </a:solidFill>
          </a:ln>
        </p:spPr>
      </p:sp>
      <p:sp>
        <p:nvSpPr>
          <p:cNvPr id="128" name="Prob 128"/>
          <p:cNvSpPr/>
          <p:nvPr/>
        </p:nvSpPr>
        <p:spPr>
          <a:xfrm>
            <a:off x="6606540" y="3143707"/>
            <a:ext cx="77724" cy="77724"/>
          </a:xfrm>
          <a:prstGeom prst="rect">
            <a:avLst/>
          </a:prstGeom>
          <a:solidFill>
            <a:srgbClr val="0C234B">
              <a:alpha val="5169"/>
            </a:srgbClr>
          </a:solidFill>
          <a:ln w="3175">
            <a:solidFill>
              <a:srgbClr val="FFFFFF"/>
            </a:solidFill>
          </a:ln>
        </p:spPr>
      </p:sp>
      <p:sp>
        <p:nvSpPr>
          <p:cNvPr id="129" name="Logit 129"/>
          <p:cNvSpPr/>
          <p:nvPr/>
        </p:nvSpPr>
        <p:spPr>
          <a:xfrm>
            <a:off x="5257800" y="3143707"/>
            <a:ext cx="77724" cy="77724"/>
          </a:xfrm>
          <a:prstGeom prst="rect">
            <a:avLst/>
          </a:prstGeom>
          <a:solidFill>
            <a:srgbClr val="595959">
              <a:alpha val="28787"/>
            </a:srgbClr>
          </a:solidFill>
          <a:ln w="3175">
            <a:solidFill>
              <a:srgbClr val="FFFFFF"/>
            </a:solidFill>
          </a:ln>
        </p:spPr>
      </p:sp>
      <p:sp>
        <p:nvSpPr>
          <p:cNvPr id="130" name="Prob 130"/>
          <p:cNvSpPr/>
          <p:nvPr/>
        </p:nvSpPr>
        <p:spPr>
          <a:xfrm>
            <a:off x="6684264" y="3143707"/>
            <a:ext cx="77724" cy="77724"/>
          </a:xfrm>
          <a:prstGeom prst="rect">
            <a:avLst/>
          </a:prstGeom>
          <a:solidFill>
            <a:srgbClr val="0C234B">
              <a:alpha val="4367"/>
            </a:srgbClr>
          </a:solidFill>
          <a:ln w="3175">
            <a:solidFill>
              <a:srgbClr val="FFFFFF"/>
            </a:solidFill>
          </a:ln>
        </p:spPr>
      </p:sp>
      <p:sp>
        <p:nvSpPr>
          <p:cNvPr id="131" name="Logit 131"/>
          <p:cNvSpPr/>
          <p:nvPr/>
        </p:nvSpPr>
        <p:spPr>
          <a:xfrm>
            <a:off x="5335524" y="3143707"/>
            <a:ext cx="77724" cy="77724"/>
          </a:xfrm>
          <a:prstGeom prst="rect">
            <a:avLst/>
          </a:prstGeom>
          <a:solidFill>
            <a:srgbClr val="595959">
              <a:alpha val="71202"/>
            </a:srgbClr>
          </a:solidFill>
          <a:ln w="3175">
            <a:solidFill>
              <a:srgbClr val="FFFFFF"/>
            </a:solidFill>
          </a:ln>
        </p:spPr>
      </p:sp>
      <p:sp>
        <p:nvSpPr>
          <p:cNvPr id="132" name="Prob 132"/>
          <p:cNvSpPr/>
          <p:nvPr/>
        </p:nvSpPr>
        <p:spPr>
          <a:xfrm>
            <a:off x="6761988" y="3143707"/>
            <a:ext cx="77724" cy="77724"/>
          </a:xfrm>
          <a:prstGeom prst="rect">
            <a:avLst/>
          </a:prstGeom>
          <a:solidFill>
            <a:srgbClr val="0C234B">
              <a:alpha val="90400"/>
            </a:srgbClr>
          </a:solidFill>
          <a:ln w="3175">
            <a:solidFill>
              <a:srgbClr val="FFFFFF"/>
            </a:solidFill>
          </a:ln>
        </p:spPr>
      </p:sp>
      <p:sp>
        <p:nvSpPr>
          <p:cNvPr id="133" name="Logit 133"/>
          <p:cNvSpPr/>
          <p:nvPr/>
        </p:nvSpPr>
        <p:spPr>
          <a:xfrm>
            <a:off x="5413248" y="3143707"/>
            <a:ext cx="77724" cy="77724"/>
          </a:xfrm>
          <a:prstGeom prst="rect">
            <a:avLst/>
          </a:prstGeom>
          <a:solidFill>
            <a:srgbClr val="595959">
              <a:alpha val="36025"/>
            </a:srgbClr>
          </a:solidFill>
          <a:ln w="3175">
            <a:solidFill>
              <a:srgbClr val="FFFFFF"/>
            </a:solidFill>
          </a:ln>
        </p:spPr>
      </p:sp>
      <p:sp>
        <p:nvSpPr>
          <p:cNvPr id="134" name="Prob 134"/>
          <p:cNvSpPr/>
          <p:nvPr/>
        </p:nvSpPr>
        <p:spPr>
          <a:xfrm>
            <a:off x="6839712" y="3143707"/>
            <a:ext cx="77724" cy="77724"/>
          </a:xfrm>
          <a:prstGeom prst="rect">
            <a:avLst/>
          </a:prstGeom>
          <a:solidFill>
            <a:srgbClr val="0C234B">
              <a:alpha val="5018"/>
            </a:srgbClr>
          </a:solidFill>
          <a:ln w="3175">
            <a:solidFill>
              <a:srgbClr val="FFFFFF"/>
            </a:solidFill>
          </a:ln>
        </p:spPr>
      </p:sp>
      <p:sp>
        <p:nvSpPr>
          <p:cNvPr id="135" name="Logit 135"/>
          <p:cNvSpPr/>
          <p:nvPr/>
        </p:nvSpPr>
        <p:spPr>
          <a:xfrm>
            <a:off x="5490972" y="3143707"/>
            <a:ext cx="77724" cy="77724"/>
          </a:xfrm>
          <a:prstGeom prst="rect">
            <a:avLst/>
          </a:prstGeom>
          <a:solidFill>
            <a:srgbClr val="595959">
              <a:alpha val="65027"/>
            </a:srgbClr>
          </a:solidFill>
          <a:ln w="3175">
            <a:solidFill>
              <a:srgbClr val="FFFFFF"/>
            </a:solidFill>
          </a:ln>
        </p:spPr>
      </p:sp>
      <p:sp>
        <p:nvSpPr>
          <p:cNvPr id="136" name="Prob 136"/>
          <p:cNvSpPr/>
          <p:nvPr/>
        </p:nvSpPr>
        <p:spPr>
          <a:xfrm>
            <a:off x="6917436" y="3143707"/>
            <a:ext cx="77724" cy="77724"/>
          </a:xfrm>
          <a:prstGeom prst="rect">
            <a:avLst/>
          </a:prstGeom>
          <a:solidFill>
            <a:srgbClr val="0C234B">
              <a:alpha val="5253"/>
            </a:srgbClr>
          </a:solidFill>
          <a:ln w="3175">
            <a:solidFill>
              <a:srgbClr val="FFFFFF"/>
            </a:solidFill>
          </a:ln>
        </p:spPr>
      </p:sp>
      <p:sp>
        <p:nvSpPr>
          <p:cNvPr id="137" name="Logit 137"/>
          <p:cNvSpPr/>
          <p:nvPr/>
        </p:nvSpPr>
        <p:spPr>
          <a:xfrm>
            <a:off x="4791456" y="3221431"/>
            <a:ext cx="77724" cy="77724"/>
          </a:xfrm>
          <a:prstGeom prst="rect">
            <a:avLst/>
          </a:prstGeom>
          <a:solidFill>
            <a:srgbClr val="595959">
              <a:alpha val="35123"/>
            </a:srgbClr>
          </a:solidFill>
          <a:ln w="3175">
            <a:solidFill>
              <a:srgbClr val="FFFFFF"/>
            </a:solidFill>
          </a:ln>
        </p:spPr>
      </p:sp>
      <p:sp>
        <p:nvSpPr>
          <p:cNvPr id="138" name="Prob 138"/>
          <p:cNvSpPr/>
          <p:nvPr/>
        </p:nvSpPr>
        <p:spPr>
          <a:xfrm>
            <a:off x="6217920" y="3221431"/>
            <a:ext cx="77724" cy="77724"/>
          </a:xfrm>
          <a:prstGeom prst="rect">
            <a:avLst/>
          </a:prstGeom>
          <a:solidFill>
            <a:srgbClr val="0C234B">
              <a:alpha val="8465"/>
            </a:srgbClr>
          </a:solidFill>
          <a:ln w="3175">
            <a:solidFill>
              <a:srgbClr val="FFFFFF"/>
            </a:solidFill>
          </a:ln>
        </p:spPr>
      </p:sp>
      <p:sp>
        <p:nvSpPr>
          <p:cNvPr id="139" name="Logit 139"/>
          <p:cNvSpPr/>
          <p:nvPr/>
        </p:nvSpPr>
        <p:spPr>
          <a:xfrm>
            <a:off x="4869180" y="3221431"/>
            <a:ext cx="77724" cy="77724"/>
          </a:xfrm>
          <a:prstGeom prst="rect">
            <a:avLst/>
          </a:prstGeom>
          <a:solidFill>
            <a:srgbClr val="595959">
              <a:alpha val="72272"/>
            </a:srgbClr>
          </a:solidFill>
          <a:ln w="3175">
            <a:solidFill>
              <a:srgbClr val="FFFFFF"/>
            </a:solidFill>
          </a:ln>
        </p:spPr>
      </p:sp>
      <p:sp>
        <p:nvSpPr>
          <p:cNvPr id="140" name="Prob 140"/>
          <p:cNvSpPr/>
          <p:nvPr/>
        </p:nvSpPr>
        <p:spPr>
          <a:xfrm>
            <a:off x="6295644" y="3221431"/>
            <a:ext cx="77724" cy="77724"/>
          </a:xfrm>
          <a:prstGeom prst="rect">
            <a:avLst/>
          </a:prstGeom>
          <a:solidFill>
            <a:srgbClr val="0C234B">
              <a:alpha val="4530"/>
            </a:srgbClr>
          </a:solidFill>
          <a:ln w="3175">
            <a:solidFill>
              <a:srgbClr val="FFFFFF"/>
            </a:solidFill>
          </a:ln>
        </p:spPr>
      </p:sp>
      <p:sp>
        <p:nvSpPr>
          <p:cNvPr id="141" name="Logit 141"/>
          <p:cNvSpPr/>
          <p:nvPr/>
        </p:nvSpPr>
        <p:spPr>
          <a:xfrm>
            <a:off x="4946904" y="3221431"/>
            <a:ext cx="77724" cy="77724"/>
          </a:xfrm>
          <a:prstGeom prst="rect">
            <a:avLst/>
          </a:prstGeom>
          <a:solidFill>
            <a:srgbClr val="595959">
              <a:alpha val="65075"/>
            </a:srgbClr>
          </a:solidFill>
          <a:ln w="3175">
            <a:solidFill>
              <a:srgbClr val="FFFFFF"/>
            </a:solidFill>
          </a:ln>
        </p:spPr>
      </p:sp>
      <p:sp>
        <p:nvSpPr>
          <p:cNvPr id="142" name="Prob 142"/>
          <p:cNvSpPr/>
          <p:nvPr/>
        </p:nvSpPr>
        <p:spPr>
          <a:xfrm>
            <a:off x="6373368" y="3221431"/>
            <a:ext cx="77724" cy="77724"/>
          </a:xfrm>
          <a:prstGeom prst="rect">
            <a:avLst/>
          </a:prstGeom>
          <a:solidFill>
            <a:srgbClr val="0C234B">
              <a:alpha val="5708"/>
            </a:srgbClr>
          </a:solidFill>
          <a:ln w="3175">
            <a:solidFill>
              <a:srgbClr val="FFFFFF"/>
            </a:solidFill>
          </a:ln>
        </p:spPr>
      </p:sp>
      <p:sp>
        <p:nvSpPr>
          <p:cNvPr id="143" name="Logit 143"/>
          <p:cNvSpPr/>
          <p:nvPr/>
        </p:nvSpPr>
        <p:spPr>
          <a:xfrm>
            <a:off x="5024628" y="3221431"/>
            <a:ext cx="77724" cy="77724"/>
          </a:xfrm>
          <a:prstGeom prst="rect">
            <a:avLst/>
          </a:prstGeom>
          <a:solidFill>
            <a:srgbClr val="595959">
              <a:alpha val="10035"/>
            </a:srgbClr>
          </a:solidFill>
          <a:ln w="3175">
            <a:solidFill>
              <a:srgbClr val="FFFFFF"/>
            </a:solidFill>
          </a:ln>
        </p:spPr>
      </p:sp>
      <p:sp>
        <p:nvSpPr>
          <p:cNvPr id="144" name="Prob 144"/>
          <p:cNvSpPr/>
          <p:nvPr/>
        </p:nvSpPr>
        <p:spPr>
          <a:xfrm>
            <a:off x="6451092" y="3221431"/>
            <a:ext cx="77724" cy="77724"/>
          </a:xfrm>
          <a:prstGeom prst="rect">
            <a:avLst/>
          </a:prstGeom>
          <a:solidFill>
            <a:srgbClr val="0C234B">
              <a:alpha val="4510"/>
            </a:srgbClr>
          </a:solidFill>
          <a:ln w="3175">
            <a:solidFill>
              <a:srgbClr val="FFFFFF"/>
            </a:solidFill>
          </a:ln>
        </p:spPr>
      </p:sp>
      <p:sp>
        <p:nvSpPr>
          <p:cNvPr id="145" name="Logit 145"/>
          <p:cNvSpPr/>
          <p:nvPr/>
        </p:nvSpPr>
        <p:spPr>
          <a:xfrm>
            <a:off x="5102352" y="3221431"/>
            <a:ext cx="77724" cy="77724"/>
          </a:xfrm>
          <a:prstGeom prst="rect">
            <a:avLst/>
          </a:prstGeom>
          <a:solidFill>
            <a:srgbClr val="595959">
              <a:alpha val="23631"/>
            </a:srgbClr>
          </a:solidFill>
          <a:ln w="3175">
            <a:solidFill>
              <a:srgbClr val="FFFFFF"/>
            </a:solidFill>
          </a:ln>
        </p:spPr>
      </p:sp>
      <p:sp>
        <p:nvSpPr>
          <p:cNvPr id="146" name="Prob 146"/>
          <p:cNvSpPr/>
          <p:nvPr/>
        </p:nvSpPr>
        <p:spPr>
          <a:xfrm>
            <a:off x="6528816" y="3221431"/>
            <a:ext cx="77724" cy="77724"/>
          </a:xfrm>
          <a:prstGeom prst="rect">
            <a:avLst/>
          </a:prstGeom>
          <a:solidFill>
            <a:srgbClr val="0C234B">
              <a:alpha val="8559"/>
            </a:srgbClr>
          </a:solidFill>
          <a:ln w="3175">
            <a:solidFill>
              <a:srgbClr val="FFFFFF"/>
            </a:solidFill>
          </a:ln>
        </p:spPr>
      </p:sp>
      <p:sp>
        <p:nvSpPr>
          <p:cNvPr id="147" name="Logit 147"/>
          <p:cNvSpPr/>
          <p:nvPr/>
        </p:nvSpPr>
        <p:spPr>
          <a:xfrm>
            <a:off x="5180076" y="3221431"/>
            <a:ext cx="77724" cy="77724"/>
          </a:xfrm>
          <a:prstGeom prst="rect">
            <a:avLst/>
          </a:prstGeom>
          <a:solidFill>
            <a:srgbClr val="595959">
              <a:alpha val="69167"/>
            </a:srgbClr>
          </a:solidFill>
          <a:ln w="3175">
            <a:solidFill>
              <a:srgbClr val="FFFFFF"/>
            </a:solidFill>
          </a:ln>
        </p:spPr>
      </p:sp>
      <p:sp>
        <p:nvSpPr>
          <p:cNvPr id="148" name="Prob 148"/>
          <p:cNvSpPr/>
          <p:nvPr/>
        </p:nvSpPr>
        <p:spPr>
          <a:xfrm>
            <a:off x="6606540" y="3221431"/>
            <a:ext cx="77724" cy="77724"/>
          </a:xfrm>
          <a:prstGeom prst="rect">
            <a:avLst/>
          </a:prstGeom>
          <a:solidFill>
            <a:srgbClr val="0C234B">
              <a:alpha val="7905"/>
            </a:srgbClr>
          </a:solidFill>
          <a:ln w="3175">
            <a:solidFill>
              <a:srgbClr val="FFFFFF"/>
            </a:solidFill>
          </a:ln>
        </p:spPr>
      </p:sp>
      <p:sp>
        <p:nvSpPr>
          <p:cNvPr id="149" name="Logit 149"/>
          <p:cNvSpPr/>
          <p:nvPr/>
        </p:nvSpPr>
        <p:spPr>
          <a:xfrm>
            <a:off x="5257800" y="3221431"/>
            <a:ext cx="77724" cy="77724"/>
          </a:xfrm>
          <a:prstGeom prst="rect">
            <a:avLst/>
          </a:prstGeom>
          <a:solidFill>
            <a:srgbClr val="595959">
              <a:alpha val="40549"/>
            </a:srgbClr>
          </a:solidFill>
          <a:ln w="3175">
            <a:solidFill>
              <a:srgbClr val="FFFFFF"/>
            </a:solidFill>
          </a:ln>
        </p:spPr>
      </p:sp>
      <p:sp>
        <p:nvSpPr>
          <p:cNvPr id="150" name="Prob 150"/>
          <p:cNvSpPr/>
          <p:nvPr/>
        </p:nvSpPr>
        <p:spPr>
          <a:xfrm>
            <a:off x="6684264" y="3221431"/>
            <a:ext cx="77724" cy="77724"/>
          </a:xfrm>
          <a:prstGeom prst="rect">
            <a:avLst/>
          </a:prstGeom>
          <a:solidFill>
            <a:srgbClr val="0C234B">
              <a:alpha val="4235"/>
            </a:srgbClr>
          </a:solidFill>
          <a:ln w="3175">
            <a:solidFill>
              <a:srgbClr val="FFFFFF"/>
            </a:solidFill>
          </a:ln>
        </p:spPr>
      </p:sp>
      <p:sp>
        <p:nvSpPr>
          <p:cNvPr id="151" name="Logit 151"/>
          <p:cNvSpPr/>
          <p:nvPr/>
        </p:nvSpPr>
        <p:spPr>
          <a:xfrm>
            <a:off x="5335524" y="3221431"/>
            <a:ext cx="77724" cy="77724"/>
          </a:xfrm>
          <a:prstGeom prst="rect">
            <a:avLst/>
          </a:prstGeom>
          <a:solidFill>
            <a:srgbClr val="595959">
              <a:alpha val="73723"/>
            </a:srgbClr>
          </a:solidFill>
          <a:ln w="3175">
            <a:solidFill>
              <a:srgbClr val="FFFFFF"/>
            </a:solidFill>
          </a:ln>
        </p:spPr>
      </p:sp>
      <p:sp>
        <p:nvSpPr>
          <p:cNvPr id="152" name="Prob 152"/>
          <p:cNvSpPr/>
          <p:nvPr/>
        </p:nvSpPr>
        <p:spPr>
          <a:xfrm>
            <a:off x="6761988" y="3221431"/>
            <a:ext cx="77724" cy="77724"/>
          </a:xfrm>
          <a:prstGeom prst="rect">
            <a:avLst/>
          </a:prstGeom>
          <a:solidFill>
            <a:srgbClr val="0C234B">
              <a:alpha val="9531"/>
            </a:srgbClr>
          </a:solidFill>
          <a:ln w="3175">
            <a:solidFill>
              <a:srgbClr val="FFFFFF"/>
            </a:solidFill>
          </a:ln>
        </p:spPr>
      </p:sp>
      <p:sp>
        <p:nvSpPr>
          <p:cNvPr id="153" name="Logit 153"/>
          <p:cNvSpPr/>
          <p:nvPr/>
        </p:nvSpPr>
        <p:spPr>
          <a:xfrm>
            <a:off x="5413248" y="3221431"/>
            <a:ext cx="77724" cy="77724"/>
          </a:xfrm>
          <a:prstGeom prst="rect">
            <a:avLst/>
          </a:prstGeom>
          <a:solidFill>
            <a:srgbClr val="595959">
              <a:alpha val="59936"/>
            </a:srgbClr>
          </a:solidFill>
          <a:ln w="3175">
            <a:solidFill>
              <a:srgbClr val="FFFFFF"/>
            </a:solidFill>
          </a:ln>
        </p:spPr>
      </p:sp>
      <p:sp>
        <p:nvSpPr>
          <p:cNvPr id="154" name="Prob 154"/>
          <p:cNvSpPr/>
          <p:nvPr/>
        </p:nvSpPr>
        <p:spPr>
          <a:xfrm>
            <a:off x="6839712" y="3221431"/>
            <a:ext cx="77724" cy="77724"/>
          </a:xfrm>
          <a:prstGeom prst="rect">
            <a:avLst/>
          </a:prstGeom>
          <a:solidFill>
            <a:srgbClr val="0C234B">
              <a:alpha val="73120"/>
            </a:srgbClr>
          </a:solidFill>
          <a:ln w="3175">
            <a:solidFill>
              <a:srgbClr val="FFFFFF"/>
            </a:solidFill>
          </a:ln>
        </p:spPr>
      </p:sp>
      <p:sp>
        <p:nvSpPr>
          <p:cNvPr id="155" name="Logit 155"/>
          <p:cNvSpPr/>
          <p:nvPr/>
        </p:nvSpPr>
        <p:spPr>
          <a:xfrm>
            <a:off x="5490972" y="3221431"/>
            <a:ext cx="77724" cy="77724"/>
          </a:xfrm>
          <a:prstGeom prst="rect">
            <a:avLst/>
          </a:prstGeom>
          <a:solidFill>
            <a:srgbClr val="595959">
              <a:alpha val="50914"/>
            </a:srgbClr>
          </a:solidFill>
          <a:ln w="3175">
            <a:solidFill>
              <a:srgbClr val="FFFFFF"/>
            </a:solidFill>
          </a:ln>
        </p:spPr>
      </p:sp>
      <p:sp>
        <p:nvSpPr>
          <p:cNvPr id="156" name="Prob 156"/>
          <p:cNvSpPr/>
          <p:nvPr/>
        </p:nvSpPr>
        <p:spPr>
          <a:xfrm>
            <a:off x="6917436" y="3221431"/>
            <a:ext cx="77724" cy="77724"/>
          </a:xfrm>
          <a:prstGeom prst="rect">
            <a:avLst/>
          </a:prstGeom>
          <a:solidFill>
            <a:srgbClr val="0C234B">
              <a:alpha val="9433"/>
            </a:srgbClr>
          </a:solidFill>
          <a:ln w="3175">
            <a:solidFill>
              <a:srgbClr val="FFFFFF"/>
            </a:solidFill>
          </a:ln>
        </p:spPr>
      </p:sp>
      <p:sp>
        <p:nvSpPr>
          <p:cNvPr id="157" name="Logit 157"/>
          <p:cNvSpPr/>
          <p:nvPr/>
        </p:nvSpPr>
        <p:spPr>
          <a:xfrm>
            <a:off x="4791456" y="3299155"/>
            <a:ext cx="77724" cy="77724"/>
          </a:xfrm>
          <a:prstGeom prst="rect">
            <a:avLst/>
          </a:prstGeom>
          <a:solidFill>
            <a:srgbClr val="595959">
              <a:alpha val="60603"/>
            </a:srgbClr>
          </a:solidFill>
          <a:ln w="3175">
            <a:solidFill>
              <a:srgbClr val="FFFFFF"/>
            </a:solidFill>
          </a:ln>
        </p:spPr>
      </p:sp>
      <p:sp>
        <p:nvSpPr>
          <p:cNvPr id="158" name="Prob 158"/>
          <p:cNvSpPr/>
          <p:nvPr/>
        </p:nvSpPr>
        <p:spPr>
          <a:xfrm>
            <a:off x="6217920" y="3299155"/>
            <a:ext cx="77724" cy="77724"/>
          </a:xfrm>
          <a:prstGeom prst="rect">
            <a:avLst/>
          </a:prstGeom>
          <a:solidFill>
            <a:srgbClr val="0C234B">
              <a:alpha val="9037"/>
            </a:srgbClr>
          </a:solidFill>
          <a:ln w="3175">
            <a:solidFill>
              <a:srgbClr val="FFFFFF"/>
            </a:solidFill>
          </a:ln>
        </p:spPr>
      </p:sp>
      <p:sp>
        <p:nvSpPr>
          <p:cNvPr id="159" name="Logit 159"/>
          <p:cNvSpPr/>
          <p:nvPr/>
        </p:nvSpPr>
        <p:spPr>
          <a:xfrm>
            <a:off x="4869180" y="3299155"/>
            <a:ext cx="77724" cy="77724"/>
          </a:xfrm>
          <a:prstGeom prst="rect">
            <a:avLst/>
          </a:prstGeom>
          <a:solidFill>
            <a:srgbClr val="595959">
              <a:alpha val="27535"/>
            </a:srgbClr>
          </a:solidFill>
          <a:ln w="3175">
            <a:solidFill>
              <a:srgbClr val="FFFFFF"/>
            </a:solidFill>
          </a:ln>
        </p:spPr>
      </p:sp>
      <p:sp>
        <p:nvSpPr>
          <p:cNvPr id="160" name="Prob 160"/>
          <p:cNvSpPr/>
          <p:nvPr/>
        </p:nvSpPr>
        <p:spPr>
          <a:xfrm>
            <a:off x="6295644" y="3299155"/>
            <a:ext cx="77724" cy="77724"/>
          </a:xfrm>
          <a:prstGeom prst="rect">
            <a:avLst/>
          </a:prstGeom>
          <a:solidFill>
            <a:srgbClr val="0C234B">
              <a:alpha val="8742"/>
            </a:srgbClr>
          </a:solidFill>
          <a:ln w="3175">
            <a:solidFill>
              <a:srgbClr val="FFFFFF"/>
            </a:solidFill>
          </a:ln>
        </p:spPr>
      </p:sp>
      <p:sp>
        <p:nvSpPr>
          <p:cNvPr id="161" name="Logit 161"/>
          <p:cNvSpPr/>
          <p:nvPr/>
        </p:nvSpPr>
        <p:spPr>
          <a:xfrm>
            <a:off x="4946904" y="3299155"/>
            <a:ext cx="77724" cy="77724"/>
          </a:xfrm>
          <a:prstGeom prst="rect">
            <a:avLst/>
          </a:prstGeom>
          <a:solidFill>
            <a:srgbClr val="595959">
              <a:alpha val="15664"/>
            </a:srgbClr>
          </a:solidFill>
          <a:ln w="3175">
            <a:solidFill>
              <a:srgbClr val="FFFFFF"/>
            </a:solidFill>
          </a:ln>
        </p:spPr>
      </p:sp>
      <p:sp>
        <p:nvSpPr>
          <p:cNvPr id="162" name="Prob 162"/>
          <p:cNvSpPr/>
          <p:nvPr/>
        </p:nvSpPr>
        <p:spPr>
          <a:xfrm>
            <a:off x="6373368" y="3299155"/>
            <a:ext cx="77724" cy="77724"/>
          </a:xfrm>
          <a:prstGeom prst="rect">
            <a:avLst/>
          </a:prstGeom>
          <a:solidFill>
            <a:srgbClr val="0C234B">
              <a:alpha val="5213"/>
            </a:srgbClr>
          </a:solidFill>
          <a:ln w="3175">
            <a:solidFill>
              <a:srgbClr val="FFFFFF"/>
            </a:solidFill>
          </a:ln>
        </p:spPr>
      </p:sp>
      <p:sp>
        <p:nvSpPr>
          <p:cNvPr id="163" name="Logit 163"/>
          <p:cNvSpPr/>
          <p:nvPr/>
        </p:nvSpPr>
        <p:spPr>
          <a:xfrm>
            <a:off x="5024628" y="3299155"/>
            <a:ext cx="77724" cy="77724"/>
          </a:xfrm>
          <a:prstGeom prst="rect">
            <a:avLst/>
          </a:prstGeom>
          <a:solidFill>
            <a:srgbClr val="595959">
              <a:alpha val="31618"/>
            </a:srgbClr>
          </a:solidFill>
          <a:ln w="3175">
            <a:solidFill>
              <a:srgbClr val="FFFFFF"/>
            </a:solidFill>
          </a:ln>
        </p:spPr>
      </p:sp>
      <p:sp>
        <p:nvSpPr>
          <p:cNvPr id="164" name="Prob 164"/>
          <p:cNvSpPr/>
          <p:nvPr/>
        </p:nvSpPr>
        <p:spPr>
          <a:xfrm>
            <a:off x="6451092" y="3299155"/>
            <a:ext cx="77724" cy="77724"/>
          </a:xfrm>
          <a:prstGeom prst="rect">
            <a:avLst/>
          </a:prstGeom>
          <a:solidFill>
            <a:srgbClr val="0C234B">
              <a:alpha val="4115"/>
            </a:srgbClr>
          </a:solidFill>
          <a:ln w="3175">
            <a:solidFill>
              <a:srgbClr val="FFFFFF"/>
            </a:solidFill>
          </a:ln>
        </p:spPr>
      </p:sp>
      <p:sp>
        <p:nvSpPr>
          <p:cNvPr id="165" name="Logit 165"/>
          <p:cNvSpPr/>
          <p:nvPr/>
        </p:nvSpPr>
        <p:spPr>
          <a:xfrm>
            <a:off x="5102352" y="3299155"/>
            <a:ext cx="77724" cy="77724"/>
          </a:xfrm>
          <a:prstGeom prst="rect">
            <a:avLst/>
          </a:prstGeom>
          <a:solidFill>
            <a:srgbClr val="595959">
              <a:alpha val="72664"/>
            </a:srgbClr>
          </a:solidFill>
          <a:ln w="3175">
            <a:solidFill>
              <a:srgbClr val="FFFFFF"/>
            </a:solidFill>
          </a:ln>
        </p:spPr>
      </p:sp>
      <p:sp>
        <p:nvSpPr>
          <p:cNvPr id="166" name="Prob 166"/>
          <p:cNvSpPr/>
          <p:nvPr/>
        </p:nvSpPr>
        <p:spPr>
          <a:xfrm>
            <a:off x="6528816" y="3299155"/>
            <a:ext cx="77724" cy="77724"/>
          </a:xfrm>
          <a:prstGeom prst="rect">
            <a:avLst/>
          </a:prstGeom>
          <a:solidFill>
            <a:srgbClr val="0C234B">
              <a:alpha val="8070"/>
            </a:srgbClr>
          </a:solidFill>
          <a:ln w="3175">
            <a:solidFill>
              <a:srgbClr val="FFFFFF"/>
            </a:solidFill>
          </a:ln>
        </p:spPr>
      </p:sp>
      <p:sp>
        <p:nvSpPr>
          <p:cNvPr id="167" name="Logit 167"/>
          <p:cNvSpPr/>
          <p:nvPr/>
        </p:nvSpPr>
        <p:spPr>
          <a:xfrm>
            <a:off x="5180076" y="3299155"/>
            <a:ext cx="77724" cy="77724"/>
          </a:xfrm>
          <a:prstGeom prst="rect">
            <a:avLst/>
          </a:prstGeom>
          <a:solidFill>
            <a:srgbClr val="595959">
              <a:alpha val="59272"/>
            </a:srgbClr>
          </a:solidFill>
          <a:ln w="3175">
            <a:solidFill>
              <a:srgbClr val="FFFFFF"/>
            </a:solidFill>
          </a:ln>
        </p:spPr>
      </p:sp>
      <p:sp>
        <p:nvSpPr>
          <p:cNvPr id="168" name="Prob 168"/>
          <p:cNvSpPr/>
          <p:nvPr/>
        </p:nvSpPr>
        <p:spPr>
          <a:xfrm>
            <a:off x="6606540" y="3299155"/>
            <a:ext cx="77724" cy="77724"/>
          </a:xfrm>
          <a:prstGeom prst="rect">
            <a:avLst/>
          </a:prstGeom>
          <a:solidFill>
            <a:srgbClr val="0C234B">
              <a:alpha val="4458"/>
            </a:srgbClr>
          </a:solidFill>
          <a:ln w="3175">
            <a:solidFill>
              <a:srgbClr val="FFFFFF"/>
            </a:solidFill>
          </a:ln>
        </p:spPr>
      </p:sp>
      <p:sp>
        <p:nvSpPr>
          <p:cNvPr id="169" name="Logit 169"/>
          <p:cNvSpPr/>
          <p:nvPr/>
        </p:nvSpPr>
        <p:spPr>
          <a:xfrm>
            <a:off x="5257800" y="3299155"/>
            <a:ext cx="77724" cy="77724"/>
          </a:xfrm>
          <a:prstGeom prst="rect">
            <a:avLst/>
          </a:prstGeom>
          <a:solidFill>
            <a:srgbClr val="595959">
              <a:alpha val="17669"/>
            </a:srgbClr>
          </a:solidFill>
          <a:ln w="3175">
            <a:solidFill>
              <a:srgbClr val="FFFFFF"/>
            </a:solidFill>
          </a:ln>
        </p:spPr>
      </p:sp>
      <p:sp>
        <p:nvSpPr>
          <p:cNvPr id="170" name="Prob 170"/>
          <p:cNvSpPr/>
          <p:nvPr/>
        </p:nvSpPr>
        <p:spPr>
          <a:xfrm>
            <a:off x="6684264" y="3299155"/>
            <a:ext cx="77724" cy="77724"/>
          </a:xfrm>
          <a:prstGeom prst="rect">
            <a:avLst/>
          </a:prstGeom>
          <a:solidFill>
            <a:srgbClr val="0C234B">
              <a:alpha val="5465"/>
            </a:srgbClr>
          </a:solidFill>
          <a:ln w="3175">
            <a:solidFill>
              <a:srgbClr val="FFFFFF"/>
            </a:solidFill>
          </a:ln>
        </p:spPr>
      </p:sp>
      <p:sp>
        <p:nvSpPr>
          <p:cNvPr id="171" name="Logit 171"/>
          <p:cNvSpPr/>
          <p:nvPr/>
        </p:nvSpPr>
        <p:spPr>
          <a:xfrm>
            <a:off x="5335524" y="3299155"/>
            <a:ext cx="77724" cy="77724"/>
          </a:xfrm>
          <a:prstGeom prst="rect">
            <a:avLst/>
          </a:prstGeom>
          <a:solidFill>
            <a:srgbClr val="595959">
              <a:alpha val="26015"/>
            </a:srgbClr>
          </a:solidFill>
          <a:ln w="3175">
            <a:solidFill>
              <a:srgbClr val="FFFFFF"/>
            </a:solidFill>
          </a:ln>
        </p:spPr>
      </p:sp>
      <p:sp>
        <p:nvSpPr>
          <p:cNvPr id="172" name="Prob 172"/>
          <p:cNvSpPr/>
          <p:nvPr/>
        </p:nvSpPr>
        <p:spPr>
          <a:xfrm>
            <a:off x="6761988" y="3299155"/>
            <a:ext cx="77724" cy="77724"/>
          </a:xfrm>
          <a:prstGeom prst="rect">
            <a:avLst/>
          </a:prstGeom>
          <a:solidFill>
            <a:srgbClr val="0C234B">
              <a:alpha val="5863"/>
            </a:srgbClr>
          </a:solidFill>
          <a:ln w="3175">
            <a:solidFill>
              <a:srgbClr val="FFFFFF"/>
            </a:solidFill>
          </a:ln>
        </p:spPr>
      </p:sp>
      <p:sp>
        <p:nvSpPr>
          <p:cNvPr id="173" name="Logit 173"/>
          <p:cNvSpPr/>
          <p:nvPr/>
        </p:nvSpPr>
        <p:spPr>
          <a:xfrm>
            <a:off x="5413248" y="3299155"/>
            <a:ext cx="77724" cy="77724"/>
          </a:xfrm>
          <a:prstGeom prst="rect">
            <a:avLst/>
          </a:prstGeom>
          <a:solidFill>
            <a:srgbClr val="595959">
              <a:alpha val="59723"/>
            </a:srgbClr>
          </a:solidFill>
          <a:ln w="3175">
            <a:solidFill>
              <a:srgbClr val="FFFFFF"/>
            </a:solidFill>
          </a:ln>
        </p:spPr>
      </p:sp>
      <p:sp>
        <p:nvSpPr>
          <p:cNvPr id="174" name="Prob 174"/>
          <p:cNvSpPr/>
          <p:nvPr/>
        </p:nvSpPr>
        <p:spPr>
          <a:xfrm>
            <a:off x="6839712" y="3299155"/>
            <a:ext cx="77724" cy="77724"/>
          </a:xfrm>
          <a:prstGeom prst="rect">
            <a:avLst/>
          </a:prstGeom>
          <a:solidFill>
            <a:srgbClr val="0C234B">
              <a:alpha val="80800"/>
            </a:srgbClr>
          </a:solidFill>
          <a:ln w="3175">
            <a:solidFill>
              <a:srgbClr val="FFFFFF"/>
            </a:solidFill>
          </a:ln>
        </p:spPr>
      </p:sp>
      <p:sp>
        <p:nvSpPr>
          <p:cNvPr id="175" name="Logit 175"/>
          <p:cNvSpPr/>
          <p:nvPr/>
        </p:nvSpPr>
        <p:spPr>
          <a:xfrm>
            <a:off x="5490972" y="3299155"/>
            <a:ext cx="77724" cy="77724"/>
          </a:xfrm>
          <a:prstGeom prst="rect">
            <a:avLst/>
          </a:prstGeom>
          <a:solidFill>
            <a:srgbClr val="595959">
              <a:alpha val="61806"/>
            </a:srgbClr>
          </a:solidFill>
          <a:ln w="3175">
            <a:solidFill>
              <a:srgbClr val="FFFFFF"/>
            </a:solidFill>
          </a:ln>
        </p:spPr>
      </p:sp>
      <p:sp>
        <p:nvSpPr>
          <p:cNvPr id="176" name="Prob 176"/>
          <p:cNvSpPr/>
          <p:nvPr/>
        </p:nvSpPr>
        <p:spPr>
          <a:xfrm>
            <a:off x="6917436" y="3299155"/>
            <a:ext cx="77724" cy="77724"/>
          </a:xfrm>
          <a:prstGeom prst="rect">
            <a:avLst/>
          </a:prstGeom>
          <a:solidFill>
            <a:srgbClr val="0C234B">
              <a:alpha val="4231"/>
            </a:srgbClr>
          </a:solidFill>
          <a:ln w="3175">
            <a:solidFill>
              <a:srgbClr val="FFFFFF"/>
            </a:solidFill>
          </a:ln>
        </p:spPr>
      </p:sp>
      <p:sp>
        <p:nvSpPr>
          <p:cNvPr id="177" name="Logit 177"/>
          <p:cNvSpPr/>
          <p:nvPr/>
        </p:nvSpPr>
        <p:spPr>
          <a:xfrm>
            <a:off x="4791456" y="3376879"/>
            <a:ext cx="77724" cy="77724"/>
          </a:xfrm>
          <a:prstGeom prst="rect">
            <a:avLst/>
          </a:prstGeom>
          <a:solidFill>
            <a:srgbClr val="595959">
              <a:alpha val="21549"/>
            </a:srgbClr>
          </a:solidFill>
          <a:ln w="3175">
            <a:solidFill>
              <a:srgbClr val="FFFFFF"/>
            </a:solidFill>
          </a:ln>
        </p:spPr>
      </p:sp>
      <p:sp>
        <p:nvSpPr>
          <p:cNvPr id="178" name="Prob 178"/>
          <p:cNvSpPr/>
          <p:nvPr/>
        </p:nvSpPr>
        <p:spPr>
          <a:xfrm>
            <a:off x="6217920" y="3376879"/>
            <a:ext cx="77724" cy="77724"/>
          </a:xfrm>
          <a:prstGeom prst="rect">
            <a:avLst/>
          </a:prstGeom>
          <a:solidFill>
            <a:srgbClr val="0C234B">
              <a:alpha val="4556"/>
            </a:srgbClr>
          </a:solidFill>
          <a:ln w="3175">
            <a:solidFill>
              <a:srgbClr val="FFFFFF"/>
            </a:solidFill>
          </a:ln>
        </p:spPr>
      </p:sp>
      <p:sp>
        <p:nvSpPr>
          <p:cNvPr id="179" name="Logit 179"/>
          <p:cNvSpPr/>
          <p:nvPr/>
        </p:nvSpPr>
        <p:spPr>
          <a:xfrm>
            <a:off x="4869180" y="3376879"/>
            <a:ext cx="77724" cy="77724"/>
          </a:xfrm>
          <a:prstGeom prst="rect">
            <a:avLst/>
          </a:prstGeom>
          <a:solidFill>
            <a:srgbClr val="595959">
              <a:alpha val="46354"/>
            </a:srgbClr>
          </a:solidFill>
          <a:ln w="3175">
            <a:solidFill>
              <a:srgbClr val="FFFFFF"/>
            </a:solidFill>
          </a:ln>
        </p:spPr>
      </p:sp>
      <p:sp>
        <p:nvSpPr>
          <p:cNvPr id="180" name="Prob 180"/>
          <p:cNvSpPr/>
          <p:nvPr/>
        </p:nvSpPr>
        <p:spPr>
          <a:xfrm>
            <a:off x="6295644" y="3376879"/>
            <a:ext cx="77724" cy="77724"/>
          </a:xfrm>
          <a:prstGeom prst="rect">
            <a:avLst/>
          </a:prstGeom>
          <a:solidFill>
            <a:srgbClr val="0C234B">
              <a:alpha val="4528"/>
            </a:srgbClr>
          </a:solidFill>
          <a:ln w="3175">
            <a:solidFill>
              <a:srgbClr val="FFFFFF"/>
            </a:solidFill>
          </a:ln>
        </p:spPr>
      </p:sp>
      <p:sp>
        <p:nvSpPr>
          <p:cNvPr id="181" name="Logit 181"/>
          <p:cNvSpPr/>
          <p:nvPr/>
        </p:nvSpPr>
        <p:spPr>
          <a:xfrm>
            <a:off x="4946904" y="3376879"/>
            <a:ext cx="77724" cy="77724"/>
          </a:xfrm>
          <a:prstGeom prst="rect">
            <a:avLst/>
          </a:prstGeom>
          <a:solidFill>
            <a:srgbClr val="595959">
              <a:alpha val="39082"/>
            </a:srgbClr>
          </a:solidFill>
          <a:ln w="3175">
            <a:solidFill>
              <a:srgbClr val="FFFFFF"/>
            </a:solidFill>
          </a:ln>
        </p:spPr>
      </p:sp>
      <p:sp>
        <p:nvSpPr>
          <p:cNvPr id="182" name="Prob 182"/>
          <p:cNvSpPr/>
          <p:nvPr/>
        </p:nvSpPr>
        <p:spPr>
          <a:xfrm>
            <a:off x="6373368" y="3376879"/>
            <a:ext cx="77724" cy="77724"/>
          </a:xfrm>
          <a:prstGeom prst="rect">
            <a:avLst/>
          </a:prstGeom>
          <a:solidFill>
            <a:srgbClr val="0C234B">
              <a:alpha val="5010"/>
            </a:srgbClr>
          </a:solidFill>
          <a:ln w="3175">
            <a:solidFill>
              <a:srgbClr val="FFFFFF"/>
            </a:solidFill>
          </a:ln>
        </p:spPr>
      </p:sp>
      <p:sp>
        <p:nvSpPr>
          <p:cNvPr id="183" name="Logit 183"/>
          <p:cNvSpPr/>
          <p:nvPr/>
        </p:nvSpPr>
        <p:spPr>
          <a:xfrm>
            <a:off x="5024628" y="3376879"/>
            <a:ext cx="77724" cy="77724"/>
          </a:xfrm>
          <a:prstGeom prst="rect">
            <a:avLst/>
          </a:prstGeom>
          <a:solidFill>
            <a:srgbClr val="595959">
              <a:alpha val="22394"/>
            </a:srgbClr>
          </a:solidFill>
          <a:ln w="3175">
            <a:solidFill>
              <a:srgbClr val="FFFFFF"/>
            </a:solidFill>
          </a:ln>
        </p:spPr>
      </p:sp>
      <p:sp>
        <p:nvSpPr>
          <p:cNvPr id="184" name="Prob 184"/>
          <p:cNvSpPr/>
          <p:nvPr/>
        </p:nvSpPr>
        <p:spPr>
          <a:xfrm>
            <a:off x="6451092" y="3376879"/>
            <a:ext cx="77724" cy="77724"/>
          </a:xfrm>
          <a:prstGeom prst="rect">
            <a:avLst/>
          </a:prstGeom>
          <a:solidFill>
            <a:srgbClr val="0C234B">
              <a:alpha val="4622"/>
            </a:srgbClr>
          </a:solidFill>
          <a:ln w="3175">
            <a:solidFill>
              <a:srgbClr val="FFFFFF"/>
            </a:solidFill>
          </a:ln>
        </p:spPr>
      </p:sp>
      <p:sp>
        <p:nvSpPr>
          <p:cNvPr id="185" name="Logit 185"/>
          <p:cNvSpPr/>
          <p:nvPr/>
        </p:nvSpPr>
        <p:spPr>
          <a:xfrm>
            <a:off x="5102352" y="3376879"/>
            <a:ext cx="77724" cy="77724"/>
          </a:xfrm>
          <a:prstGeom prst="rect">
            <a:avLst/>
          </a:prstGeom>
          <a:solidFill>
            <a:srgbClr val="595959">
              <a:alpha val="57573"/>
            </a:srgbClr>
          </a:solidFill>
          <a:ln w="3175">
            <a:solidFill>
              <a:srgbClr val="FFFFFF"/>
            </a:solidFill>
          </a:ln>
        </p:spPr>
      </p:sp>
      <p:sp>
        <p:nvSpPr>
          <p:cNvPr id="186" name="Prob 186"/>
          <p:cNvSpPr/>
          <p:nvPr/>
        </p:nvSpPr>
        <p:spPr>
          <a:xfrm>
            <a:off x="6528816" y="3376879"/>
            <a:ext cx="77724" cy="77724"/>
          </a:xfrm>
          <a:prstGeom prst="rect">
            <a:avLst/>
          </a:prstGeom>
          <a:solidFill>
            <a:srgbClr val="0C234B">
              <a:alpha val="4767"/>
            </a:srgbClr>
          </a:solidFill>
          <a:ln w="3175">
            <a:solidFill>
              <a:srgbClr val="FFFFFF"/>
            </a:solidFill>
          </a:ln>
        </p:spPr>
      </p:sp>
      <p:sp>
        <p:nvSpPr>
          <p:cNvPr id="187" name="Logit 187"/>
          <p:cNvSpPr/>
          <p:nvPr/>
        </p:nvSpPr>
        <p:spPr>
          <a:xfrm>
            <a:off x="5180076" y="3376879"/>
            <a:ext cx="77724" cy="77724"/>
          </a:xfrm>
          <a:prstGeom prst="rect">
            <a:avLst/>
          </a:prstGeom>
          <a:solidFill>
            <a:srgbClr val="595959">
              <a:alpha val="18512"/>
            </a:srgbClr>
          </a:solidFill>
          <a:ln w="3175">
            <a:solidFill>
              <a:srgbClr val="FFFFFF"/>
            </a:solidFill>
          </a:ln>
        </p:spPr>
      </p:sp>
      <p:sp>
        <p:nvSpPr>
          <p:cNvPr id="188" name="Prob 188"/>
          <p:cNvSpPr/>
          <p:nvPr/>
        </p:nvSpPr>
        <p:spPr>
          <a:xfrm>
            <a:off x="6606540" y="3376879"/>
            <a:ext cx="77724" cy="77724"/>
          </a:xfrm>
          <a:prstGeom prst="rect">
            <a:avLst/>
          </a:prstGeom>
          <a:solidFill>
            <a:srgbClr val="0C234B">
              <a:alpha val="4599"/>
            </a:srgbClr>
          </a:solidFill>
          <a:ln w="3175">
            <a:solidFill>
              <a:srgbClr val="FFFFFF"/>
            </a:solidFill>
          </a:ln>
        </p:spPr>
      </p:sp>
      <p:sp>
        <p:nvSpPr>
          <p:cNvPr id="189" name="Logit 189"/>
          <p:cNvSpPr/>
          <p:nvPr/>
        </p:nvSpPr>
        <p:spPr>
          <a:xfrm>
            <a:off x="5257800" y="3376879"/>
            <a:ext cx="77724" cy="77724"/>
          </a:xfrm>
          <a:prstGeom prst="rect">
            <a:avLst/>
          </a:prstGeom>
          <a:solidFill>
            <a:srgbClr val="595959">
              <a:alpha val="51841"/>
            </a:srgbClr>
          </a:solidFill>
          <a:ln w="3175">
            <a:solidFill>
              <a:srgbClr val="FFFFFF"/>
            </a:solidFill>
          </a:ln>
        </p:spPr>
      </p:sp>
      <p:sp>
        <p:nvSpPr>
          <p:cNvPr id="190" name="Prob 190"/>
          <p:cNvSpPr/>
          <p:nvPr/>
        </p:nvSpPr>
        <p:spPr>
          <a:xfrm>
            <a:off x="6684264" y="3376879"/>
            <a:ext cx="77724" cy="77724"/>
          </a:xfrm>
          <a:prstGeom prst="rect">
            <a:avLst/>
          </a:prstGeom>
          <a:solidFill>
            <a:srgbClr val="0C234B">
              <a:alpha val="4794"/>
            </a:srgbClr>
          </a:solidFill>
          <a:ln w="3175">
            <a:solidFill>
              <a:srgbClr val="FFFFFF"/>
            </a:solidFill>
          </a:ln>
        </p:spPr>
      </p:sp>
      <p:sp>
        <p:nvSpPr>
          <p:cNvPr id="191" name="Logit 191"/>
          <p:cNvSpPr/>
          <p:nvPr/>
        </p:nvSpPr>
        <p:spPr>
          <a:xfrm>
            <a:off x="5335524" y="3376879"/>
            <a:ext cx="77724" cy="77724"/>
          </a:xfrm>
          <a:prstGeom prst="rect">
            <a:avLst/>
          </a:prstGeom>
          <a:solidFill>
            <a:srgbClr val="595959">
              <a:alpha val="17573"/>
            </a:srgbClr>
          </a:solidFill>
          <a:ln w="3175">
            <a:solidFill>
              <a:srgbClr val="FFFFFF"/>
            </a:solidFill>
          </a:ln>
        </p:spPr>
      </p:sp>
      <p:sp>
        <p:nvSpPr>
          <p:cNvPr id="192" name="Prob 192"/>
          <p:cNvSpPr/>
          <p:nvPr/>
        </p:nvSpPr>
        <p:spPr>
          <a:xfrm>
            <a:off x="6761988" y="3376879"/>
            <a:ext cx="77724" cy="77724"/>
          </a:xfrm>
          <a:prstGeom prst="rect">
            <a:avLst/>
          </a:prstGeom>
          <a:solidFill>
            <a:srgbClr val="0C234B">
              <a:alpha val="4548"/>
            </a:srgbClr>
          </a:solidFill>
          <a:ln w="3175">
            <a:solidFill>
              <a:srgbClr val="FFFFFF"/>
            </a:solidFill>
          </a:ln>
        </p:spPr>
      </p:sp>
      <p:sp>
        <p:nvSpPr>
          <p:cNvPr id="193" name="Logit 193"/>
          <p:cNvSpPr/>
          <p:nvPr/>
        </p:nvSpPr>
        <p:spPr>
          <a:xfrm>
            <a:off x="5413248" y="3376879"/>
            <a:ext cx="77724" cy="77724"/>
          </a:xfrm>
          <a:prstGeom prst="rect">
            <a:avLst/>
          </a:prstGeom>
          <a:solidFill>
            <a:srgbClr val="595959">
              <a:alpha val="37349"/>
            </a:srgbClr>
          </a:solidFill>
          <a:ln w="3175">
            <a:solidFill>
              <a:srgbClr val="FFFFFF"/>
            </a:solidFill>
          </a:ln>
        </p:spPr>
      </p:sp>
      <p:sp>
        <p:nvSpPr>
          <p:cNvPr id="194" name="Prob 194"/>
          <p:cNvSpPr/>
          <p:nvPr/>
        </p:nvSpPr>
        <p:spPr>
          <a:xfrm>
            <a:off x="6839712" y="3376879"/>
            <a:ext cx="77724" cy="77724"/>
          </a:xfrm>
          <a:prstGeom prst="rect">
            <a:avLst/>
          </a:prstGeom>
          <a:solidFill>
            <a:srgbClr val="0C234B">
              <a:alpha val="4333"/>
            </a:srgbClr>
          </a:solidFill>
          <a:ln w="3175">
            <a:solidFill>
              <a:srgbClr val="FFFFFF"/>
            </a:solidFill>
          </a:ln>
        </p:spPr>
      </p:sp>
      <p:sp>
        <p:nvSpPr>
          <p:cNvPr id="195" name="Logit 195"/>
          <p:cNvSpPr/>
          <p:nvPr/>
        </p:nvSpPr>
        <p:spPr>
          <a:xfrm>
            <a:off x="5490972" y="3376879"/>
            <a:ext cx="77724" cy="77724"/>
          </a:xfrm>
          <a:prstGeom prst="rect">
            <a:avLst/>
          </a:prstGeom>
          <a:solidFill>
            <a:srgbClr val="595959">
              <a:alpha val="63134"/>
            </a:srgbClr>
          </a:solidFill>
          <a:ln w="3175">
            <a:solidFill>
              <a:srgbClr val="FFFFFF"/>
            </a:solidFill>
          </a:ln>
        </p:spPr>
      </p:sp>
      <p:sp>
        <p:nvSpPr>
          <p:cNvPr id="196" name="Prob 196"/>
          <p:cNvSpPr/>
          <p:nvPr/>
        </p:nvSpPr>
        <p:spPr>
          <a:xfrm>
            <a:off x="6917436" y="3376879"/>
            <a:ext cx="77724" cy="77724"/>
          </a:xfrm>
          <a:prstGeom prst="rect">
            <a:avLst/>
          </a:prstGeom>
          <a:solidFill>
            <a:srgbClr val="0C234B">
              <a:alpha val="94240"/>
            </a:srgbClr>
          </a:solidFill>
          <a:ln w="3175">
            <a:solidFill>
              <a:srgbClr val="FFFFFF"/>
            </a:solidFill>
          </a:ln>
        </p:spPr>
      </p:sp>
      <p:sp>
        <p:nvSpPr>
          <p:cNvPr id="197" name="GridFrame 197"/>
          <p:cNvSpPr/>
          <p:nvPr/>
        </p:nvSpPr>
        <p:spPr>
          <a:xfrm>
            <a:off x="4791456" y="3143707"/>
            <a:ext cx="777240" cy="31089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98" name="ColKey 198"/>
          <p:cNvSpPr/>
          <p:nvPr/>
        </p:nvSpPr>
        <p:spPr>
          <a:xfrm>
            <a:off x="4791456" y="3033979"/>
            <a:ext cx="77724" cy="73152"/>
          </a:xfrm>
          <a:prstGeom prst="rect">
            <a:avLst/>
          </a:prstGeom>
          <a:solidFill>
            <a:srgbClr val="000000"/>
          </a:solidFill>
          <a:ln w="3175">
            <a:solidFill>
              <a:srgbClr val="FFFFFF"/>
            </a:solidFill>
          </a:ln>
        </p:spPr>
      </p:sp>
      <p:sp>
        <p:nvSpPr>
          <p:cNvPr id="199" name="ColKey 199"/>
          <p:cNvSpPr/>
          <p:nvPr/>
        </p:nvSpPr>
        <p:spPr>
          <a:xfrm>
            <a:off x="4869180" y="3033979"/>
            <a:ext cx="77724" cy="73152"/>
          </a:xfrm>
          <a:prstGeom prst="rect">
            <a:avLst/>
          </a:prstGeom>
          <a:solidFill>
            <a:srgbClr val="0074D9"/>
          </a:solidFill>
          <a:ln w="3175">
            <a:solidFill>
              <a:srgbClr val="FFFFFF"/>
            </a:solidFill>
          </a:ln>
        </p:spPr>
      </p:sp>
      <p:sp>
        <p:nvSpPr>
          <p:cNvPr id="200" name="ColKey 200"/>
          <p:cNvSpPr/>
          <p:nvPr/>
        </p:nvSpPr>
        <p:spPr>
          <a:xfrm>
            <a:off x="4946904" y="3033979"/>
            <a:ext cx="77724" cy="73152"/>
          </a:xfrm>
          <a:prstGeom prst="rect">
            <a:avLst/>
          </a:prstGeom>
          <a:solidFill>
            <a:srgbClr val="FF4136"/>
          </a:solidFill>
          <a:ln w="3175">
            <a:solidFill>
              <a:srgbClr val="FFFFFF"/>
            </a:solidFill>
          </a:ln>
        </p:spPr>
      </p:sp>
      <p:sp>
        <p:nvSpPr>
          <p:cNvPr id="201" name="ColKey 201"/>
          <p:cNvSpPr/>
          <p:nvPr/>
        </p:nvSpPr>
        <p:spPr>
          <a:xfrm>
            <a:off x="5024628" y="3033979"/>
            <a:ext cx="77724" cy="73152"/>
          </a:xfrm>
          <a:prstGeom prst="rect">
            <a:avLst/>
          </a:prstGeom>
          <a:solidFill>
            <a:srgbClr val="2ECC40"/>
          </a:solidFill>
          <a:ln w="3175">
            <a:solidFill>
              <a:srgbClr val="FFFFFF"/>
            </a:solidFill>
          </a:ln>
        </p:spPr>
      </p:sp>
      <p:sp>
        <p:nvSpPr>
          <p:cNvPr id="202" name="ColKey 202"/>
          <p:cNvSpPr/>
          <p:nvPr/>
        </p:nvSpPr>
        <p:spPr>
          <a:xfrm>
            <a:off x="5102352" y="3033979"/>
            <a:ext cx="77724" cy="73152"/>
          </a:xfrm>
          <a:prstGeom prst="rect">
            <a:avLst/>
          </a:prstGeom>
          <a:solidFill>
            <a:srgbClr val="FFDC00"/>
          </a:solidFill>
          <a:ln w="3175">
            <a:solidFill>
              <a:srgbClr val="FFFFFF"/>
            </a:solidFill>
          </a:ln>
        </p:spPr>
      </p:sp>
      <p:sp>
        <p:nvSpPr>
          <p:cNvPr id="203" name="ColKey 203"/>
          <p:cNvSpPr/>
          <p:nvPr/>
        </p:nvSpPr>
        <p:spPr>
          <a:xfrm>
            <a:off x="5180076" y="3033979"/>
            <a:ext cx="77724" cy="73152"/>
          </a:xfrm>
          <a:prstGeom prst="rect">
            <a:avLst/>
          </a:prstGeom>
          <a:solidFill>
            <a:srgbClr val="AAAAAA"/>
          </a:solidFill>
          <a:ln w="3175">
            <a:solidFill>
              <a:srgbClr val="FFFFFF"/>
            </a:solidFill>
          </a:ln>
        </p:spPr>
      </p:sp>
      <p:sp>
        <p:nvSpPr>
          <p:cNvPr id="204" name="ColKey 204"/>
          <p:cNvSpPr/>
          <p:nvPr/>
        </p:nvSpPr>
        <p:spPr>
          <a:xfrm>
            <a:off x="5257800" y="3033979"/>
            <a:ext cx="77724" cy="73152"/>
          </a:xfrm>
          <a:prstGeom prst="rect">
            <a:avLst/>
          </a:prstGeom>
          <a:solidFill>
            <a:srgbClr val="F012BE"/>
          </a:solidFill>
          <a:ln w="3175">
            <a:solidFill>
              <a:srgbClr val="FFFFFF"/>
            </a:solidFill>
          </a:ln>
        </p:spPr>
      </p:sp>
      <p:sp>
        <p:nvSpPr>
          <p:cNvPr id="205" name="ColKey 205"/>
          <p:cNvSpPr/>
          <p:nvPr/>
        </p:nvSpPr>
        <p:spPr>
          <a:xfrm>
            <a:off x="5335524" y="3033979"/>
            <a:ext cx="77724" cy="73152"/>
          </a:xfrm>
          <a:prstGeom prst="rect">
            <a:avLst/>
          </a:prstGeom>
          <a:solidFill>
            <a:srgbClr val="FF851B"/>
          </a:solidFill>
          <a:ln w="3175">
            <a:solidFill>
              <a:srgbClr val="FFFFFF"/>
            </a:solidFill>
          </a:ln>
        </p:spPr>
      </p:sp>
      <p:sp>
        <p:nvSpPr>
          <p:cNvPr id="206" name="ColKey 206"/>
          <p:cNvSpPr/>
          <p:nvPr/>
        </p:nvSpPr>
        <p:spPr>
          <a:xfrm>
            <a:off x="5413248" y="3033979"/>
            <a:ext cx="77724" cy="73152"/>
          </a:xfrm>
          <a:prstGeom prst="rect">
            <a:avLst/>
          </a:prstGeom>
          <a:solidFill>
            <a:srgbClr val="7FDBFF"/>
          </a:solidFill>
          <a:ln w="3175">
            <a:solidFill>
              <a:srgbClr val="FFFFFF"/>
            </a:solidFill>
          </a:ln>
        </p:spPr>
      </p:sp>
      <p:sp>
        <p:nvSpPr>
          <p:cNvPr id="207" name="ColKey 207"/>
          <p:cNvSpPr/>
          <p:nvPr/>
        </p:nvSpPr>
        <p:spPr>
          <a:xfrm>
            <a:off x="5490972" y="3033979"/>
            <a:ext cx="77724" cy="73152"/>
          </a:xfrm>
          <a:prstGeom prst="rect">
            <a:avLst/>
          </a:prstGeom>
          <a:solidFill>
            <a:srgbClr val="870C25"/>
          </a:solidFill>
          <a:ln w="3175">
            <a:solidFill>
              <a:srgbClr val="FFFFFF"/>
            </a:solidFill>
          </a:ln>
        </p:spPr>
      </p:sp>
      <p:sp>
        <p:nvSpPr>
          <p:cNvPr id="208" name="GridFrame 208"/>
          <p:cNvSpPr/>
          <p:nvPr/>
        </p:nvSpPr>
        <p:spPr>
          <a:xfrm>
            <a:off x="6217920" y="3143707"/>
            <a:ext cx="777240" cy="31089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09" name="ColKey 209"/>
          <p:cNvSpPr/>
          <p:nvPr/>
        </p:nvSpPr>
        <p:spPr>
          <a:xfrm>
            <a:off x="6217920" y="3033979"/>
            <a:ext cx="77724" cy="73152"/>
          </a:xfrm>
          <a:prstGeom prst="rect">
            <a:avLst/>
          </a:prstGeom>
          <a:solidFill>
            <a:srgbClr val="000000"/>
          </a:solidFill>
          <a:ln w="3175">
            <a:solidFill>
              <a:srgbClr val="FFFFFF"/>
            </a:solidFill>
          </a:ln>
        </p:spPr>
      </p:sp>
      <p:sp>
        <p:nvSpPr>
          <p:cNvPr id="210" name="ColKey 210"/>
          <p:cNvSpPr/>
          <p:nvPr/>
        </p:nvSpPr>
        <p:spPr>
          <a:xfrm>
            <a:off x="6295644" y="3033979"/>
            <a:ext cx="77724" cy="73152"/>
          </a:xfrm>
          <a:prstGeom prst="rect">
            <a:avLst/>
          </a:prstGeom>
          <a:solidFill>
            <a:srgbClr val="0074D9"/>
          </a:solidFill>
          <a:ln w="3175">
            <a:solidFill>
              <a:srgbClr val="FFFFFF"/>
            </a:solidFill>
          </a:ln>
        </p:spPr>
      </p:sp>
      <p:sp>
        <p:nvSpPr>
          <p:cNvPr id="211" name="ColKey 211"/>
          <p:cNvSpPr/>
          <p:nvPr/>
        </p:nvSpPr>
        <p:spPr>
          <a:xfrm>
            <a:off x="6373368" y="3033979"/>
            <a:ext cx="77724" cy="73152"/>
          </a:xfrm>
          <a:prstGeom prst="rect">
            <a:avLst/>
          </a:prstGeom>
          <a:solidFill>
            <a:srgbClr val="FF4136"/>
          </a:solidFill>
          <a:ln w="3175">
            <a:solidFill>
              <a:srgbClr val="FFFFFF"/>
            </a:solidFill>
          </a:ln>
        </p:spPr>
      </p:sp>
      <p:sp>
        <p:nvSpPr>
          <p:cNvPr id="212" name="ColKey 212"/>
          <p:cNvSpPr/>
          <p:nvPr/>
        </p:nvSpPr>
        <p:spPr>
          <a:xfrm>
            <a:off x="6451092" y="3033979"/>
            <a:ext cx="77724" cy="73152"/>
          </a:xfrm>
          <a:prstGeom prst="rect">
            <a:avLst/>
          </a:prstGeom>
          <a:solidFill>
            <a:srgbClr val="2ECC40"/>
          </a:solidFill>
          <a:ln w="3175">
            <a:solidFill>
              <a:srgbClr val="FFFFFF"/>
            </a:solidFill>
          </a:ln>
        </p:spPr>
      </p:sp>
      <p:sp>
        <p:nvSpPr>
          <p:cNvPr id="213" name="ColKey 213"/>
          <p:cNvSpPr/>
          <p:nvPr/>
        </p:nvSpPr>
        <p:spPr>
          <a:xfrm>
            <a:off x="6528816" y="3033979"/>
            <a:ext cx="77724" cy="73152"/>
          </a:xfrm>
          <a:prstGeom prst="rect">
            <a:avLst/>
          </a:prstGeom>
          <a:solidFill>
            <a:srgbClr val="FFDC00"/>
          </a:solidFill>
          <a:ln w="3175">
            <a:solidFill>
              <a:srgbClr val="FFFFFF"/>
            </a:solidFill>
          </a:ln>
        </p:spPr>
      </p:sp>
      <p:sp>
        <p:nvSpPr>
          <p:cNvPr id="214" name="ColKey 214"/>
          <p:cNvSpPr/>
          <p:nvPr/>
        </p:nvSpPr>
        <p:spPr>
          <a:xfrm>
            <a:off x="6606540" y="3033979"/>
            <a:ext cx="77724" cy="73152"/>
          </a:xfrm>
          <a:prstGeom prst="rect">
            <a:avLst/>
          </a:prstGeom>
          <a:solidFill>
            <a:srgbClr val="AAAAAA"/>
          </a:solidFill>
          <a:ln w="3175">
            <a:solidFill>
              <a:srgbClr val="FFFFFF"/>
            </a:solidFill>
          </a:ln>
        </p:spPr>
      </p:sp>
      <p:sp>
        <p:nvSpPr>
          <p:cNvPr id="215" name="ColKey 215"/>
          <p:cNvSpPr/>
          <p:nvPr/>
        </p:nvSpPr>
        <p:spPr>
          <a:xfrm>
            <a:off x="6684264" y="3033979"/>
            <a:ext cx="77724" cy="73152"/>
          </a:xfrm>
          <a:prstGeom prst="rect">
            <a:avLst/>
          </a:prstGeom>
          <a:solidFill>
            <a:srgbClr val="F012BE"/>
          </a:solidFill>
          <a:ln w="3175">
            <a:solidFill>
              <a:srgbClr val="FFFFFF"/>
            </a:solidFill>
          </a:ln>
        </p:spPr>
      </p:sp>
      <p:sp>
        <p:nvSpPr>
          <p:cNvPr id="216" name="ColKey 216"/>
          <p:cNvSpPr/>
          <p:nvPr/>
        </p:nvSpPr>
        <p:spPr>
          <a:xfrm>
            <a:off x="6761988" y="3033979"/>
            <a:ext cx="77724" cy="73152"/>
          </a:xfrm>
          <a:prstGeom prst="rect">
            <a:avLst/>
          </a:prstGeom>
          <a:solidFill>
            <a:srgbClr val="FF851B"/>
          </a:solidFill>
          <a:ln w="3175">
            <a:solidFill>
              <a:srgbClr val="FFFFFF"/>
            </a:solidFill>
          </a:ln>
        </p:spPr>
      </p:sp>
      <p:sp>
        <p:nvSpPr>
          <p:cNvPr id="217" name="ColKey 217"/>
          <p:cNvSpPr/>
          <p:nvPr/>
        </p:nvSpPr>
        <p:spPr>
          <a:xfrm>
            <a:off x="6839712" y="3033979"/>
            <a:ext cx="77724" cy="73152"/>
          </a:xfrm>
          <a:prstGeom prst="rect">
            <a:avLst/>
          </a:prstGeom>
          <a:solidFill>
            <a:srgbClr val="7FDBFF"/>
          </a:solidFill>
          <a:ln w="3175">
            <a:solidFill>
              <a:srgbClr val="FFFFFF"/>
            </a:solidFill>
          </a:ln>
        </p:spPr>
      </p:sp>
      <p:sp>
        <p:nvSpPr>
          <p:cNvPr id="218" name="ColKey 218"/>
          <p:cNvSpPr/>
          <p:nvPr/>
        </p:nvSpPr>
        <p:spPr>
          <a:xfrm>
            <a:off x="6917436" y="3033979"/>
            <a:ext cx="77724" cy="73152"/>
          </a:xfrm>
          <a:prstGeom prst="rect">
            <a:avLst/>
          </a:prstGeom>
          <a:solidFill>
            <a:srgbClr val="870C25"/>
          </a:solidFill>
          <a:ln w="3175">
            <a:solidFill>
              <a:srgbClr val="FFFFFF"/>
            </a:solidFill>
          </a:ln>
        </p:spPr>
      </p:sp>
      <p:sp>
        <p:nvSpPr>
          <p:cNvPr id="219" name="Label 219"/>
          <p:cNvSpPr/>
          <p:nvPr/>
        </p:nvSpPr>
        <p:spPr>
          <a:xfrm>
            <a:off x="4562856" y="2732227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dirty="0">
                <a:solidFill>
                  <a:srgbClr val="1F1F1F"/>
                </a:solidFill>
                <a:latin typeface="+mn-lt"/>
                <a:cs typeface="+mn-cs"/>
              </a:rPr>
              <a:t xml:space="preserve">Reshape</a:t>
            </a:r>
            <a:endParaRPr lang="en-US" sz="1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0" name="Label 220"/>
              <p:cNvSpPr/>
              <p:nvPr/>
            </p:nvSpPr>
            <p:spPr>
              <a:xfrm>
                <a:off x="5989320" y="2732227"/>
                <a:ext cx="1234440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lang="en-US" sz="11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1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100" b="0" i="0" dirty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∈[0,1</m:t>
                      </m:r>
                      <m:sSup>
                        <m:sSupPr>
                          <m:ctrlPr>
                            <a:rPr lang="en-US" sz="11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1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1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4×10</m:t>
                          </m:r>
                        </m:sup>
                      </m:sSup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220" name="Label 220"/>
              <p:cNvSpPr/>
              <p:nvPr/>
            </p:nvSpPr>
            <p:spPr>
              <a:xfrm>
                <a:off x="5989320" y="2732227"/>
                <a:ext cx="1234440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Ŝ∈[0,1]^4×10</a:t>
                </a:r>
                <a:endParaRPr lang="en-US" sz="1050" dirty="0"/>
              </a:p>
            </p:txBody>
          </p:sp>
        </mc:Fallback>
      </mc:AlternateContent>
      <p:sp>
        <p:nvSpPr>
          <p:cNvPr id="221" name="Label 221"/>
          <p:cNvSpPr/>
          <p:nvPr/>
        </p:nvSpPr>
        <p:spPr>
          <a:xfrm>
            <a:off x="4517136" y="3527755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D4D4D"/>
                </a:solidFill>
                <a:latin typeface="+mn-lt"/>
                <a:cs typeface="+mn-cs"/>
              </a:rPr>
              <a:t xml:space="preserve">Rows: 4 Tile Cells</a:t>
            </a:r>
            <a:endParaRPr lang="en-US" sz="1000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D4D4D"/>
                </a:solidFill>
                <a:latin typeface="+mn-lt"/>
                <a:cs typeface="+mn-cs"/>
              </a:rPr>
              <a:t xml:space="preserve">Columns: 10 Colors</a:t>
            </a:r>
            <a:endParaRPr lang="en-US" sz="1000" dirty="0"/>
          </a:p>
        </p:txBody>
      </p:sp>
      <p:sp>
        <p:nvSpPr>
          <p:cNvPr id="222" name="Label 222"/>
          <p:cNvSpPr/>
          <p:nvPr/>
        </p:nvSpPr>
        <p:spPr>
          <a:xfrm>
            <a:off x="5943600" y="3527755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D4D4D"/>
                </a:solidFill>
                <a:latin typeface="+mn-lt"/>
                <a:cs typeface="+mn-cs"/>
              </a:rPr>
              <a:t xml:space="preserve">Each Row Sums to 1</a:t>
            </a:r>
            <a:endParaRPr lang="en-US" sz="1000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D4D4D"/>
                </a:solidFill>
                <a:latin typeface="+mn-lt"/>
                <a:cs typeface="+mn-cs"/>
              </a:rPr>
              <a:t xml:space="preserve">(4 Categoricals)</a:t>
            </a:r>
            <a:endParaRPr lang="en-US" sz="1000" dirty="0"/>
          </a:p>
        </p:txBody>
      </p:sp>
      <p:sp>
        <p:nvSpPr>
          <p:cNvPr id="223" name="Arrow 223"/>
          <p:cNvSpPr/>
          <p:nvPr/>
        </p:nvSpPr>
        <p:spPr>
          <a:xfrm>
            <a:off x="4526280" y="3299155"/>
            <a:ext cx="219456" cy="1"/>
          </a:xfrm>
          <a:custGeom>
            <a:avLst/>
            <a:gdLst/>
            <a:ahLst/>
            <a:cxnLst/>
            <a:rect l="0" t="0" r="r" b="b"/>
            <a:pathLst>
              <a:path w="219456" h="1" fill="none">
                <a:moveTo>
                  <a:pt x="0" y="0"/>
                </a:moveTo>
                <a:lnTo>
                  <a:pt x="219456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Label 224"/>
              <p:cNvSpPr/>
              <p:nvPr/>
            </p:nvSpPr>
            <p:spPr>
              <a:xfrm>
                <a:off x="4498848" y="3024835"/>
                <a:ext cx="292608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11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224" name="Label 224"/>
              <p:cNvSpPr/>
              <p:nvPr/>
            </p:nvSpPr>
            <p:spPr>
              <a:xfrm>
                <a:off x="4498848" y="3024835"/>
                <a:ext cx="292608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40</a:t>
                </a:r>
                <a:endParaRPr lang="en-US" sz="1050" dirty="0"/>
              </a:p>
            </p:txBody>
          </p:sp>
        </mc:Fallback>
      </mc:AlternateContent>
      <p:sp>
        <p:nvSpPr>
          <p:cNvPr id="225" name="Arrow 225"/>
          <p:cNvSpPr/>
          <p:nvPr/>
        </p:nvSpPr>
        <p:spPr>
          <a:xfrm>
            <a:off x="5605272" y="3299155"/>
            <a:ext cx="576072" cy="1"/>
          </a:xfrm>
          <a:custGeom>
            <a:avLst/>
            <a:gdLst/>
            <a:ahLst/>
            <a:cxnLst/>
            <a:rect l="0" t="0" r="r" b="b"/>
            <a:pathLst>
              <a:path w="576072" h="1" fill="none">
                <a:moveTo>
                  <a:pt x="0" y="0"/>
                </a:moveTo>
                <a:lnTo>
                  <a:pt x="576072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p:sp>
        <p:nvSpPr>
          <p:cNvPr id="226" name="Label 226"/>
          <p:cNvSpPr/>
          <p:nvPr/>
        </p:nvSpPr>
        <p:spPr>
          <a:xfrm>
            <a:off x="5431536" y="3024835"/>
            <a:ext cx="92354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1F1F"/>
                </a:solidFill>
                <a:latin typeface="+mn-lt"/>
                <a:cs typeface="+mn-cs"/>
              </a:rPr>
              <a:t xml:space="preserve">Softmax</a:t>
            </a:r>
            <a:endParaRPr lang="en-US" sz="1000" dirty="0"/>
          </a:p>
        </p:txBody>
      </p:sp>
      <p:sp>
        <p:nvSpPr>
          <p:cNvPr id="227" name="Label 227"/>
          <p:cNvSpPr/>
          <p:nvPr/>
        </p:nvSpPr>
        <p:spPr>
          <a:xfrm>
            <a:off x="5431536" y="3344875"/>
            <a:ext cx="92354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D4D4D"/>
                </a:solidFill>
                <a:latin typeface="+mn-lt"/>
                <a:cs typeface="+mn-cs"/>
              </a:rPr>
              <a:t xml:space="preserve">Per Row</a:t>
            </a:r>
            <a:endParaRPr lang="en-US" sz="1000" dirty="0"/>
          </a:p>
        </p:txBody>
      </p:sp>
      <p:sp>
        <p:nvSpPr>
          <p:cNvPr id="228" name="SoftTile 228"/>
          <p:cNvSpPr/>
          <p:nvPr/>
        </p:nvSpPr>
        <p:spPr>
          <a:xfrm>
            <a:off x="7269480" y="3061411"/>
            <a:ext cx="237744" cy="237744"/>
          </a:xfrm>
          <a:prstGeom prst="rect">
            <a:avLst/>
          </a:prstGeom>
          <a:solidFill>
            <a:srgbClr val="FF851B">
              <a:alpha val="90000"/>
            </a:srgbClr>
          </a:solidFill>
          <a:ln>
            <a:noFill/>
          </a:ln>
        </p:spPr>
      </p:sp>
      <p:sp>
        <p:nvSpPr>
          <p:cNvPr id="229" name="SoftTile 229"/>
          <p:cNvSpPr/>
          <p:nvPr/>
        </p:nvSpPr>
        <p:spPr>
          <a:xfrm>
            <a:off x="7507224" y="3061411"/>
            <a:ext cx="237744" cy="237744"/>
          </a:xfrm>
          <a:prstGeom prst="rect">
            <a:avLst/>
          </a:prstGeom>
          <a:solidFill>
            <a:srgbClr val="7FDBFF">
              <a:alpha val="72000"/>
            </a:srgbClr>
          </a:solidFill>
          <a:ln>
            <a:noFill/>
          </a:ln>
        </p:spPr>
      </p:sp>
      <p:sp>
        <p:nvSpPr>
          <p:cNvPr id="230" name="SoftTile 230"/>
          <p:cNvSpPr/>
          <p:nvPr/>
        </p:nvSpPr>
        <p:spPr>
          <a:xfrm>
            <a:off x="7269480" y="3299155"/>
            <a:ext cx="237744" cy="237744"/>
          </a:xfrm>
          <a:prstGeom prst="rect">
            <a:avLst/>
          </a:prstGeom>
          <a:solidFill>
            <a:srgbClr val="7FDBFF">
              <a:alpha val="80000"/>
            </a:srgbClr>
          </a:solidFill>
          <a:ln>
            <a:noFill/>
          </a:ln>
        </p:spPr>
      </p:sp>
      <p:sp>
        <p:nvSpPr>
          <p:cNvPr id="231" name="SoftTile 231"/>
          <p:cNvSpPr/>
          <p:nvPr/>
        </p:nvSpPr>
        <p:spPr>
          <a:xfrm>
            <a:off x="7507224" y="3299155"/>
            <a:ext cx="237744" cy="237744"/>
          </a:xfrm>
          <a:prstGeom prst="rect">
            <a:avLst/>
          </a:prstGeom>
          <a:solidFill>
            <a:srgbClr val="870C25">
              <a:alpha val="94000"/>
            </a:srgbClr>
          </a:solidFill>
          <a:ln>
            <a:noFill/>
          </a:ln>
        </p:spPr>
      </p:sp>
      <p:sp>
        <p:nvSpPr>
          <p:cNvPr id="232" name="SoftTileLine 232"/>
          <p:cNvSpPr/>
          <p:nvPr/>
        </p:nvSpPr>
        <p:spPr>
          <a:xfrm>
            <a:off x="7269480" y="3061411"/>
            <a:ext cx="237744" cy="23774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233" name="SoftTileLine 233"/>
          <p:cNvSpPr/>
          <p:nvPr/>
        </p:nvSpPr>
        <p:spPr>
          <a:xfrm>
            <a:off x="7507224" y="3061411"/>
            <a:ext cx="237744" cy="23774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234" name="SoftTileLine 234"/>
          <p:cNvSpPr/>
          <p:nvPr/>
        </p:nvSpPr>
        <p:spPr>
          <a:xfrm>
            <a:off x="7269480" y="3299155"/>
            <a:ext cx="237744" cy="23774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235" name="SoftTileLine 235"/>
          <p:cNvSpPr/>
          <p:nvPr/>
        </p:nvSpPr>
        <p:spPr>
          <a:xfrm>
            <a:off x="7507224" y="3299155"/>
            <a:ext cx="237744" cy="23774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236" name="SoftTileFrame 236"/>
          <p:cNvSpPr/>
          <p:nvPr/>
        </p:nvSpPr>
        <p:spPr>
          <a:xfrm>
            <a:off x="7269480" y="3061411"/>
            <a:ext cx="475488" cy="47548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37" name="HardTile 237"/>
          <p:cNvSpPr/>
          <p:nvPr/>
        </p:nvSpPr>
        <p:spPr>
          <a:xfrm>
            <a:off x="8138160" y="3061411"/>
            <a:ext cx="237744" cy="237744"/>
          </a:xfrm>
          <a:prstGeom prst="rect">
            <a:avLst/>
          </a:prstGeom>
          <a:solidFill>
            <a:srgbClr val="FF851B"/>
          </a:solidFill>
          <a:ln>
            <a:noFill/>
          </a:ln>
        </p:spPr>
      </p:sp>
      <p:sp>
        <p:nvSpPr>
          <p:cNvPr id="238" name="HardTile 238"/>
          <p:cNvSpPr/>
          <p:nvPr/>
        </p:nvSpPr>
        <p:spPr>
          <a:xfrm>
            <a:off x="8375904" y="3061411"/>
            <a:ext cx="237744" cy="237744"/>
          </a:xfrm>
          <a:prstGeom prst="rect">
            <a:avLst/>
          </a:prstGeom>
          <a:solidFill>
            <a:srgbClr val="7FDBFF"/>
          </a:solidFill>
          <a:ln>
            <a:noFill/>
          </a:ln>
        </p:spPr>
      </p:sp>
      <p:sp>
        <p:nvSpPr>
          <p:cNvPr id="239" name="HardTile 239"/>
          <p:cNvSpPr/>
          <p:nvPr/>
        </p:nvSpPr>
        <p:spPr>
          <a:xfrm>
            <a:off x="8138160" y="3299155"/>
            <a:ext cx="237744" cy="237744"/>
          </a:xfrm>
          <a:prstGeom prst="rect">
            <a:avLst/>
          </a:prstGeom>
          <a:solidFill>
            <a:srgbClr val="7FDBFF"/>
          </a:solidFill>
          <a:ln>
            <a:noFill/>
          </a:ln>
        </p:spPr>
      </p:sp>
      <p:sp>
        <p:nvSpPr>
          <p:cNvPr id="240" name="HardTile 240"/>
          <p:cNvSpPr/>
          <p:nvPr/>
        </p:nvSpPr>
        <p:spPr>
          <a:xfrm>
            <a:off x="8375904" y="3299155"/>
            <a:ext cx="237744" cy="237744"/>
          </a:xfrm>
          <a:prstGeom prst="rect">
            <a:avLst/>
          </a:prstGeom>
          <a:solidFill>
            <a:srgbClr val="870C25"/>
          </a:solidFill>
          <a:ln>
            <a:noFill/>
          </a:ln>
        </p:spPr>
      </p:sp>
      <p:sp>
        <p:nvSpPr>
          <p:cNvPr id="241" name="HardTileLine 241"/>
          <p:cNvSpPr/>
          <p:nvPr/>
        </p:nvSpPr>
        <p:spPr>
          <a:xfrm>
            <a:off x="8138160" y="3061411"/>
            <a:ext cx="237744" cy="23774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242" name="HardTileLine 242"/>
          <p:cNvSpPr/>
          <p:nvPr/>
        </p:nvSpPr>
        <p:spPr>
          <a:xfrm>
            <a:off x="8375904" y="3061411"/>
            <a:ext cx="237744" cy="23774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243" name="HardTileLine 243"/>
          <p:cNvSpPr/>
          <p:nvPr/>
        </p:nvSpPr>
        <p:spPr>
          <a:xfrm>
            <a:off x="8138160" y="3299155"/>
            <a:ext cx="237744" cy="23774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244" name="HardTileLine 244"/>
          <p:cNvSpPr/>
          <p:nvPr/>
        </p:nvSpPr>
        <p:spPr>
          <a:xfrm>
            <a:off x="8375904" y="3299155"/>
            <a:ext cx="237744" cy="23774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245" name="HardTileFrame 245"/>
          <p:cNvSpPr/>
          <p:nvPr/>
        </p:nvSpPr>
        <p:spPr>
          <a:xfrm>
            <a:off x="8138160" y="3061411"/>
            <a:ext cx="475488" cy="47548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46" name="Arrow 246"/>
          <p:cNvSpPr/>
          <p:nvPr/>
        </p:nvSpPr>
        <p:spPr>
          <a:xfrm>
            <a:off x="7031736" y="3299155"/>
            <a:ext cx="192024" cy="1"/>
          </a:xfrm>
          <a:custGeom>
            <a:avLst/>
            <a:gdLst/>
            <a:ahLst/>
            <a:cxnLst/>
            <a:rect l="0" t="0" r="r" b="b"/>
            <a:pathLst>
              <a:path w="192024" h="1" fill="none">
                <a:moveTo>
                  <a:pt x="0" y="0"/>
                </a:moveTo>
                <a:lnTo>
                  <a:pt x="192024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p:sp>
        <p:nvSpPr>
          <p:cNvPr id="247" name="Arrow 247"/>
          <p:cNvSpPr/>
          <p:nvPr/>
        </p:nvSpPr>
        <p:spPr>
          <a:xfrm>
            <a:off x="7790688" y="3299155"/>
            <a:ext cx="301752" cy="1"/>
          </a:xfrm>
          <a:custGeom>
            <a:avLst/>
            <a:gdLst/>
            <a:ahLst/>
            <a:cxnLst/>
            <a:rect l="0" t="0" r="r" b="b"/>
            <a:pathLst>
              <a:path w="301752" h="1" fill="none">
                <a:moveTo>
                  <a:pt x="0" y="0"/>
                </a:moveTo>
                <a:lnTo>
                  <a:pt x="301752" y="0"/>
                </a:lnTo>
              </a:path>
            </a:pathLst>
          </a:custGeom>
          <a:noFill/>
          <a:ln w="19050" cap="flat">
            <a:solidFill>
              <a:srgbClr val="AB0520"/>
            </a:solidFill>
            <a:round/>
            <a:tailEnd type="triangle" w="med" len="med"/>
          </a:ln>
        </p:spPr>
      </p:sp>
      <p:sp>
        <p:nvSpPr>
          <p:cNvPr id="248" name="Label 248"/>
          <p:cNvSpPr/>
          <p:nvPr/>
        </p:nvSpPr>
        <p:spPr>
          <a:xfrm>
            <a:off x="6995160" y="2759659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dirty="0">
                <a:solidFill>
                  <a:srgbClr val="1F1F1F"/>
                </a:solidFill>
                <a:latin typeface="+mn-lt"/>
                <a:cs typeface="+mn-cs"/>
              </a:rPr>
              <a:t xml:space="preserve">Soft Tile</a:t>
            </a:r>
            <a:endParaRPr lang="en-US" sz="1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Label 249"/>
              <p:cNvSpPr/>
              <p:nvPr/>
            </p:nvSpPr>
            <p:spPr>
              <a:xfrm>
                <a:off x="7863840" y="2759659"/>
                <a:ext cx="1024128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Hard Tile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10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10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</m:oMath>
                </a14:m>
                <a:endParaRPr lang="en-US" sz="1050" dirty="0"/>
              </a:p>
            </p:txBody>
          </p:sp>
        </mc:Choice>
        <mc:Fallback>
          <p:sp>
            <p:nvSpPr>
              <p:cNvPr id="249" name="Label 249"/>
              <p:cNvSpPr/>
              <p:nvPr/>
            </p:nvSpPr>
            <p:spPr>
              <a:xfrm>
                <a:off x="7863840" y="2759659"/>
                <a:ext cx="1024128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Hard Tile </a:t>
                </a: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T̂</a:t>
                </a:r>
                <a:endParaRPr lang="en-US" sz="105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Label 250"/>
              <p:cNvSpPr/>
              <p:nvPr/>
            </p:nvSpPr>
            <p:spPr>
              <a:xfrm>
                <a:off x="6949440" y="3610051"/>
                <a:ext cx="1115568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Opacity: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>
                          <m:ctrlPr>
                            <a:rPr lang="en-US" sz="105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050" b="0" i="0" dirty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050" b="0" i="0" dirty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r>
                                <a:rPr lang="en-US" sz="1050" b="0" i="0" dirty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fName>
                        <m:e>
                          <m:sSub>
                            <m:sSubPr>
                              <m:ctrlPr>
                                <a:rPr lang="en-US" sz="1050" b="0" i="0" dirty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050" b="0" i="0" dirty="0">
                                      <a:solidFill>
                                        <a:srgbClr val="4D4D4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050" b="0" i="0" dirty="0">
                                      <a:solidFill>
                                        <a:srgbClr val="4D4D4D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050" b="0" i="0" dirty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n-US" sz="1050" b="0" i="0" dirty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50" b="0" i="0" dirty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250" name="Label 250"/>
              <p:cNvSpPr/>
              <p:nvPr/>
            </p:nvSpPr>
            <p:spPr>
              <a:xfrm>
                <a:off x="6949440" y="3610051"/>
                <a:ext cx="1115568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Opacity: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max_k Ŝ_j,k</a:t>
                </a:r>
                <a:endParaRPr lang="en-US" sz="1000" dirty="0"/>
              </a:p>
            </p:txBody>
          </p:sp>
        </mc:Fallback>
      </mc:AlternateContent>
      <p:sp>
        <p:nvSpPr>
          <p:cNvPr id="251" name="Label 251"/>
          <p:cNvSpPr/>
          <p:nvPr/>
        </p:nvSpPr>
        <p:spPr>
          <a:xfrm>
            <a:off x="7772400" y="3610051"/>
            <a:ext cx="120700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D4D4D"/>
                </a:solidFill>
                <a:latin typeface="+mn-lt"/>
                <a:cs typeface="+mn-cs"/>
              </a:rPr>
              <a:t xml:space="preserve">Argmax per Cell</a:t>
            </a:r>
            <a:endParaRPr lang="en-US" sz="1000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dirty="0">
                <a:solidFill>
                  <a:srgbClr val="4D4D4D"/>
                </a:solidFill>
                <a:latin typeface="+mn-lt"/>
                <a:cs typeface="+mn-cs"/>
              </a:rPr>
              <a:t xml:space="preserve">Evaluation Only</a:t>
            </a:r>
            <a:endParaRPr lang="en-US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2" name="Label 252"/>
              <p:cNvSpPr/>
              <p:nvPr/>
            </p:nvSpPr>
            <p:spPr>
              <a:xfrm>
                <a:off x="5509260" y="3984955"/>
                <a:ext cx="219456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Row </a:t>
                </a:r>
                <a14:m>
                  <m:oMath xmlns:m="http://schemas.openxmlformats.org/officeDocument/2006/math">
                    <m:r>
                      <a:rPr lang="en-US" sz="105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US" sz="105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105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US" sz="105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05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0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↔ Tile Cell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5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05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US" sz="105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05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US" sz="105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00" dirty="0"/>
              </a:p>
            </p:txBody>
          </p:sp>
        </mc:Choice>
        <mc:Fallback>
          <p:sp>
            <p:nvSpPr>
              <p:cNvPr id="252" name="Label 252"/>
              <p:cNvSpPr/>
              <p:nvPr/>
            </p:nvSpPr>
            <p:spPr>
              <a:xfrm>
                <a:off x="5509260" y="3984955"/>
                <a:ext cx="219456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Row </a:t>
                </a:r>
                <a:r>
                  <a:rPr lang="en-US" sz="10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j=2r+c</a:t>
                </a:r>
                <a:r>
                  <a:rPr lang="en-US" sz="10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↔ Tile Cell </a:t>
                </a:r>
                <a:r>
                  <a:rPr lang="en-US" sz="10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(r,c)</a:t>
                </a:r>
                <a:endParaRPr lang="en-US" sz="1000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2281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BB72C-23FD-FCAC-1C2F-65CEDB993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2: </a:t>
            </a:r>
            <a:r>
              <a:rPr lang="en-US"/>
              <a:t>Full Optimization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9E982-7FBE-8A63-36F4-A81DC5A0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701D8-BF45-46A2-ADF3-0D690B397DE9}" type="slidenum">
              <a:rPr lang="en-US" smtClean="0"/>
              <a:pPr/>
              <a:t>3</a:t>
            </a:fld>
            <a:endParaRPr lang="en-US" sz="1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389E8C-D759-197B-FE82-5CC6AD2DC8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Weekly Meeting</a:t>
            </a:r>
          </a:p>
        </p:txBody>
      </p:sp>
      <p:pic>
        <p:nvPicPr>
          <p:cNvPr id="6" name="Picture 5" descr="File:Claude AI symbol.svg - Wikimedia Commons">
            <a:extLst>
              <a:ext uri="{FF2B5EF4-FFF2-40B4-BE49-F238E27FC236}">
                <a16:creationId xmlns:a16="http://schemas.microsoft.com/office/drawing/2014/main" id="{CE7D6D3A-396F-9163-C845-3FB5A43D6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592" y="518333"/>
            <a:ext cx="425709" cy="425709"/>
          </a:xfrm>
          <a:prstGeom prst="rect">
            <a:avLst/>
          </a:prstGeom>
        </p:spPr>
      </p:pic>
      <p:sp>
        <p:nvSpPr>
          <p:cNvPr id="101" name="LatentOptContainer 101"/>
          <p:cNvSpPr/>
          <p:nvPr/>
        </p:nvSpPr>
        <p:spPr>
          <a:xfrm>
            <a:off x="744322" y="1371600"/>
            <a:ext cx="6053328" cy="4791456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2700">
            <a:solidFill>
              <a:srgbClr val="9AA6B8"/>
            </a:solidFill>
            <a:prstDash val="dash"/>
          </a:ln>
        </p:spPr>
        <p:txBody>
          <a:bodyPr wrap="square" lIns="54864" tIns="36576" rIns="54864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Label 102"/>
              <p:cNvSpPr/>
              <p:nvPr/>
            </p:nvSpPr>
            <p:spPr>
              <a:xfrm>
                <a:off x="1498702" y="1463040"/>
                <a:ext cx="4562856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Latent Optimization (Steps </a:t>
                </a:r>
                <a14:m>
                  <m:oMath xmlns:m="http://schemas.openxmlformats.org/officeDocument/2006/math">
                    <m:r>
                      <a:rPr lang="en-US" sz="1100" b="0" i="0" dirty="0">
                        <a:solidFill>
                          <a:srgbClr val="0C234B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sz="1100" b="0" i="0" dirty="0">
                        <a:solidFill>
                          <a:srgbClr val="0C234B"/>
                        </a:solidFill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1100" b="0" i="0" dirty="0">
                        <a:solidFill>
                          <a:srgbClr val="0C234B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05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)</a:t>
                </a:r>
                <a:endParaRPr lang="en-US" sz="1050" dirty="0"/>
              </a:p>
            </p:txBody>
          </p:sp>
        </mc:Choice>
        <mc:Fallback>
          <p:sp>
            <p:nvSpPr>
              <p:cNvPr id="102" name="Label 102"/>
              <p:cNvSpPr/>
              <p:nvPr/>
            </p:nvSpPr>
            <p:spPr>
              <a:xfrm>
                <a:off x="1498702" y="1463040"/>
                <a:ext cx="4562856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Latent Optimization (Steps </a:t>
                </a:r>
                <a:r>
                  <a:rPr lang="en-US" sz="105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k=1,…,K</a:t>
                </a:r>
                <a:r>
                  <a:rPr lang="en-US" sz="105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)</a:t>
                </a:r>
                <a:endParaRPr lang="en-US" sz="105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zk 103"/>
              <p:cNvSpPr/>
              <p:nvPr/>
            </p:nvSpPr>
            <p:spPr>
              <a:xfrm>
                <a:off x="1498702" y="3118104"/>
                <a:ext cx="640080" cy="640080"/>
              </a:xfrm>
              <a:prstGeom prst="ellipse">
                <a:avLst/>
              </a:prstGeom>
              <a:solidFill>
                <a:srgbClr val="FFFFFF"/>
              </a:solidFill>
              <a:ln w="22225">
                <a:solidFill>
                  <a:srgbClr val="0C234B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2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2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03" name="zk 103"/>
              <p:cNvSpPr/>
              <p:nvPr/>
            </p:nvSpPr>
            <p:spPr>
              <a:xfrm>
                <a:off x="1498702" y="3118104"/>
                <a:ext cx="640080" cy="640080"/>
              </a:xfrm>
              <a:prstGeom prst="ellipse">
                <a:avLst/>
              </a:prstGeom>
              <a:solidFill>
                <a:srgbClr val="FFFFFF"/>
              </a:solidFill>
              <a:ln w="22225">
                <a:solidFill>
                  <a:srgbClr val="0C234B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z_k</a:t>
                </a:r>
                <a:endParaRPr lang="en-US" sz="12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Decoder 104"/>
              <p:cNvSpPr/>
              <p:nvPr/>
            </p:nvSpPr>
            <p:spPr>
              <a:xfrm>
                <a:off x="2321662" y="1737360"/>
                <a:ext cx="1847088" cy="768096"/>
              </a:xfrm>
              <a:prstGeom prst="roundRect">
                <a:avLst>
                  <a:gd name="adj" fmla="val 9000"/>
                </a:avLst>
              </a:prstGeom>
              <a:solidFill>
                <a:srgbClr val="E9EEF5"/>
              </a:solidFill>
              <a:ln w="12700">
                <a:solidFill>
                  <a:srgbClr val="0C234B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Decoder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m:rPr>
                        <m:sty m:val="p"/>
                      </m:rPr>
                      <a:rPr lang="en-US" sz="11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US" sz="11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11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US" sz="11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1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US" sz="11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2-Layer, 6-Head Transformer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Opaque Pixel-Wise Output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No Explicit Program</a:t>
                </a:r>
                <a:endParaRPr lang="en-US" sz="800" dirty="0"/>
              </a:p>
            </p:txBody>
          </p:sp>
        </mc:Choice>
        <mc:Fallback>
          <p:sp>
            <p:nvSpPr>
              <p:cNvPr id="104" name="Decoder 104"/>
              <p:cNvSpPr/>
              <p:nvPr/>
            </p:nvSpPr>
            <p:spPr>
              <a:xfrm>
                <a:off x="2321662" y="1737360"/>
                <a:ext cx="1847088" cy="768096"/>
              </a:xfrm>
              <a:prstGeom prst="roundRect">
                <a:avLst>
                  <a:gd name="adj" fmla="val 9000"/>
                </a:avLst>
              </a:prstGeom>
              <a:solidFill>
                <a:srgbClr val="E9EEF5"/>
              </a:solidFill>
              <a:ln w="12700">
                <a:solidFill>
                  <a:srgbClr val="0C234B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Decoder </a:t>
                </a: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p_θ(y∣x,z)</a:t>
                </a:r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2-Layer, 6-Head Transformer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Opaque Pixel-Wise Output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No Explicit Program</a:t>
                </a:r>
                <a:endParaRPr lang="en-US" sz="8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ileHead 105"/>
              <p:cNvSpPr/>
              <p:nvPr/>
            </p:nvSpPr>
            <p:spPr>
              <a:xfrm>
                <a:off x="2321662" y="2615184"/>
                <a:ext cx="1847088" cy="768096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Tile Head </a:t>
                </a:r>
                <a14:m>
                  <m:oMath xmlns:m="http://schemas.openxmlformats.org/officeDocument/2006/math">
                    <m:r>
                      <a:rPr lang="en-US" sz="1100" b="0" i="0" dirty="0">
                        <a:solidFill>
                          <a:srgbClr val="AB0520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US" sz="1100" b="0" i="0" dirty="0">
                        <a:solidFill>
                          <a:srgbClr val="AB052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00" b="0" i="0" dirty="0">
                        <a:solidFill>
                          <a:srgbClr val="AB052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US" sz="1100" b="0" i="0" dirty="0">
                        <a:solidFill>
                          <a:srgbClr val="AB052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Input: </a:t>
                </a:r>
                <a14:m>
                  <m:oMath xmlns:m="http://schemas.openxmlformats.org/officeDocument/2006/math">
                    <m: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Only, Never </a:t>
                </a:r>
                <a14:m>
                  <m:oMath xmlns:m="http://schemas.openxmlformats.org/officeDocument/2006/math">
                    <m: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Same Head as Architecture 1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Output: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m:rPr>
                        <m:sty m:val="p"/>
                      </m:rP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∈[0,1</m:t>
                    </m:r>
                    <m:sSup>
                      <m:sSupPr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4×10</m:t>
                        </m:r>
                      </m:sup>
                    </m:sSup>
                  </m:oMath>
                </a14:m>
                <a:endParaRPr lang="en-US" sz="800" dirty="0"/>
              </a:p>
            </p:txBody>
          </p:sp>
        </mc:Choice>
        <mc:Fallback>
          <p:sp>
            <p:nvSpPr>
              <p:cNvPr id="105" name="TileHead 105"/>
              <p:cNvSpPr/>
              <p:nvPr/>
            </p:nvSpPr>
            <p:spPr>
              <a:xfrm>
                <a:off x="2321662" y="2615184"/>
                <a:ext cx="1847088" cy="768096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Tile Head </a:t>
                </a: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h(z)</a:t>
                </a:r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Input: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z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Only, Never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x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Same Head as Architecture 1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Output: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Ŝ∈[0,1]^4×10</a:t>
                </a:r>
                <a:endParaRPr lang="en-US" sz="8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AnchorHead 106"/>
              <p:cNvSpPr/>
              <p:nvPr/>
            </p:nvSpPr>
            <p:spPr>
              <a:xfrm>
                <a:off x="2321662" y="3493008"/>
                <a:ext cx="1847088" cy="768096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Anchor Head </a:t>
                </a:r>
                <a14:m>
                  <m:oMath xmlns:m="http://schemas.openxmlformats.org/officeDocument/2006/math">
                    <m:r>
                      <a:rPr lang="en-US" sz="1100" b="0" i="0" dirty="0">
                        <a:solidFill>
                          <a:srgbClr val="AB052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US" sz="1100" b="0" i="0" dirty="0">
                        <a:solidFill>
                          <a:srgbClr val="AB052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00" b="0" i="0" dirty="0">
                        <a:solidFill>
                          <a:srgbClr val="AB052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US" sz="1100" b="0" i="0" dirty="0">
                        <a:solidFill>
                          <a:srgbClr val="AB052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Input: </a:t>
                </a:r>
                <a14:m>
                  <m:oMath xmlns:m="http://schemas.openxmlformats.org/officeDocument/2006/math">
                    <m: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Only, Never </a:t>
                </a:r>
                <a14:m>
                  <m:oMath xmlns:m="http://schemas.openxmlformats.org/officeDocument/2006/math">
                    <m: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2–3 Linear Layers + ReLU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Output: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∈[0,1</m:t>
                    </m:r>
                    <m:sSup>
                      <m:sSupPr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4×4</m:t>
                        </m:r>
                      </m:sup>
                    </m:sSup>
                  </m:oMath>
                </a14:m>
                <a:endParaRPr lang="en-US" sz="800" dirty="0"/>
              </a:p>
            </p:txBody>
          </p:sp>
        </mc:Choice>
        <mc:Fallback>
          <p:sp>
            <p:nvSpPr>
              <p:cNvPr id="106" name="AnchorHead 106"/>
              <p:cNvSpPr/>
              <p:nvPr/>
            </p:nvSpPr>
            <p:spPr>
              <a:xfrm>
                <a:off x="2321662" y="3493008"/>
                <a:ext cx="1847088" cy="768096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Anchor Head </a:t>
                </a: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g(z)</a:t>
                </a:r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Input: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z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Only, Never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x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2–3 Linear Layers + ReLU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Output: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Â∈[0,1]^4×4</a:t>
                </a:r>
                <a:endParaRPr lang="en-US" sz="8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Executor 107"/>
              <p:cNvSpPr/>
              <p:nvPr/>
            </p:nvSpPr>
            <p:spPr>
              <a:xfrm>
                <a:off x="2321662" y="4498848"/>
                <a:ext cx="1847088" cy="768096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Executor</a:t>
                </a:r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FIND Replaced by Learned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PASTE: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at Soft Anchor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900" b="0" i="0" dirty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0" dirty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900" b="0" i="0" dirty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0" dirty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 PASTE(</m:t>
                      </m:r>
                      <m:acc>
                        <m:accPr>
                          <m:chr m:val="̂"/>
                          <m:ctrlP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900" b="0" i="0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900" b="0" i="0" dirty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107" name="Executor 107"/>
              <p:cNvSpPr/>
              <p:nvPr/>
            </p:nvSpPr>
            <p:spPr>
              <a:xfrm>
                <a:off x="2321662" y="4498848"/>
                <a:ext cx="1847088" cy="768096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Executor</a:t>
                </a:r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FIND Replaced by Learned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Â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PASTE: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Ŝ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at Soft Anchor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Â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Ŷ_i=Σ_p Â_p PASTE(Ŝ,x_i,p)</a:t>
                </a:r>
                <a:endParaRPr lang="en-US" sz="800" dirty="0"/>
              </a:p>
            </p:txBody>
          </p:sp>
        </mc:Fallback>
      </mc:AlternateContent>
      <p:sp>
        <p:nvSpPr>
          <p:cNvPr id="108" name="Arrow 108"/>
          <p:cNvSpPr/>
          <p:nvPr/>
        </p:nvSpPr>
        <p:spPr>
          <a:xfrm>
            <a:off x="2138782" y="3438144"/>
            <a:ext cx="91440" cy="1"/>
          </a:xfrm>
          <a:custGeom>
            <a:avLst/>
            <a:gdLst/>
            <a:ahLst/>
            <a:cxnLst/>
            <a:rect l="0" t="0" r="r" b="b"/>
            <a:pathLst>
              <a:path w="91440" h="1" fill="none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</a:ln>
        </p:spPr>
      </p:sp>
      <p:sp>
        <p:nvSpPr>
          <p:cNvPr id="109" name="Arrow 109"/>
          <p:cNvSpPr/>
          <p:nvPr/>
        </p:nvSpPr>
        <p:spPr>
          <a:xfrm>
            <a:off x="2230222" y="2304288"/>
            <a:ext cx="1" cy="1572768"/>
          </a:xfrm>
          <a:custGeom>
            <a:avLst/>
            <a:gdLst/>
            <a:ahLst/>
            <a:cxnLst/>
            <a:rect l="0" t="0" r="r" b="b"/>
            <a:pathLst>
              <a:path w="1" h="1572768" fill="none">
                <a:moveTo>
                  <a:pt x="0" y="0"/>
                </a:moveTo>
                <a:lnTo>
                  <a:pt x="0" y="1572768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</a:ln>
        </p:spPr>
      </p:sp>
      <p:sp>
        <p:nvSpPr>
          <p:cNvPr id="110" name="Arrow 110"/>
          <p:cNvSpPr/>
          <p:nvPr/>
        </p:nvSpPr>
        <p:spPr>
          <a:xfrm>
            <a:off x="2230222" y="2304288"/>
            <a:ext cx="91440" cy="1"/>
          </a:xfrm>
          <a:custGeom>
            <a:avLst/>
            <a:gdLst/>
            <a:ahLst/>
            <a:cxnLst/>
            <a:rect l="0" t="0" r="r" b="b"/>
            <a:pathLst>
              <a:path w="91440" h="1" fill="none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p:sp>
        <p:nvSpPr>
          <p:cNvPr id="111" name="Arrow 111"/>
          <p:cNvSpPr/>
          <p:nvPr/>
        </p:nvSpPr>
        <p:spPr>
          <a:xfrm>
            <a:off x="2230222" y="2999232"/>
            <a:ext cx="91440" cy="1"/>
          </a:xfrm>
          <a:custGeom>
            <a:avLst/>
            <a:gdLst/>
            <a:ahLst/>
            <a:cxnLst/>
            <a:rect l="0" t="0" r="r" b="b"/>
            <a:pathLst>
              <a:path w="91440" h="1" fill="none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p:sp>
        <p:nvSpPr>
          <p:cNvPr id="112" name="Arrow 112"/>
          <p:cNvSpPr/>
          <p:nvPr/>
        </p:nvSpPr>
        <p:spPr>
          <a:xfrm>
            <a:off x="2230222" y="3877056"/>
            <a:ext cx="91440" cy="1"/>
          </a:xfrm>
          <a:custGeom>
            <a:avLst/>
            <a:gdLst/>
            <a:ahLst/>
            <a:cxnLst/>
            <a:rect l="0" t="0" r="r" b="b"/>
            <a:pathLst>
              <a:path w="91440" h="1" fill="none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xiTag 113"/>
              <p:cNvSpPr/>
              <p:nvPr/>
            </p:nvSpPr>
            <p:spPr>
              <a:xfrm>
                <a:off x="1773022" y="1819656"/>
                <a:ext cx="365760" cy="23774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4D4D4D"/>
                </a:solidFill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113" name="xiTag 113"/>
              <p:cNvSpPr/>
              <p:nvPr/>
            </p:nvSpPr>
            <p:spPr>
              <a:xfrm>
                <a:off x="1773022" y="1819656"/>
                <a:ext cx="365760" cy="23774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4D4D4D"/>
                </a:solidFill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x_i</a:t>
                </a:r>
                <a:endParaRPr lang="en-US" sz="800" dirty="0"/>
              </a:p>
            </p:txBody>
          </p:sp>
        </mc:Fallback>
      </mc:AlternateContent>
      <p:sp>
        <p:nvSpPr>
          <p:cNvPr id="114" name="Arrow 114"/>
          <p:cNvSpPr/>
          <p:nvPr/>
        </p:nvSpPr>
        <p:spPr>
          <a:xfrm>
            <a:off x="2138782" y="1938528"/>
            <a:ext cx="182880" cy="1"/>
          </a:xfrm>
          <a:custGeom>
            <a:avLst/>
            <a:gdLst/>
            <a:ahLst/>
            <a:cxnLst/>
            <a:rect l="0" t="0" r="r" b="b"/>
            <a:pathLst>
              <a:path w="182880" h="1" fill="none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15875" cap="flat">
            <a:solidFill>
              <a:srgbClr val="4D4D4D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xiTag 115"/>
              <p:cNvSpPr/>
              <p:nvPr/>
            </p:nvSpPr>
            <p:spPr>
              <a:xfrm>
                <a:off x="1773022" y="4764024"/>
                <a:ext cx="365760" cy="23774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4D4D4D"/>
                </a:solidFill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115" name="xiTag 115"/>
              <p:cNvSpPr/>
              <p:nvPr/>
            </p:nvSpPr>
            <p:spPr>
              <a:xfrm>
                <a:off x="1773022" y="4764024"/>
                <a:ext cx="365760" cy="23774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4D4D4D"/>
                </a:solidFill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x_i</a:t>
                </a:r>
                <a:endParaRPr lang="en-US" sz="800" dirty="0"/>
              </a:p>
            </p:txBody>
          </p:sp>
        </mc:Fallback>
      </mc:AlternateContent>
      <p:sp>
        <p:nvSpPr>
          <p:cNvPr id="116" name="Arrow 116"/>
          <p:cNvSpPr/>
          <p:nvPr/>
        </p:nvSpPr>
        <p:spPr>
          <a:xfrm>
            <a:off x="2138782" y="4882896"/>
            <a:ext cx="182880" cy="1"/>
          </a:xfrm>
          <a:custGeom>
            <a:avLst/>
            <a:gdLst/>
            <a:ahLst/>
            <a:cxnLst/>
            <a:rect l="0" t="0" r="r" b="b"/>
            <a:pathLst>
              <a:path w="182880" h="1" fill="none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15875" cap="flat">
            <a:solidFill>
              <a:srgbClr val="4D4D4D"/>
            </a:solidFill>
            <a:round/>
            <a:tailEnd type="triangle" w="med" len="med"/>
          </a:ln>
        </p:spPr>
      </p:sp>
      <p:sp>
        <p:nvSpPr>
          <p:cNvPr id="117" name="Arrow 117"/>
          <p:cNvSpPr/>
          <p:nvPr/>
        </p:nvSpPr>
        <p:spPr>
          <a:xfrm>
            <a:off x="3245206" y="4261104"/>
            <a:ext cx="1" cy="237744"/>
          </a:xfrm>
          <a:custGeom>
            <a:avLst/>
            <a:gdLst/>
            <a:ahLst/>
            <a:cxnLst/>
            <a:rect l="0" t="0" r="r" b="b"/>
            <a:pathLst>
              <a:path w="1" h="237744" fill="none">
                <a:moveTo>
                  <a:pt x="0" y="0"/>
                </a:moveTo>
                <a:lnTo>
                  <a:pt x="0" y="237744"/>
                </a:lnTo>
              </a:path>
            </a:pathLst>
          </a:custGeom>
          <a:noFill/>
          <a:ln w="19050" cap="flat">
            <a:solidFill>
              <a:srgbClr val="AB0520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Label 118"/>
              <p:cNvSpPr/>
              <p:nvPr/>
            </p:nvSpPr>
            <p:spPr>
              <a:xfrm>
                <a:off x="3336646" y="4279392"/>
                <a:ext cx="274320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̂"/>
                          <m:ctrlPr>
                            <a:rPr lang="en-US" sz="105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5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118" name="Label 118"/>
              <p:cNvSpPr/>
              <p:nvPr/>
            </p:nvSpPr>
            <p:spPr>
              <a:xfrm>
                <a:off x="3336646" y="4279392"/>
                <a:ext cx="274320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Â</a:t>
                </a:r>
                <a:endParaRPr lang="en-US" sz="1000" dirty="0"/>
              </a:p>
            </p:txBody>
          </p:sp>
        </mc:Fallback>
      </mc:AlternateContent>
      <p:sp>
        <p:nvSpPr>
          <p:cNvPr id="119" name="Arrow 119"/>
          <p:cNvSpPr/>
          <p:nvPr/>
        </p:nvSpPr>
        <p:spPr>
          <a:xfrm>
            <a:off x="3912718" y="2999232"/>
            <a:ext cx="366674" cy="1499616"/>
          </a:xfrm>
          <a:custGeom>
            <a:avLst/>
            <a:gdLst/>
            <a:ahLst/>
            <a:cxnLst/>
            <a:rect l="0" t="0" r="r" b="b"/>
            <a:pathLst>
              <a:path w="366674" h="1499616" fill="none">
                <a:moveTo>
                  <a:pt x="366674" y="0"/>
                </a:moveTo>
                <a:lnTo>
                  <a:pt x="366674" y="1353312"/>
                </a:lnTo>
                <a:lnTo>
                  <a:pt x="0" y="1353312"/>
                </a:lnTo>
                <a:lnTo>
                  <a:pt x="0" y="1499616"/>
                </a:lnTo>
              </a:path>
            </a:pathLst>
          </a:custGeom>
          <a:noFill/>
          <a:ln w="19050" cap="flat">
            <a:solidFill>
              <a:srgbClr val="AB0520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Label 120"/>
              <p:cNvSpPr/>
              <p:nvPr/>
            </p:nvSpPr>
            <p:spPr>
              <a:xfrm>
                <a:off x="3601822" y="4334256"/>
                <a:ext cx="274320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acc>
                        <m:accPr>
                          <m:chr m:val="̂"/>
                          <m:ctrlPr>
                            <a:rPr lang="en-US" sz="105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5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120" name="Label 120"/>
              <p:cNvSpPr/>
              <p:nvPr/>
            </p:nvSpPr>
            <p:spPr>
              <a:xfrm>
                <a:off x="3601822" y="4334256"/>
                <a:ext cx="274320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Ŝ</a:t>
                </a:r>
                <a:endParaRPr lang="en-US" sz="1000" dirty="0"/>
              </a:p>
            </p:txBody>
          </p:sp>
        </mc:Fallback>
      </mc:AlternateContent>
      <p:sp>
        <p:nvSpPr>
          <p:cNvPr id="121" name="Junction 121"/>
          <p:cNvSpPr/>
          <p:nvPr/>
        </p:nvSpPr>
        <p:spPr>
          <a:xfrm>
            <a:off x="4247388" y="2967228"/>
            <a:ext cx="64008" cy="64008"/>
          </a:xfrm>
          <a:prstGeom prst="rect">
            <a:avLst/>
          </a:prstGeom>
          <a:solidFill>
            <a:srgbClr val="AB0520"/>
          </a:solidFill>
          <a:ln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Ldec 122"/>
              <p:cNvSpPr/>
              <p:nvPr/>
            </p:nvSpPr>
            <p:spPr>
              <a:xfrm>
                <a:off x="4397350" y="1783080"/>
                <a:ext cx="1572768" cy="676656"/>
              </a:xfrm>
              <a:prstGeom prst="roundRect">
                <a:avLst>
                  <a:gd name="adj" fmla="val 9000"/>
                </a:avLst>
              </a:prstGeom>
              <a:solidFill>
                <a:srgbClr val="F5F5F5"/>
              </a:solidFill>
              <a:ln w="9525">
                <a:solidFill>
                  <a:srgbClr val="7F7F7F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Reconstruction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dec</m:t>
                        </m:r>
                      </m:sub>
                    </m:sSub>
                  </m:oMath>
                </a14:m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func>
                        <m:func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9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Negative Log-Likelihood</a:t>
                </a:r>
                <a:endParaRPr lang="en-US" sz="800" dirty="0"/>
              </a:p>
            </p:txBody>
          </p:sp>
        </mc:Choice>
        <mc:Fallback>
          <p:sp>
            <p:nvSpPr>
              <p:cNvPr id="122" name="Ldec 122"/>
              <p:cNvSpPr/>
              <p:nvPr/>
            </p:nvSpPr>
            <p:spPr>
              <a:xfrm>
                <a:off x="4397350" y="1783080"/>
                <a:ext cx="1572768" cy="676656"/>
              </a:xfrm>
              <a:prstGeom prst="roundRect">
                <a:avLst>
                  <a:gd name="adj" fmla="val 9000"/>
                </a:avLst>
              </a:prstGeom>
              <a:solidFill>
                <a:srgbClr val="F5F5F5"/>
              </a:solidFill>
              <a:ln w="9525">
                <a:solidFill>
                  <a:srgbClr val="7F7F7F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Reconstruction </a:t>
                </a:r>
                <a:r>
                  <a:rPr lang="en-US" sz="100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L_dec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None/>
                </a:pPr>
                <a:r>
                  <a:rPr lang="en-US" sz="9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−Σ_i log p_θ(y_i∣x_i,z)</a:t>
                </a:r>
                <a:endParaRPr lang="en-US" sz="9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Negative Log-Likelihood</a:t>
                </a:r>
                <a:endParaRPr lang="en-US" sz="8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Lcommit 123"/>
              <p:cNvSpPr/>
              <p:nvPr/>
            </p:nvSpPr>
            <p:spPr>
              <a:xfrm>
                <a:off x="4397350" y="2660904"/>
                <a:ext cx="1572768" cy="676656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952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Commitment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5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  <m:t>commit</m:t>
                        </m:r>
                      </m:sub>
                    </m:sSub>
                  </m:oMath>
                </a14:m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cells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cell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9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Low Entropy = Crisp Color</a:t>
                </a:r>
                <a:endParaRPr lang="en-US" sz="800" dirty="0"/>
              </a:p>
            </p:txBody>
          </p:sp>
        </mc:Choice>
        <mc:Fallback>
          <p:sp>
            <p:nvSpPr>
              <p:cNvPr id="123" name="Lcommit 123"/>
              <p:cNvSpPr/>
              <p:nvPr/>
            </p:nvSpPr>
            <p:spPr>
              <a:xfrm>
                <a:off x="4397350" y="2660904"/>
                <a:ext cx="1572768" cy="676656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952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Commitment </a:t>
                </a: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L_commit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None/>
                </a:pPr>
                <a:r>
                  <a:rPr lang="en-US" sz="9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Σ_cells H(Ŝ_cell)</a:t>
                </a:r>
                <a:endParaRPr lang="en-US" sz="9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Low Entropy = Crisp Color</a:t>
                </a:r>
                <a:endParaRPr lang="en-US" sz="8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NaiveNote 124"/>
              <p:cNvSpPr/>
              <p:nvPr/>
            </p:nvSpPr>
            <p:spPr>
              <a:xfrm>
                <a:off x="4470502" y="3538728"/>
                <a:ext cx="1499616" cy="676656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9525">
                <a:solidFill>
                  <a:srgbClr val="7F7F7F"/>
                </a:solidFill>
                <a:prstDash val="dash"/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Naive by Design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No Loss of Its Own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One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Shared by Every Pair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True Anchors Differ per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800" dirty="0"/>
              </a:p>
            </p:txBody>
          </p:sp>
        </mc:Choice>
        <mc:Fallback>
          <p:sp>
            <p:nvSpPr>
              <p:cNvPr id="124" name="NaiveNote 124"/>
              <p:cNvSpPr/>
              <p:nvPr/>
            </p:nvSpPr>
            <p:spPr>
              <a:xfrm>
                <a:off x="4470502" y="3538728"/>
                <a:ext cx="1499616" cy="676656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9525">
                <a:solidFill>
                  <a:srgbClr val="7F7F7F"/>
                </a:solidFill>
                <a:prstDash val="dash"/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Naive by Design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No Loss of Its Own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One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Â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Shared by Every Pair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True Anchors Differ per </a:t>
                </a: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x_i</a:t>
                </a:r>
                <a:endParaRPr lang="en-US" sz="8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Lexec 125"/>
              <p:cNvSpPr/>
              <p:nvPr/>
            </p:nvSpPr>
            <p:spPr>
              <a:xfrm>
                <a:off x="4397350" y="4544568"/>
                <a:ext cx="1572768" cy="676656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952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Execution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5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  <m:t>exec</m:t>
                        </m:r>
                      </m:sub>
                    </m:sSub>
                  </m:oMath>
                </a14:m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CE(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9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Cross-Entropy vs. Targets</a:t>
                </a:r>
                <a:endParaRPr lang="en-US" sz="800" dirty="0"/>
              </a:p>
            </p:txBody>
          </p:sp>
        </mc:Choice>
        <mc:Fallback>
          <p:sp>
            <p:nvSpPr>
              <p:cNvPr id="125" name="Lexec 125"/>
              <p:cNvSpPr/>
              <p:nvPr/>
            </p:nvSpPr>
            <p:spPr>
              <a:xfrm>
                <a:off x="4397350" y="4544568"/>
                <a:ext cx="1572768" cy="676656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9525">
                <a:solidFill>
                  <a:srgbClr val="AB0520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Execution </a:t>
                </a: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L_exec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None/>
                </a:pPr>
                <a:r>
                  <a:rPr lang="en-US" sz="9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Σ_i CE(Ŷ_i,y_i)</a:t>
                </a:r>
                <a:endParaRPr lang="en-US" sz="9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Cross-Entropy vs. Targets</a:t>
                </a:r>
                <a:endParaRPr lang="en-US" sz="800" dirty="0"/>
              </a:p>
            </p:txBody>
          </p:sp>
        </mc:Fallback>
      </mc:AlternateContent>
      <p:sp>
        <p:nvSpPr>
          <p:cNvPr id="126" name="Arrow 126"/>
          <p:cNvSpPr/>
          <p:nvPr/>
        </p:nvSpPr>
        <p:spPr>
          <a:xfrm>
            <a:off x="4168750" y="2121408"/>
            <a:ext cx="228600" cy="1"/>
          </a:xfrm>
          <a:custGeom>
            <a:avLst/>
            <a:gdLst/>
            <a:ahLst/>
            <a:cxnLst/>
            <a:rect l="0" t="0" r="r" b="b"/>
            <a:pathLst>
              <a:path w="228600" h="1" fill="none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Label 127"/>
              <p:cNvSpPr/>
              <p:nvPr/>
            </p:nvSpPr>
            <p:spPr>
              <a:xfrm>
                <a:off x="4168750" y="1874520"/>
                <a:ext cx="22860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900" b="0" i="0" dirty="0">
                              <a:solidFill>
                                <a:srgbClr val="0C234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900" b="0" i="0" dirty="0">
                                  <a:solidFill>
                                    <a:srgbClr val="0C234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0" dirty="0">
                                  <a:solidFill>
                                    <a:srgbClr val="0C234B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900" b="0" i="0" dirty="0">
                              <a:solidFill>
                                <a:srgbClr val="0C234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127" name="Label 127"/>
              <p:cNvSpPr/>
              <p:nvPr/>
            </p:nvSpPr>
            <p:spPr>
              <a:xfrm>
                <a:off x="4168750" y="1874520"/>
                <a:ext cx="22860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ŷ_i</a:t>
                </a:r>
                <a:endParaRPr lang="en-US" sz="800" dirty="0"/>
              </a:p>
            </p:txBody>
          </p:sp>
        </mc:Fallback>
      </mc:AlternateContent>
      <p:sp>
        <p:nvSpPr>
          <p:cNvPr id="128" name="Arrow 128"/>
          <p:cNvSpPr/>
          <p:nvPr/>
        </p:nvSpPr>
        <p:spPr>
          <a:xfrm>
            <a:off x="4168750" y="2999232"/>
            <a:ext cx="228600" cy="1"/>
          </a:xfrm>
          <a:custGeom>
            <a:avLst/>
            <a:gdLst/>
            <a:ahLst/>
            <a:cxnLst/>
            <a:rect l="0" t="0" r="r" b="b"/>
            <a:pathLst>
              <a:path w="228600" h="1" fill="none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9050" cap="flat">
            <a:solidFill>
              <a:srgbClr val="AB0520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Label 129"/>
              <p:cNvSpPr/>
              <p:nvPr/>
            </p:nvSpPr>
            <p:spPr>
              <a:xfrm>
                <a:off x="4150462" y="2752344"/>
                <a:ext cx="147218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lang="en-US" sz="9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9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129" name="Label 129"/>
              <p:cNvSpPr/>
              <p:nvPr/>
            </p:nvSpPr>
            <p:spPr>
              <a:xfrm>
                <a:off x="4150462" y="2752344"/>
                <a:ext cx="147218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Ŝ</a:t>
                </a:r>
                <a:endParaRPr lang="en-US" sz="800" dirty="0"/>
              </a:p>
            </p:txBody>
          </p:sp>
        </mc:Fallback>
      </mc:AlternateContent>
      <p:sp>
        <p:nvSpPr>
          <p:cNvPr id="130" name="Arrow 130"/>
          <p:cNvSpPr/>
          <p:nvPr/>
        </p:nvSpPr>
        <p:spPr>
          <a:xfrm>
            <a:off x="4168750" y="4882896"/>
            <a:ext cx="228600" cy="1"/>
          </a:xfrm>
          <a:custGeom>
            <a:avLst/>
            <a:gdLst/>
            <a:ahLst/>
            <a:cxnLst/>
            <a:rect l="0" t="0" r="r" b="b"/>
            <a:pathLst>
              <a:path w="228600" h="1" fill="none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9050" cap="flat">
            <a:solidFill>
              <a:srgbClr val="AB0520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Label 131"/>
              <p:cNvSpPr/>
              <p:nvPr/>
            </p:nvSpPr>
            <p:spPr>
              <a:xfrm>
                <a:off x="4168750" y="4636008"/>
                <a:ext cx="22860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9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900" b="0" i="0" dirty="0">
                                  <a:solidFill>
                                    <a:srgbClr val="AB052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0" dirty="0">
                                  <a:solidFill>
                                    <a:srgbClr val="AB052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9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131" name="Label 131"/>
              <p:cNvSpPr/>
              <p:nvPr/>
            </p:nvSpPr>
            <p:spPr>
              <a:xfrm>
                <a:off x="4168750" y="4636008"/>
                <a:ext cx="22860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Ŷ_i</a:t>
                </a:r>
                <a:endParaRPr lang="en-US" sz="800" dirty="0"/>
              </a:p>
            </p:txBody>
          </p:sp>
        </mc:Fallback>
      </mc:AlternateContent>
      <p:sp>
        <p:nvSpPr>
          <p:cNvPr id="132" name="Arrow 132"/>
          <p:cNvSpPr/>
          <p:nvPr/>
        </p:nvSpPr>
        <p:spPr>
          <a:xfrm>
            <a:off x="5970118" y="2121408"/>
            <a:ext cx="118872" cy="1"/>
          </a:xfrm>
          <a:custGeom>
            <a:avLst/>
            <a:gdLst/>
            <a:ahLst/>
            <a:cxnLst/>
            <a:rect l="0" t="0" r="r" b="b"/>
            <a:pathLst>
              <a:path w="118872" h="1" fill="none">
                <a:moveTo>
                  <a:pt x="0" y="0"/>
                </a:moveTo>
                <a:lnTo>
                  <a:pt x="118872" y="0"/>
                </a:lnTo>
              </a:path>
            </a:pathLst>
          </a:custGeom>
          <a:noFill/>
          <a:ln w="15875" cap="flat">
            <a:solidFill>
              <a:srgbClr val="7F7F7F"/>
            </a:solidFill>
            <a:round/>
          </a:ln>
        </p:spPr>
      </p:sp>
      <p:sp>
        <p:nvSpPr>
          <p:cNvPr id="133" name="Arrow 133"/>
          <p:cNvSpPr/>
          <p:nvPr/>
        </p:nvSpPr>
        <p:spPr>
          <a:xfrm>
            <a:off x="5970118" y="2999232"/>
            <a:ext cx="118872" cy="1"/>
          </a:xfrm>
          <a:custGeom>
            <a:avLst/>
            <a:gdLst/>
            <a:ahLst/>
            <a:cxnLst/>
            <a:rect l="0" t="0" r="r" b="b"/>
            <a:pathLst>
              <a:path w="118872" h="1" fill="none">
                <a:moveTo>
                  <a:pt x="0" y="0"/>
                </a:moveTo>
                <a:lnTo>
                  <a:pt x="118872" y="0"/>
                </a:lnTo>
              </a:path>
            </a:pathLst>
          </a:custGeom>
          <a:noFill/>
          <a:ln w="15875" cap="flat">
            <a:solidFill>
              <a:srgbClr val="7F7F7F"/>
            </a:solidFill>
            <a:round/>
          </a:ln>
        </p:spPr>
      </p:sp>
      <p:sp>
        <p:nvSpPr>
          <p:cNvPr id="134" name="Arrow 134"/>
          <p:cNvSpPr/>
          <p:nvPr/>
        </p:nvSpPr>
        <p:spPr>
          <a:xfrm>
            <a:off x="5970118" y="4882896"/>
            <a:ext cx="118872" cy="1"/>
          </a:xfrm>
          <a:custGeom>
            <a:avLst/>
            <a:gdLst/>
            <a:ahLst/>
            <a:cxnLst/>
            <a:rect l="0" t="0" r="r" b="b"/>
            <a:pathLst>
              <a:path w="118872" h="1" fill="none">
                <a:moveTo>
                  <a:pt x="0" y="0"/>
                </a:moveTo>
                <a:lnTo>
                  <a:pt x="118872" y="0"/>
                </a:lnTo>
              </a:path>
            </a:pathLst>
          </a:custGeom>
          <a:noFill/>
          <a:ln w="15875" cap="flat">
            <a:solidFill>
              <a:srgbClr val="7F7F7F"/>
            </a:solidFill>
            <a:round/>
          </a:ln>
        </p:spPr>
      </p:sp>
      <p:sp>
        <p:nvSpPr>
          <p:cNvPr id="135" name="Arrow 135"/>
          <p:cNvSpPr/>
          <p:nvPr/>
        </p:nvSpPr>
        <p:spPr>
          <a:xfrm>
            <a:off x="5970118" y="2121408"/>
            <a:ext cx="118872" cy="3621024"/>
          </a:xfrm>
          <a:custGeom>
            <a:avLst/>
            <a:gdLst/>
            <a:ahLst/>
            <a:cxnLst/>
            <a:rect l="0" t="0" r="r" b="b"/>
            <a:pathLst>
              <a:path w="118872" h="3621024" fill="none">
                <a:moveTo>
                  <a:pt x="118872" y="0"/>
                </a:moveTo>
                <a:lnTo>
                  <a:pt x="118872" y="3621024"/>
                </a:lnTo>
                <a:lnTo>
                  <a:pt x="0" y="3621024"/>
                </a:lnTo>
              </a:path>
            </a:pathLst>
          </a:custGeom>
          <a:noFill/>
          <a:ln w="15875" cap="flat">
            <a:solidFill>
              <a:srgbClr val="7F7F7F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Ltotal 136"/>
              <p:cNvSpPr/>
              <p:nvPr/>
            </p:nvSpPr>
            <p:spPr>
              <a:xfrm>
                <a:off x="2321662" y="5394960"/>
                <a:ext cx="3648456" cy="694944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1F1F1F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Total Objective (All Terms Minimized)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total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dec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exec</m:t>
                          </m:r>
                        </m:sub>
                      </m:sSub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exec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commit</m:t>
                          </m:r>
                        </m:sub>
                      </m:sSub>
                      <m:sSub>
                        <m:sSub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commit</m:t>
                          </m:r>
                        </m:sub>
                      </m:sSub>
                    </m:oMath>
                  </m:oMathPara>
                </a14:m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Update: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US" sz="9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m:rPr>
                        <m:sty m:val="p"/>
                      </m:rPr>
                      <a:rPr lang="en-US" sz="9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sSub>
                      <m:sSubPr>
                        <m:ctrlP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90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total</m:t>
                        </m:r>
                      </m:sub>
                    </m:sSub>
                  </m:oMath>
                </a14:m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Initial Weights: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exec</m:t>
                        </m:r>
                      </m:sub>
                    </m:sSub>
                    <m:r>
                      <m:rPr>
                        <m:sty m:val="p"/>
                      </m:rP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=1.0, </m:t>
                    </m:r>
                    <m:sSub>
                      <m:sSubPr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commit</m:t>
                        </m:r>
                      </m:sub>
                    </m:sSub>
                    <m:r>
                      <m:rPr>
                        <m:sty m:val="p"/>
                      </m:rP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 lang="en-US" sz="800" dirty="0"/>
              </a:p>
            </p:txBody>
          </p:sp>
        </mc:Choice>
        <mc:Fallback>
          <p:sp>
            <p:nvSpPr>
              <p:cNvPr id="136" name="Ltotal 136"/>
              <p:cNvSpPr/>
              <p:nvPr/>
            </p:nvSpPr>
            <p:spPr>
              <a:xfrm>
                <a:off x="2321662" y="5394960"/>
                <a:ext cx="3648456" cy="694944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1F1F1F"/>
                </a:solidFill>
              </a:ln>
            </p:spPr>
            <p:txBody>
              <a:bodyPr wrap="square" lIns="54864" tIns="36576" rIns="54864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Total Objective (All Terms Minimized)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L_total=L_dec+λ_execL_exec+λ_commitL_commit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Update:  </a:t>
                </a: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z_k=z_k−1−α∇_zL_total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Initial Weights: 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λ_exec=1.0, λ_commit=0.1</a:t>
                </a:r>
                <a:endParaRPr lang="en-US" sz="800" dirty="0"/>
              </a:p>
            </p:txBody>
          </p:sp>
        </mc:Fallback>
      </mc:AlternateContent>
      <p:sp>
        <p:nvSpPr>
          <p:cNvPr id="137" name="Arrow 137"/>
          <p:cNvSpPr/>
          <p:nvPr/>
        </p:nvSpPr>
        <p:spPr>
          <a:xfrm>
            <a:off x="1635862" y="3703320"/>
            <a:ext cx="685800" cy="2039112"/>
          </a:xfrm>
          <a:custGeom>
            <a:avLst/>
            <a:gdLst/>
            <a:ahLst/>
            <a:cxnLst/>
            <a:rect l="0" t="0" r="r" b="b"/>
            <a:pathLst>
              <a:path w="685800" h="2039112" fill="none">
                <a:moveTo>
                  <a:pt x="685800" y="2039112"/>
                </a:moveTo>
                <a:lnTo>
                  <a:pt x="0" y="2039112"/>
                </a:lnTo>
                <a:lnTo>
                  <a:pt x="0" y="0"/>
                </a:lnTo>
              </a:path>
            </a:pathLst>
          </a:custGeom>
          <a:noFill/>
          <a:ln w="22225" cap="flat">
            <a:solidFill>
              <a:srgbClr val="AB0520"/>
            </a:solidFill>
            <a:prstDash val="dash"/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Label 138"/>
              <p:cNvSpPr/>
              <p:nvPr/>
            </p:nvSpPr>
            <p:spPr>
              <a:xfrm>
                <a:off x="1379830" y="4846320"/>
                <a:ext cx="237744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b>
                        <m:sSubPr>
                          <m:ctrlPr>
                            <a:rPr lang="en-US" sz="105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05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138" name="Label 138"/>
              <p:cNvSpPr/>
              <p:nvPr/>
            </p:nvSpPr>
            <p:spPr>
              <a:xfrm>
                <a:off x="1379830" y="4846320"/>
                <a:ext cx="237744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∇_z</a:t>
                </a:r>
                <a:endParaRPr lang="en-US" sz="10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Label 139"/>
              <p:cNvSpPr/>
              <p:nvPr/>
            </p:nvSpPr>
            <p:spPr>
              <a:xfrm>
                <a:off x="6934810" y="1371600"/>
                <a:ext cx="1463040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Outputs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10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endParaRPr lang="en-US" sz="1050" dirty="0"/>
              </a:p>
            </p:txBody>
          </p:sp>
        </mc:Choice>
        <mc:Fallback>
          <p:sp>
            <p:nvSpPr>
              <p:cNvPr id="139" name="Label 139"/>
              <p:cNvSpPr/>
              <p:nvPr/>
            </p:nvSpPr>
            <p:spPr>
              <a:xfrm>
                <a:off x="6934810" y="1371600"/>
                <a:ext cx="1463040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Outputs at </a:t>
                </a:r>
                <a:r>
                  <a:rPr lang="en-US" sz="105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z^*</a:t>
                </a:r>
                <a:endParaRPr lang="en-US" sz="105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OutDec 140"/>
              <p:cNvSpPr/>
              <p:nvPr/>
            </p:nvSpPr>
            <p:spPr>
              <a:xfrm>
                <a:off x="6934810" y="1737360"/>
                <a:ext cx="1463040" cy="768096"/>
              </a:xfrm>
              <a:prstGeom prst="roundRect">
                <a:avLst>
                  <a:gd name="adj" fmla="val 9000"/>
                </a:avLst>
              </a:prstGeom>
              <a:solidFill>
                <a:srgbClr val="E9EEF5"/>
              </a:solidFill>
              <a:ln w="12700">
                <a:solidFill>
                  <a:srgbClr val="0C234B"/>
                </a:solidFill>
              </a:ln>
            </p:spPr>
            <p:txBody>
              <a:bodyPr wrap="square" lIns="18288" tIns="36576" rIns="18288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Predicted Output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9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argmax</m:t>
                          </m:r>
                        </m:fName>
                        <m:e>
                          <m:sSub>
                            <m:sSubPr>
                              <m:ctrlP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9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*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9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9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Vanilla LPN Readout</a:t>
                </a:r>
                <a:endParaRPr lang="en-US" sz="800" dirty="0"/>
              </a:p>
            </p:txBody>
          </p:sp>
        </mc:Choice>
        <mc:Fallback>
          <p:sp>
            <p:nvSpPr>
              <p:cNvPr id="140" name="OutDec 140"/>
              <p:cNvSpPr/>
              <p:nvPr/>
            </p:nvSpPr>
            <p:spPr>
              <a:xfrm>
                <a:off x="6934810" y="1737360"/>
                <a:ext cx="1463040" cy="768096"/>
              </a:xfrm>
              <a:prstGeom prst="roundRect">
                <a:avLst>
                  <a:gd name="adj" fmla="val 9000"/>
                </a:avLst>
              </a:prstGeom>
              <a:solidFill>
                <a:srgbClr val="E9EEF5"/>
              </a:solidFill>
              <a:ln w="12700">
                <a:solidFill>
                  <a:srgbClr val="0C234B"/>
                </a:solidFill>
              </a:ln>
            </p:spPr>
            <p:txBody>
              <a:bodyPr wrap="square" lIns="18288" tIns="36576" rIns="18288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Predicted Output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9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ŷ=argmax p_θ(y∣x,z^*)</a:t>
                </a:r>
                <a:endParaRPr lang="en-US" sz="9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Vanilla LPN Readout</a:t>
                </a:r>
                <a:endParaRPr lang="en-US" sz="800" dirty="0"/>
              </a:p>
            </p:txBody>
          </p:sp>
        </mc:Fallback>
      </mc:AlternateContent>
      <p:sp>
        <p:nvSpPr>
          <p:cNvPr id="141" name="Arrow 141"/>
          <p:cNvSpPr/>
          <p:nvPr/>
        </p:nvSpPr>
        <p:spPr>
          <a:xfrm>
            <a:off x="6797650" y="2121408"/>
            <a:ext cx="137160" cy="1"/>
          </a:xfrm>
          <a:custGeom>
            <a:avLst/>
            <a:gdLst/>
            <a:ahLst/>
            <a:cxnLst/>
            <a:rect l="0" t="0" r="r" b="b"/>
            <a:pathLst>
              <a:path w="137160" h="1" fill="none">
                <a:moveTo>
                  <a:pt x="0" y="0"/>
                </a:moveTo>
                <a:lnTo>
                  <a:pt x="137160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OutProg 142"/>
              <p:cNvSpPr/>
              <p:nvPr/>
            </p:nvSpPr>
            <p:spPr>
              <a:xfrm>
                <a:off x="6934810" y="2615184"/>
                <a:ext cx="1463040" cy="2468880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36576" tIns="64008" rIns="36576" bIns="36576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Interpretable Program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0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argmax</m:t>
                          </m:r>
                        </m:fName>
                        <m:e>
                          <m: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m:rPr>
                              <m:sty m:val="p"/>
                            </m:r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0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0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*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0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argmax</m:t>
                          </m:r>
                        </m:fName>
                        <m:e>
                          <m: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m:rPr>
                              <m:sty m:val="p"/>
                            </m:r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0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00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*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0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142" name="OutProg 142"/>
              <p:cNvSpPr/>
              <p:nvPr/>
            </p:nvSpPr>
            <p:spPr>
              <a:xfrm>
                <a:off x="6934810" y="2615184"/>
                <a:ext cx="1463040" cy="2468880"/>
              </a:xfrm>
              <a:prstGeom prst="roundRect">
                <a:avLst>
                  <a:gd name="adj" fmla="val 9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36576" tIns="64008" rIns="36576" bIns="36576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Interpretable Program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T̂=argmax h(z^*)</a:t>
                </a:r>
                <a:endParaRPr lang="en-US" sz="1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p̂=argmax g(z^*)</a:t>
                </a:r>
                <a:endParaRPr lang="en-US" sz="1000" dirty="0"/>
              </a:p>
            </p:txBody>
          </p:sp>
        </mc:Fallback>
      </mc:AlternateContent>
      <p:sp>
        <p:nvSpPr>
          <p:cNvPr id="143" name="HardTile 143"/>
          <p:cNvSpPr/>
          <p:nvPr/>
        </p:nvSpPr>
        <p:spPr>
          <a:xfrm>
            <a:off x="7135978" y="3401568"/>
            <a:ext cx="219456" cy="219456"/>
          </a:xfrm>
          <a:prstGeom prst="rect">
            <a:avLst/>
          </a:prstGeom>
          <a:solidFill>
            <a:srgbClr val="FF851B"/>
          </a:solidFill>
          <a:ln>
            <a:noFill/>
          </a:ln>
        </p:spPr>
      </p:sp>
      <p:sp>
        <p:nvSpPr>
          <p:cNvPr id="144" name="HardTile 144"/>
          <p:cNvSpPr/>
          <p:nvPr/>
        </p:nvSpPr>
        <p:spPr>
          <a:xfrm>
            <a:off x="7355434" y="3401568"/>
            <a:ext cx="219456" cy="219456"/>
          </a:xfrm>
          <a:prstGeom prst="rect">
            <a:avLst/>
          </a:prstGeom>
          <a:solidFill>
            <a:srgbClr val="7FDBFF"/>
          </a:solidFill>
          <a:ln>
            <a:noFill/>
          </a:ln>
        </p:spPr>
      </p:sp>
      <p:sp>
        <p:nvSpPr>
          <p:cNvPr id="145" name="HardTile 145"/>
          <p:cNvSpPr/>
          <p:nvPr/>
        </p:nvSpPr>
        <p:spPr>
          <a:xfrm>
            <a:off x="7135978" y="3621024"/>
            <a:ext cx="219456" cy="219456"/>
          </a:xfrm>
          <a:prstGeom prst="rect">
            <a:avLst/>
          </a:prstGeom>
          <a:solidFill>
            <a:srgbClr val="7FDBFF"/>
          </a:solidFill>
          <a:ln>
            <a:noFill/>
          </a:ln>
        </p:spPr>
      </p:sp>
      <p:sp>
        <p:nvSpPr>
          <p:cNvPr id="146" name="HardTile 146"/>
          <p:cNvSpPr/>
          <p:nvPr/>
        </p:nvSpPr>
        <p:spPr>
          <a:xfrm>
            <a:off x="7355434" y="3621024"/>
            <a:ext cx="219456" cy="219456"/>
          </a:xfrm>
          <a:prstGeom prst="rect">
            <a:avLst/>
          </a:prstGeom>
          <a:solidFill>
            <a:srgbClr val="870C25"/>
          </a:solidFill>
          <a:ln>
            <a:noFill/>
          </a:ln>
        </p:spPr>
      </p:sp>
      <p:sp>
        <p:nvSpPr>
          <p:cNvPr id="147" name="HardTileLine 147"/>
          <p:cNvSpPr/>
          <p:nvPr/>
        </p:nvSpPr>
        <p:spPr>
          <a:xfrm>
            <a:off x="7135978" y="3401568"/>
            <a:ext cx="219456" cy="219456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148" name="HardTileLine 148"/>
          <p:cNvSpPr/>
          <p:nvPr/>
        </p:nvSpPr>
        <p:spPr>
          <a:xfrm>
            <a:off x="7355434" y="3401568"/>
            <a:ext cx="219456" cy="219456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149" name="HardTileLine 149"/>
          <p:cNvSpPr/>
          <p:nvPr/>
        </p:nvSpPr>
        <p:spPr>
          <a:xfrm>
            <a:off x="7135978" y="3621024"/>
            <a:ext cx="219456" cy="219456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150" name="HardTileLine 150"/>
          <p:cNvSpPr/>
          <p:nvPr/>
        </p:nvSpPr>
        <p:spPr>
          <a:xfrm>
            <a:off x="7355434" y="3621024"/>
            <a:ext cx="219456" cy="219456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151" name="HardTileFrame 151"/>
          <p:cNvSpPr/>
          <p:nvPr/>
        </p:nvSpPr>
        <p:spPr>
          <a:xfrm>
            <a:off x="7135978" y="3401568"/>
            <a:ext cx="438912" cy="438912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52" name="HardAnchor 152"/>
          <p:cNvSpPr/>
          <p:nvPr/>
        </p:nvSpPr>
        <p:spPr>
          <a:xfrm>
            <a:off x="7757770" y="3401568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3" name="HardAnchor 153"/>
          <p:cNvSpPr/>
          <p:nvPr/>
        </p:nvSpPr>
        <p:spPr>
          <a:xfrm>
            <a:off x="7867498" y="3401568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4" name="HardAnchor 154"/>
          <p:cNvSpPr/>
          <p:nvPr/>
        </p:nvSpPr>
        <p:spPr>
          <a:xfrm>
            <a:off x="7977226" y="3401568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5" name="HardAnchor 155"/>
          <p:cNvSpPr/>
          <p:nvPr/>
        </p:nvSpPr>
        <p:spPr>
          <a:xfrm>
            <a:off x="8086954" y="3401568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6" name="HardAnchor 156"/>
          <p:cNvSpPr/>
          <p:nvPr/>
        </p:nvSpPr>
        <p:spPr>
          <a:xfrm>
            <a:off x="7757770" y="3511296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7" name="HardAnchor 157"/>
          <p:cNvSpPr/>
          <p:nvPr/>
        </p:nvSpPr>
        <p:spPr>
          <a:xfrm>
            <a:off x="7867498" y="3511296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8" name="HardAnchor 158"/>
          <p:cNvSpPr/>
          <p:nvPr/>
        </p:nvSpPr>
        <p:spPr>
          <a:xfrm>
            <a:off x="7977226" y="3511296"/>
            <a:ext cx="109728" cy="109728"/>
          </a:xfrm>
          <a:prstGeom prst="rect">
            <a:avLst/>
          </a:prstGeom>
          <a:solidFill>
            <a:srgbClr val="0074D9"/>
          </a:solidFill>
          <a:ln>
            <a:noFill/>
          </a:ln>
        </p:spPr>
      </p:sp>
      <p:sp>
        <p:nvSpPr>
          <p:cNvPr id="159" name="HardAnchor 159"/>
          <p:cNvSpPr/>
          <p:nvPr/>
        </p:nvSpPr>
        <p:spPr>
          <a:xfrm>
            <a:off x="8086954" y="3511296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0" name="HardAnchor 160"/>
          <p:cNvSpPr/>
          <p:nvPr/>
        </p:nvSpPr>
        <p:spPr>
          <a:xfrm>
            <a:off x="7757770" y="3621024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1" name="HardAnchor 161"/>
          <p:cNvSpPr/>
          <p:nvPr/>
        </p:nvSpPr>
        <p:spPr>
          <a:xfrm>
            <a:off x="7867498" y="3621024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2" name="HardAnchor 162"/>
          <p:cNvSpPr/>
          <p:nvPr/>
        </p:nvSpPr>
        <p:spPr>
          <a:xfrm>
            <a:off x="7977226" y="3621024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3" name="HardAnchor 163"/>
          <p:cNvSpPr/>
          <p:nvPr/>
        </p:nvSpPr>
        <p:spPr>
          <a:xfrm>
            <a:off x="8086954" y="3621024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4" name="HardAnchor 164"/>
          <p:cNvSpPr/>
          <p:nvPr/>
        </p:nvSpPr>
        <p:spPr>
          <a:xfrm>
            <a:off x="7757770" y="3730752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5" name="HardAnchor 165"/>
          <p:cNvSpPr/>
          <p:nvPr/>
        </p:nvSpPr>
        <p:spPr>
          <a:xfrm>
            <a:off x="7867498" y="3730752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6" name="HardAnchor 166"/>
          <p:cNvSpPr/>
          <p:nvPr/>
        </p:nvSpPr>
        <p:spPr>
          <a:xfrm>
            <a:off x="7977226" y="3730752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7" name="HardAnchor 167"/>
          <p:cNvSpPr/>
          <p:nvPr/>
        </p:nvSpPr>
        <p:spPr>
          <a:xfrm>
            <a:off x="8086954" y="3730752"/>
            <a:ext cx="10972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8" name="HardAnchorLine 168"/>
          <p:cNvSpPr/>
          <p:nvPr/>
        </p:nvSpPr>
        <p:spPr>
          <a:xfrm>
            <a:off x="7757770" y="3401568"/>
            <a:ext cx="109728" cy="10972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69" name="HardAnchorLine 169"/>
          <p:cNvSpPr/>
          <p:nvPr/>
        </p:nvSpPr>
        <p:spPr>
          <a:xfrm>
            <a:off x="7867498" y="3401568"/>
            <a:ext cx="109728" cy="10972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0" name="HardAnchorLine 170"/>
          <p:cNvSpPr/>
          <p:nvPr/>
        </p:nvSpPr>
        <p:spPr>
          <a:xfrm>
            <a:off x="7977226" y="3401568"/>
            <a:ext cx="109728" cy="10972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1" name="HardAnchorLine 171"/>
          <p:cNvSpPr/>
          <p:nvPr/>
        </p:nvSpPr>
        <p:spPr>
          <a:xfrm>
            <a:off x="8086954" y="3401568"/>
            <a:ext cx="109728" cy="10972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2" name="HardAnchorLine 172"/>
          <p:cNvSpPr/>
          <p:nvPr/>
        </p:nvSpPr>
        <p:spPr>
          <a:xfrm>
            <a:off x="7757770" y="3511296"/>
            <a:ext cx="109728" cy="10972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3" name="HardAnchorLine 173"/>
          <p:cNvSpPr/>
          <p:nvPr/>
        </p:nvSpPr>
        <p:spPr>
          <a:xfrm>
            <a:off x="7867498" y="3511296"/>
            <a:ext cx="109728" cy="10972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4" name="HardAnchorLine 174"/>
          <p:cNvSpPr/>
          <p:nvPr/>
        </p:nvSpPr>
        <p:spPr>
          <a:xfrm>
            <a:off x="7977226" y="3511296"/>
            <a:ext cx="109728" cy="10972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5" name="HardAnchorLine 175"/>
          <p:cNvSpPr/>
          <p:nvPr/>
        </p:nvSpPr>
        <p:spPr>
          <a:xfrm>
            <a:off x="8086954" y="3511296"/>
            <a:ext cx="109728" cy="10972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6" name="HardAnchorLine 176"/>
          <p:cNvSpPr/>
          <p:nvPr/>
        </p:nvSpPr>
        <p:spPr>
          <a:xfrm>
            <a:off x="7757770" y="3621024"/>
            <a:ext cx="109728" cy="10972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7" name="HardAnchorLine 177"/>
          <p:cNvSpPr/>
          <p:nvPr/>
        </p:nvSpPr>
        <p:spPr>
          <a:xfrm>
            <a:off x="7867498" y="3621024"/>
            <a:ext cx="109728" cy="10972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8" name="HardAnchorLine 178"/>
          <p:cNvSpPr/>
          <p:nvPr/>
        </p:nvSpPr>
        <p:spPr>
          <a:xfrm>
            <a:off x="7977226" y="3621024"/>
            <a:ext cx="109728" cy="10972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9" name="HardAnchorLine 179"/>
          <p:cNvSpPr/>
          <p:nvPr/>
        </p:nvSpPr>
        <p:spPr>
          <a:xfrm>
            <a:off x="8086954" y="3621024"/>
            <a:ext cx="109728" cy="10972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80" name="HardAnchorLine 180"/>
          <p:cNvSpPr/>
          <p:nvPr/>
        </p:nvSpPr>
        <p:spPr>
          <a:xfrm>
            <a:off x="7757770" y="3730752"/>
            <a:ext cx="109728" cy="10972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81" name="HardAnchorLine 181"/>
          <p:cNvSpPr/>
          <p:nvPr/>
        </p:nvSpPr>
        <p:spPr>
          <a:xfrm>
            <a:off x="7867498" y="3730752"/>
            <a:ext cx="109728" cy="10972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82" name="HardAnchorLine 182"/>
          <p:cNvSpPr/>
          <p:nvPr/>
        </p:nvSpPr>
        <p:spPr>
          <a:xfrm>
            <a:off x="7977226" y="3730752"/>
            <a:ext cx="109728" cy="10972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83" name="HardAnchorLine 183"/>
          <p:cNvSpPr/>
          <p:nvPr/>
        </p:nvSpPr>
        <p:spPr>
          <a:xfrm>
            <a:off x="8086954" y="3730752"/>
            <a:ext cx="109728" cy="109728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84" name="HardAnchorFrame 184"/>
          <p:cNvSpPr/>
          <p:nvPr/>
        </p:nvSpPr>
        <p:spPr>
          <a:xfrm>
            <a:off x="7757770" y="3401568"/>
            <a:ext cx="438912" cy="438912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5" name="Label 185"/>
              <p:cNvSpPr/>
              <p:nvPr/>
            </p:nvSpPr>
            <p:spPr>
              <a:xfrm>
                <a:off x="7026250" y="3886200"/>
                <a:ext cx="658368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lang="en-US" sz="105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5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185" name="Label 185"/>
              <p:cNvSpPr/>
              <p:nvPr/>
            </p:nvSpPr>
            <p:spPr>
              <a:xfrm>
                <a:off x="7026250" y="3886200"/>
                <a:ext cx="658368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T̂</a:t>
                </a:r>
                <a:endParaRPr lang="en-US" sz="10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Label 186"/>
              <p:cNvSpPr/>
              <p:nvPr/>
            </p:nvSpPr>
            <p:spPr>
              <a:xfrm>
                <a:off x="7648042" y="3886200"/>
                <a:ext cx="658368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lang="en-US" sz="105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5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186" name="Label 186"/>
              <p:cNvSpPr/>
              <p:nvPr/>
            </p:nvSpPr>
            <p:spPr>
              <a:xfrm>
                <a:off x="7648042" y="3886200"/>
                <a:ext cx="658368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p̂</a:t>
                </a:r>
                <a:endParaRPr lang="en-US" sz="10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Label 187"/>
              <p:cNvSpPr/>
              <p:nvPr/>
            </p:nvSpPr>
            <p:spPr>
              <a:xfrm>
                <a:off x="6971386" y="4187952"/>
                <a:ext cx="1389888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Program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=(</m:t>
                    </m:r>
                    <m:acc>
                      <m:accPr>
                        <m:chr m:val="̂"/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m:rPr>
                        <m:sty m:val="p"/>
                      </m:rP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</m:oMath>
                </a14:m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vs. </a:t>
                </a:r>
                <a14:m>
                  <m:oMath xmlns:m="http://schemas.openxmlformats.org/officeDocument/2006/math">
                    <m:r>
                      <a:rPr lang="en-US" sz="90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, Cell-by-Cell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90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vs. Each Pair's Anchor</a:t>
                </a:r>
                <a:endParaRPr lang="en-US" sz="800" dirty="0"/>
              </a:p>
            </p:txBody>
          </p:sp>
        </mc:Choice>
        <mc:Fallback>
          <p:sp>
            <p:nvSpPr>
              <p:cNvPr id="187" name="Label 187"/>
              <p:cNvSpPr/>
              <p:nvPr/>
            </p:nvSpPr>
            <p:spPr>
              <a:xfrm>
                <a:off x="6971386" y="4187952"/>
                <a:ext cx="1389888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Program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=(T̂,p̂)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T̂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vs. 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T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, Cell-by-Cell</a:t>
                </a:r>
                <a:endParaRPr lang="en-US" sz="8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p̂</a:t>
                </a:r>
                <a:r>
                  <a:rPr lang="en-US" sz="8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vs. Each Pair's Anchor</a:t>
                </a:r>
                <a:endParaRPr lang="en-US" sz="800" dirty="0"/>
              </a:p>
            </p:txBody>
          </p:sp>
        </mc:Fallback>
      </mc:AlternateContent>
      <p:sp>
        <p:nvSpPr>
          <p:cNvPr id="188" name="Arrow 188"/>
          <p:cNvSpPr/>
          <p:nvPr/>
        </p:nvSpPr>
        <p:spPr>
          <a:xfrm>
            <a:off x="6797650" y="2999232"/>
            <a:ext cx="137160" cy="1"/>
          </a:xfrm>
          <a:custGeom>
            <a:avLst/>
            <a:gdLst/>
            <a:ahLst/>
            <a:cxnLst/>
            <a:rect l="0" t="0" r="r" b="b"/>
            <a:pathLst>
              <a:path w="137160" h="1" fill="none">
                <a:moveTo>
                  <a:pt x="0" y="0"/>
                </a:moveTo>
                <a:lnTo>
                  <a:pt x="137160" y="0"/>
                </a:lnTo>
              </a:path>
            </a:pathLst>
          </a:custGeom>
          <a:noFill/>
          <a:ln w="19050" cap="flat">
            <a:solidFill>
              <a:srgbClr val="AB0520"/>
            </a:solidFill>
            <a:round/>
            <a:tailEnd type="triangle" w="med" len="med"/>
          </a:ln>
        </p:spPr>
      </p:sp>
      <p:sp>
        <p:nvSpPr>
          <p:cNvPr id="189" name="Arrow 189"/>
          <p:cNvSpPr/>
          <p:nvPr/>
        </p:nvSpPr>
        <p:spPr>
          <a:xfrm>
            <a:off x="6797650" y="3877056"/>
            <a:ext cx="137160" cy="1"/>
          </a:xfrm>
          <a:custGeom>
            <a:avLst/>
            <a:gdLst/>
            <a:ahLst/>
            <a:cxnLst/>
            <a:rect l="0" t="0" r="r" b="b"/>
            <a:pathLst>
              <a:path w="137160" h="1" fill="none">
                <a:moveTo>
                  <a:pt x="0" y="0"/>
                </a:moveTo>
                <a:lnTo>
                  <a:pt x="137160" y="0"/>
                </a:lnTo>
              </a:path>
            </a:pathLst>
          </a:custGeom>
          <a:noFill/>
          <a:ln w="19050" cap="flat">
            <a:solidFill>
              <a:srgbClr val="AB0520"/>
            </a:solidFill>
            <a:round/>
            <a:tailEnd type="triangle" w="med" len="med"/>
          </a:ln>
        </p:spPr>
      </p:sp>
      <p:sp>
        <p:nvSpPr>
          <p:cNvPr id="190" name="Legend 190"/>
          <p:cNvSpPr/>
          <p:nvPr/>
        </p:nvSpPr>
        <p:spPr>
          <a:xfrm>
            <a:off x="6934810" y="5175504"/>
            <a:ext cx="14630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9AA6B8"/>
            </a:solidFill>
          </a:ln>
        </p:spPr>
        <p:txBody>
          <a:bodyPr wrap="square" lIns="54864" tIns="36576" rIns="54864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/>
          </a:p>
        </p:txBody>
      </p:sp>
      <p:sp>
        <p:nvSpPr>
          <p:cNvPr id="191" name="LegKey 191"/>
          <p:cNvSpPr/>
          <p:nvPr/>
        </p:nvSpPr>
        <p:spPr>
          <a:xfrm>
            <a:off x="7026250" y="5257800"/>
            <a:ext cx="237744" cy="137160"/>
          </a:xfrm>
          <a:prstGeom prst="roundRect">
            <a:avLst>
              <a:gd name="adj" fmla="val 15000"/>
            </a:avLst>
          </a:prstGeom>
          <a:solidFill>
            <a:srgbClr val="E9EEF5"/>
          </a:solidFill>
          <a:ln w="12700">
            <a:solidFill>
              <a:srgbClr val="0C234B"/>
            </a:solidFill>
          </a:ln>
        </p:spPr>
        <p:txBody>
          <a:bodyPr wrap="square" lIns="54864" tIns="36576" rIns="54864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/>
          </a:p>
        </p:txBody>
      </p:sp>
      <p:sp>
        <p:nvSpPr>
          <p:cNvPr id="192" name="Label 192"/>
          <p:cNvSpPr/>
          <p:nvPr/>
        </p:nvSpPr>
        <p:spPr>
          <a:xfrm>
            <a:off x="7337146" y="523036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dirty="0">
                <a:solidFill>
                  <a:srgbClr val="1F1F1F"/>
                </a:solidFill>
                <a:latin typeface="+mn-lt"/>
                <a:cs typeface="+mn-cs"/>
              </a:rPr>
              <a:t xml:space="preserve">Baseline LPN</a:t>
            </a:r>
            <a:endParaRPr lang="en-US" sz="800" dirty="0"/>
          </a:p>
        </p:txBody>
      </p:sp>
      <p:sp>
        <p:nvSpPr>
          <p:cNvPr id="193" name="LegKey 193"/>
          <p:cNvSpPr/>
          <p:nvPr/>
        </p:nvSpPr>
        <p:spPr>
          <a:xfrm>
            <a:off x="7026250" y="5468112"/>
            <a:ext cx="237744" cy="137160"/>
          </a:xfrm>
          <a:prstGeom prst="roundRect">
            <a:avLst>
              <a:gd name="adj" fmla="val 15000"/>
            </a:avLst>
          </a:prstGeom>
          <a:solidFill>
            <a:srgbClr val="FBECEE"/>
          </a:solidFill>
          <a:ln w="12700">
            <a:solidFill>
              <a:srgbClr val="AB0520"/>
            </a:solidFill>
          </a:ln>
        </p:spPr>
        <p:txBody>
          <a:bodyPr wrap="square" lIns="54864" tIns="36576" rIns="54864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/>
          </a:p>
        </p:txBody>
      </p:sp>
      <p:sp>
        <p:nvSpPr>
          <p:cNvPr id="194" name="Label 194"/>
          <p:cNvSpPr/>
          <p:nvPr/>
        </p:nvSpPr>
        <p:spPr>
          <a:xfrm>
            <a:off x="7337146" y="544068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dirty="0">
                <a:solidFill>
                  <a:srgbClr val="1F1F1F"/>
                </a:solidFill>
                <a:latin typeface="+mn-lt"/>
                <a:cs typeface="+mn-cs"/>
              </a:rPr>
              <a:t xml:space="preserve">New Module</a:t>
            </a:r>
            <a:endParaRPr lang="en-US" sz="800" dirty="0"/>
          </a:p>
        </p:txBody>
      </p:sp>
      <p:sp>
        <p:nvSpPr>
          <p:cNvPr id="195" name="LegKey 195"/>
          <p:cNvSpPr/>
          <p:nvPr/>
        </p:nvSpPr>
        <p:spPr>
          <a:xfrm>
            <a:off x="7026250" y="5678424"/>
            <a:ext cx="237744" cy="13716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12700">
            <a:solidFill>
              <a:srgbClr val="7F7F7F"/>
            </a:solidFill>
          </a:ln>
        </p:spPr>
        <p:txBody>
          <a:bodyPr wrap="square" lIns="54864" tIns="36576" rIns="54864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/>
          </a:p>
        </p:txBody>
      </p:sp>
      <p:sp>
        <p:nvSpPr>
          <p:cNvPr id="196" name="Label 196"/>
          <p:cNvSpPr/>
          <p:nvPr/>
        </p:nvSpPr>
        <p:spPr>
          <a:xfrm>
            <a:off x="7337146" y="565099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dirty="0">
                <a:solidFill>
                  <a:srgbClr val="1F1F1F"/>
                </a:solidFill>
                <a:latin typeface="+mn-lt"/>
                <a:cs typeface="+mn-cs"/>
              </a:rPr>
              <a:t xml:space="preserve">Loss Term</a:t>
            </a:r>
            <a:endParaRPr lang="en-US" sz="800" dirty="0"/>
          </a:p>
        </p:txBody>
      </p:sp>
      <p:sp>
        <p:nvSpPr>
          <p:cNvPr id="197" name="Arrow 197"/>
          <p:cNvSpPr/>
          <p:nvPr/>
        </p:nvSpPr>
        <p:spPr>
          <a:xfrm>
            <a:off x="7026250" y="5961888"/>
            <a:ext cx="237744" cy="1"/>
          </a:xfrm>
          <a:custGeom>
            <a:avLst/>
            <a:gdLst/>
            <a:ahLst/>
            <a:cxnLst/>
            <a:rect l="0" t="0" r="r" b="b"/>
            <a:pathLst>
              <a:path w="237744" h="1" fill="none">
                <a:moveTo>
                  <a:pt x="0" y="0"/>
                </a:moveTo>
                <a:lnTo>
                  <a:pt x="237744" y="0"/>
                </a:lnTo>
              </a:path>
            </a:pathLst>
          </a:custGeom>
          <a:noFill/>
          <a:ln w="19050" cap="flat">
            <a:solidFill>
              <a:srgbClr val="AB0520"/>
            </a:solidFill>
            <a:prstDash val="dash"/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Label 198"/>
              <p:cNvSpPr/>
              <p:nvPr/>
            </p:nvSpPr>
            <p:spPr>
              <a:xfrm>
                <a:off x="7337146" y="5861304"/>
                <a:ext cx="1005840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Gradient in </a:t>
                </a:r>
                <a14:m>
                  <m:oMath xmlns:m="http://schemas.openxmlformats.org/officeDocument/2006/math">
                    <m:r>
                      <a:rPr lang="en-US" sz="9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sz="800" dirty="0"/>
              </a:p>
            </p:txBody>
          </p:sp>
        </mc:Choice>
        <mc:Fallback>
          <p:sp>
            <p:nvSpPr>
              <p:cNvPr id="198" name="Label 198"/>
              <p:cNvSpPr/>
              <p:nvPr/>
            </p:nvSpPr>
            <p:spPr>
              <a:xfrm>
                <a:off x="7337146" y="5861304"/>
                <a:ext cx="1005840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Gradient in </a:t>
                </a:r>
                <a:r>
                  <a:rPr lang="en-US" sz="8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z</a:t>
                </a:r>
                <a:endParaRPr lang="en-US" sz="800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4021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EB094-3529-B628-5501-64E32EA23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2: Second MLP 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C7A90-F170-891D-15EB-BF7E15B54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701D8-BF45-46A2-ADF3-0D690B397DE9}" type="slidenum">
              <a:rPr lang="en-US" smtClean="0"/>
              <a:pPr/>
              <a:t>4</a:t>
            </a:fld>
            <a:endParaRPr lang="en-US" sz="1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389E8C-D759-197B-FE82-5CC6AD2DC8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Weekly Meeting</a:t>
            </a:r>
          </a:p>
        </p:txBody>
      </p:sp>
      <p:pic>
        <p:nvPicPr>
          <p:cNvPr id="6" name="Picture 5" descr="File:Claude AI symbol.svg - Wikimedia Commons">
            <a:extLst>
              <a:ext uri="{FF2B5EF4-FFF2-40B4-BE49-F238E27FC236}">
                <a16:creationId xmlns:a16="http://schemas.microsoft.com/office/drawing/2014/main" id="{CE7D6D3A-396F-9163-C845-3FB5A43D6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592" y="518333"/>
            <a:ext cx="425709" cy="4257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Label 101"/>
              <p:cNvSpPr/>
              <p:nvPr/>
            </p:nvSpPr>
            <p:spPr>
              <a:xfrm>
                <a:off x="457200" y="1861718"/>
                <a:ext cx="8229600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Forward Pass  </a:t>
                </a:r>
                <a14:m>
                  <m:oMath xmlns:m="http://schemas.openxmlformats.org/officeDocument/2006/math">
                    <m:r>
                      <a:rPr lang="en-US" sz="1250" b="0" i="0" dirty="0">
                        <a:solidFill>
                          <a:srgbClr val="0C234B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US" sz="1250" b="0" i="0" dirty="0">
                        <a:solidFill>
                          <a:srgbClr val="0C234B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125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25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5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250" b="0" i="0" dirty="0">
                        <a:solidFill>
                          <a:srgbClr val="0C234B"/>
                        </a:solidFill>
                        <a:latin typeface="Cambria Math" panose="02040503050406030204" pitchFamily="18" charset="0"/>
                      </a:rPr>
                      <m:t>→[0,1</m:t>
                    </m:r>
                    <m:sSup>
                      <m:sSupPr>
                        <m:ctrlPr>
                          <a:rPr lang="en-US" sz="125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25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5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  <m:t>4×4</m:t>
                        </m:r>
                      </m:sup>
                    </m:sSup>
                  </m:oMath>
                </a14:m>
                <a:r>
                  <a:rPr lang="en-US" sz="120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,  Applied at Every Optimization Step </a:t>
                </a:r>
                <a14:m>
                  <m:oMath xmlns:m="http://schemas.openxmlformats.org/officeDocument/2006/math">
                    <m:r>
                      <a:rPr lang="en-US" sz="1250" b="0" i="0" dirty="0">
                        <a:solidFill>
                          <a:srgbClr val="0C234B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1200" dirty="0"/>
              </a:p>
            </p:txBody>
          </p:sp>
        </mc:Choice>
        <mc:Fallback>
          <p:sp>
            <p:nvSpPr>
              <p:cNvPr id="101" name="Label 101"/>
              <p:cNvSpPr/>
              <p:nvPr/>
            </p:nvSpPr>
            <p:spPr>
              <a:xfrm>
                <a:off x="457200" y="1861718"/>
                <a:ext cx="8229600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Forward Pass  </a:t>
                </a:r>
                <a:r>
                  <a:rPr lang="en-US" sz="120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g:ℝ^2→[0,1]^4×4</a:t>
                </a:r>
                <a:r>
                  <a:rPr lang="en-US" sz="120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,  Applied at Every Optimization Step </a:t>
                </a:r>
                <a:r>
                  <a:rPr lang="en-US" sz="120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k</a:t>
                </a:r>
                <a:endParaRPr lang="en-US" sz="1200" dirty="0"/>
              </a:p>
            </p:txBody>
          </p:sp>
        </mc:Fallback>
      </mc:AlternateContent>
      <p:sp>
        <p:nvSpPr>
          <p:cNvPr id="102" name="zCell 102"/>
          <p:cNvSpPr/>
          <p:nvPr/>
        </p:nvSpPr>
        <p:spPr>
          <a:xfrm>
            <a:off x="603504" y="3024835"/>
            <a:ext cx="201168" cy="274320"/>
          </a:xfrm>
          <a:prstGeom prst="rect">
            <a:avLst/>
          </a:prstGeom>
          <a:solidFill>
            <a:srgbClr val="0C234B">
              <a:alpha val="700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103" name="zCell 103"/>
          <p:cNvSpPr/>
          <p:nvPr/>
        </p:nvSpPr>
        <p:spPr>
          <a:xfrm>
            <a:off x="603504" y="3299155"/>
            <a:ext cx="201168" cy="274320"/>
          </a:xfrm>
          <a:prstGeom prst="rect">
            <a:avLst/>
          </a:prstGeom>
          <a:solidFill>
            <a:srgbClr val="0C234B">
              <a:alpha val="350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104" name="zFrame 104"/>
          <p:cNvSpPr/>
          <p:nvPr/>
        </p:nvSpPr>
        <p:spPr>
          <a:xfrm>
            <a:off x="603504" y="3024835"/>
            <a:ext cx="201168" cy="548640"/>
          </a:xfrm>
          <a:prstGeom prst="rect">
            <a:avLst/>
          </a:prstGeom>
          <a:noFill/>
          <a:ln w="9525">
            <a:solidFill>
              <a:srgbClr val="0C234B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Label 105"/>
              <p:cNvSpPr/>
              <p:nvPr/>
            </p:nvSpPr>
            <p:spPr>
              <a:xfrm>
                <a:off x="384048" y="2750515"/>
                <a:ext cx="640080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3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3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>
          <p:sp>
            <p:nvSpPr>
              <p:cNvPr id="105" name="Label 105"/>
              <p:cNvSpPr/>
              <p:nvPr/>
            </p:nvSpPr>
            <p:spPr>
              <a:xfrm>
                <a:off x="384048" y="2750515"/>
                <a:ext cx="640080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z_k</a:t>
                </a:r>
                <a:endParaRPr lang="en-US" sz="13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Label 106"/>
              <p:cNvSpPr/>
              <p:nvPr/>
            </p:nvSpPr>
            <p:spPr>
              <a:xfrm>
                <a:off x="347472" y="3619195"/>
                <a:ext cx="713232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11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1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1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10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Only Input</a:t>
                </a:r>
                <a:endParaRPr lang="en-US" sz="1000" dirty="0"/>
              </a:p>
            </p:txBody>
          </p:sp>
        </mc:Choice>
        <mc:Fallback>
          <p:sp>
            <p:nvSpPr>
              <p:cNvPr id="106" name="Label 106"/>
              <p:cNvSpPr/>
              <p:nvPr/>
            </p:nvSpPr>
            <p:spPr>
              <a:xfrm>
                <a:off x="347472" y="3619195"/>
                <a:ext cx="713232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∈ℝ^2</a:t>
                </a:r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1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Only Input</a:t>
                </a:r>
                <a:endParaRPr lang="en-US" sz="10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Layer 107"/>
              <p:cNvSpPr/>
              <p:nvPr/>
            </p:nvSpPr>
            <p:spPr>
              <a:xfrm>
                <a:off x="1060704" y="2585923"/>
                <a:ext cx="987552" cy="1426464"/>
              </a:xfrm>
              <a:prstGeom prst="roundRect">
                <a:avLst>
                  <a:gd name="adj" fmla="val 8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27432" tIns="36576" rIns="27432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2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Linear 1</a:t>
                </a:r>
                <a:endParaRPr lang="en-US" sz="12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×2</m:t>
                          </m:r>
                        </m:sup>
                      </m:sSup>
                    </m:oMath>
                  </m:oMathPara>
                </a14:m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+ ReLU</a:t>
                </a:r>
                <a:endParaRPr lang="en-US" sz="1050" dirty="0"/>
              </a:p>
            </p:txBody>
          </p:sp>
        </mc:Choice>
        <mc:Fallback>
          <p:sp>
            <p:nvSpPr>
              <p:cNvPr id="107" name="Layer 107"/>
              <p:cNvSpPr/>
              <p:nvPr/>
            </p:nvSpPr>
            <p:spPr>
              <a:xfrm>
                <a:off x="1060704" y="2585923"/>
                <a:ext cx="987552" cy="1426464"/>
              </a:xfrm>
              <a:prstGeom prst="roundRect">
                <a:avLst>
                  <a:gd name="adj" fmla="val 8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27432" tIns="36576" rIns="27432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2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Linear 1</a:t>
                </a:r>
                <a:endParaRPr lang="en-US" sz="12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W_1∈ℝ^H×2</a:t>
                </a:r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+ ReLU</a:t>
                </a:r>
                <a:endParaRPr lang="en-US" sz="105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Layer 108"/>
              <p:cNvSpPr/>
              <p:nvPr/>
            </p:nvSpPr>
            <p:spPr>
              <a:xfrm>
                <a:off x="2286000" y="2585923"/>
                <a:ext cx="987552" cy="1426464"/>
              </a:xfrm>
              <a:prstGeom prst="roundRect">
                <a:avLst>
                  <a:gd name="adj" fmla="val 8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  <a:prstDash val="dash"/>
              </a:ln>
            </p:spPr>
            <p:txBody>
              <a:bodyPr wrap="square" lIns="27432" tIns="36576" rIns="27432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2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Linear 2</a:t>
                </a:r>
                <a:endParaRPr lang="en-US" sz="12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</m:oMath>
                  </m:oMathPara>
                </a14:m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+ ReLU</a:t>
                </a:r>
                <a:endParaRPr lang="en-US" sz="1050" dirty="0"/>
              </a:p>
            </p:txBody>
          </p:sp>
        </mc:Choice>
        <mc:Fallback>
          <p:sp>
            <p:nvSpPr>
              <p:cNvPr id="108" name="Layer 108"/>
              <p:cNvSpPr/>
              <p:nvPr/>
            </p:nvSpPr>
            <p:spPr>
              <a:xfrm>
                <a:off x="2286000" y="2585923"/>
                <a:ext cx="987552" cy="1426464"/>
              </a:xfrm>
              <a:prstGeom prst="roundRect">
                <a:avLst>
                  <a:gd name="adj" fmla="val 8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  <a:prstDash val="dash"/>
              </a:ln>
            </p:spPr>
            <p:txBody>
              <a:bodyPr wrap="square" lIns="27432" tIns="36576" rIns="27432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2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Linear 2</a:t>
                </a:r>
                <a:endParaRPr lang="en-US" sz="12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W_2∈ℝ^H×H</a:t>
                </a:r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+ ReLU</a:t>
                </a:r>
                <a:endParaRPr lang="en-US" sz="105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Layer 109"/>
              <p:cNvSpPr/>
              <p:nvPr/>
            </p:nvSpPr>
            <p:spPr>
              <a:xfrm>
                <a:off x="3511296" y="2448763"/>
                <a:ext cx="98755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27432" tIns="36576" rIns="27432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2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Linear 3</a:t>
                </a:r>
                <a:endParaRPr lang="en-US" sz="12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16×</m:t>
                          </m:r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</m:oMath>
                  </m:oMathPara>
                </a14:m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Logits </a:t>
                </a:r>
                <a14:m>
                  <m:oMath xmlns:m="http://schemas.openxmlformats.org/officeDocument/2006/math">
                    <m:r>
                      <a:rPr lang="en-US" sz="110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endParaRPr lang="en-US" sz="1050" dirty="0"/>
              </a:p>
            </p:txBody>
          </p:sp>
        </mc:Choice>
        <mc:Fallback>
          <p:sp>
            <p:nvSpPr>
              <p:cNvPr id="109" name="Layer 109"/>
              <p:cNvSpPr/>
              <p:nvPr/>
            </p:nvSpPr>
            <p:spPr>
              <a:xfrm>
                <a:off x="3511296" y="2448763"/>
                <a:ext cx="98755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BECEE"/>
              </a:solidFill>
              <a:ln w="15875">
                <a:solidFill>
                  <a:srgbClr val="AB0520"/>
                </a:solidFill>
              </a:ln>
            </p:spPr>
            <p:txBody>
              <a:bodyPr wrap="square" lIns="27432" tIns="36576" rIns="27432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20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Linear 3</a:t>
                </a:r>
                <a:endParaRPr lang="en-US" sz="12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W_3∈ℝ^16×H</a:t>
                </a:r>
                <a:endParaRPr lang="en-US" sz="105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Logits </a:t>
                </a:r>
                <a:r>
                  <a:rPr lang="en-US" sz="1050" b="1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ℓ</a:t>
                </a:r>
                <a:endParaRPr lang="en-US" sz="1050" dirty="0"/>
              </a:p>
            </p:txBody>
          </p:sp>
        </mc:Fallback>
      </mc:AlternateContent>
      <p:sp>
        <p:nvSpPr>
          <p:cNvPr id="110" name="Label 110"/>
          <p:cNvSpPr/>
          <p:nvPr/>
        </p:nvSpPr>
        <p:spPr>
          <a:xfrm>
            <a:off x="2194560" y="4067251"/>
            <a:ext cx="117043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dirty="0">
                <a:solidFill>
                  <a:srgbClr val="AB0520"/>
                </a:solidFill>
                <a:latin typeface="+mn-lt"/>
                <a:cs typeface="+mn-cs"/>
              </a:rPr>
              <a:t xml:space="preserve">Optional Layer</a:t>
            </a:r>
            <a:endParaRPr lang="en-US" sz="1000" dirty="0"/>
          </a:p>
        </p:txBody>
      </p:sp>
      <p:sp>
        <p:nvSpPr>
          <p:cNvPr id="111" name="Arrow 111"/>
          <p:cNvSpPr/>
          <p:nvPr/>
        </p:nvSpPr>
        <p:spPr>
          <a:xfrm>
            <a:off x="832104" y="3299155"/>
            <a:ext cx="228600" cy="1"/>
          </a:xfrm>
          <a:custGeom>
            <a:avLst/>
            <a:gdLst/>
            <a:ahLst/>
            <a:cxnLst/>
            <a:rect l="0" t="0" r="r" b="b"/>
            <a:pathLst>
              <a:path w="228600" h="1" fill="none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Label 112"/>
              <p:cNvSpPr/>
              <p:nvPr/>
            </p:nvSpPr>
            <p:spPr>
              <a:xfrm>
                <a:off x="804672" y="3024835"/>
                <a:ext cx="256032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11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112" name="Label 112"/>
              <p:cNvSpPr/>
              <p:nvPr/>
            </p:nvSpPr>
            <p:spPr>
              <a:xfrm>
                <a:off x="804672" y="3024835"/>
                <a:ext cx="256032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2</a:t>
                </a:r>
                <a:endParaRPr lang="en-US" sz="1050" dirty="0"/>
              </a:p>
            </p:txBody>
          </p:sp>
        </mc:Fallback>
      </mc:AlternateContent>
      <p:sp>
        <p:nvSpPr>
          <p:cNvPr id="113" name="Arrow 113"/>
          <p:cNvSpPr/>
          <p:nvPr/>
        </p:nvSpPr>
        <p:spPr>
          <a:xfrm>
            <a:off x="2075688" y="3299155"/>
            <a:ext cx="210312" cy="1"/>
          </a:xfrm>
          <a:custGeom>
            <a:avLst/>
            <a:gdLst/>
            <a:ahLst/>
            <a:cxnLst/>
            <a:rect l="0" t="0" r="r" b="b"/>
            <a:pathLst>
              <a:path w="210312" h="1" fill="none">
                <a:moveTo>
                  <a:pt x="0" y="0"/>
                </a:moveTo>
                <a:lnTo>
                  <a:pt x="210312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Label 114"/>
              <p:cNvSpPr/>
              <p:nvPr/>
            </p:nvSpPr>
            <p:spPr>
              <a:xfrm>
                <a:off x="2048256" y="3024835"/>
                <a:ext cx="237744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1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114" name="Label 114"/>
              <p:cNvSpPr/>
              <p:nvPr/>
            </p:nvSpPr>
            <p:spPr>
              <a:xfrm>
                <a:off x="2048256" y="3024835"/>
                <a:ext cx="237744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H</a:t>
                </a:r>
                <a:endParaRPr lang="en-US" sz="1050" dirty="0"/>
              </a:p>
            </p:txBody>
          </p:sp>
        </mc:Fallback>
      </mc:AlternateContent>
      <p:sp>
        <p:nvSpPr>
          <p:cNvPr id="115" name="Arrow 115"/>
          <p:cNvSpPr/>
          <p:nvPr/>
        </p:nvSpPr>
        <p:spPr>
          <a:xfrm>
            <a:off x="3300984" y="3299155"/>
            <a:ext cx="210312" cy="1"/>
          </a:xfrm>
          <a:custGeom>
            <a:avLst/>
            <a:gdLst/>
            <a:ahLst/>
            <a:cxnLst/>
            <a:rect l="0" t="0" r="r" b="b"/>
            <a:pathLst>
              <a:path w="210312" h="1" fill="none">
                <a:moveTo>
                  <a:pt x="0" y="0"/>
                </a:moveTo>
                <a:lnTo>
                  <a:pt x="210312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Label 116"/>
              <p:cNvSpPr/>
              <p:nvPr/>
            </p:nvSpPr>
            <p:spPr>
              <a:xfrm>
                <a:off x="3273552" y="3024835"/>
                <a:ext cx="237744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1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116" name="Label 116"/>
              <p:cNvSpPr/>
              <p:nvPr/>
            </p:nvSpPr>
            <p:spPr>
              <a:xfrm>
                <a:off x="3273552" y="3024835"/>
                <a:ext cx="237744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H</a:t>
                </a:r>
                <a:endParaRPr lang="en-US" sz="1050" dirty="0"/>
              </a:p>
            </p:txBody>
          </p:sp>
        </mc:Fallback>
      </mc:AlternateContent>
      <p:sp>
        <p:nvSpPr>
          <p:cNvPr id="117" name="Logit 117"/>
          <p:cNvSpPr/>
          <p:nvPr/>
        </p:nvSpPr>
        <p:spPr>
          <a:xfrm>
            <a:off x="4800600" y="2951683"/>
            <a:ext cx="173736" cy="173736"/>
          </a:xfrm>
          <a:prstGeom prst="rect">
            <a:avLst/>
          </a:prstGeom>
          <a:solidFill>
            <a:srgbClr val="595959">
              <a:alpha val="39994"/>
            </a:srgbClr>
          </a:solidFill>
          <a:ln w="6350">
            <a:solidFill>
              <a:srgbClr val="FFFFFF"/>
            </a:solidFill>
          </a:ln>
        </p:spPr>
      </p:sp>
      <p:sp>
        <p:nvSpPr>
          <p:cNvPr id="118" name="Prob 118"/>
          <p:cNvSpPr/>
          <p:nvPr/>
        </p:nvSpPr>
        <p:spPr>
          <a:xfrm>
            <a:off x="6263640" y="2951683"/>
            <a:ext cx="173736" cy="173736"/>
          </a:xfrm>
          <a:prstGeom prst="rect">
            <a:avLst/>
          </a:prstGeom>
          <a:solidFill>
            <a:srgbClr val="0C234B">
              <a:alpha val="4616"/>
            </a:srgbClr>
          </a:solidFill>
          <a:ln w="6350">
            <a:solidFill>
              <a:srgbClr val="FFFFFF"/>
            </a:solidFill>
          </a:ln>
        </p:spPr>
      </p:sp>
      <p:sp>
        <p:nvSpPr>
          <p:cNvPr id="119" name="Logit 119"/>
          <p:cNvSpPr/>
          <p:nvPr/>
        </p:nvSpPr>
        <p:spPr>
          <a:xfrm>
            <a:off x="4974336" y="2951683"/>
            <a:ext cx="173736" cy="173736"/>
          </a:xfrm>
          <a:prstGeom prst="rect">
            <a:avLst/>
          </a:prstGeom>
          <a:solidFill>
            <a:srgbClr val="595959">
              <a:alpha val="43858"/>
            </a:srgbClr>
          </a:solidFill>
          <a:ln w="6350">
            <a:solidFill>
              <a:srgbClr val="FFFFFF"/>
            </a:solidFill>
          </a:ln>
        </p:spPr>
      </p:sp>
      <p:sp>
        <p:nvSpPr>
          <p:cNvPr id="120" name="Prob 120"/>
          <p:cNvSpPr/>
          <p:nvPr/>
        </p:nvSpPr>
        <p:spPr>
          <a:xfrm>
            <a:off x="6437376" y="2951683"/>
            <a:ext cx="173736" cy="173736"/>
          </a:xfrm>
          <a:prstGeom prst="rect">
            <a:avLst/>
          </a:prstGeom>
          <a:solidFill>
            <a:srgbClr val="0C234B">
              <a:alpha val="6233"/>
            </a:srgbClr>
          </a:solidFill>
          <a:ln w="6350">
            <a:solidFill>
              <a:srgbClr val="FFFFFF"/>
            </a:solidFill>
          </a:ln>
        </p:spPr>
      </p:sp>
      <p:sp>
        <p:nvSpPr>
          <p:cNvPr id="121" name="Logit 121"/>
          <p:cNvSpPr/>
          <p:nvPr/>
        </p:nvSpPr>
        <p:spPr>
          <a:xfrm>
            <a:off x="5148072" y="2951683"/>
            <a:ext cx="173736" cy="173736"/>
          </a:xfrm>
          <a:prstGeom prst="rect">
            <a:avLst/>
          </a:prstGeom>
          <a:solidFill>
            <a:srgbClr val="595959">
              <a:alpha val="45593"/>
            </a:srgbClr>
          </a:solidFill>
          <a:ln w="6350">
            <a:solidFill>
              <a:srgbClr val="FFFFFF"/>
            </a:solidFill>
          </a:ln>
        </p:spPr>
      </p:sp>
      <p:sp>
        <p:nvSpPr>
          <p:cNvPr id="122" name="Prob 122"/>
          <p:cNvSpPr/>
          <p:nvPr/>
        </p:nvSpPr>
        <p:spPr>
          <a:xfrm>
            <a:off x="6611112" y="2951683"/>
            <a:ext cx="173736" cy="173736"/>
          </a:xfrm>
          <a:prstGeom prst="rect">
            <a:avLst/>
          </a:prstGeom>
          <a:solidFill>
            <a:srgbClr val="0C234B">
              <a:alpha val="11083"/>
            </a:srgbClr>
          </a:solidFill>
          <a:ln w="6350">
            <a:solidFill>
              <a:srgbClr val="FFFFFF"/>
            </a:solidFill>
          </a:ln>
        </p:spPr>
      </p:sp>
      <p:sp>
        <p:nvSpPr>
          <p:cNvPr id="123" name="Logit 123"/>
          <p:cNvSpPr/>
          <p:nvPr/>
        </p:nvSpPr>
        <p:spPr>
          <a:xfrm>
            <a:off x="5321808" y="2951683"/>
            <a:ext cx="173736" cy="173736"/>
          </a:xfrm>
          <a:prstGeom prst="rect">
            <a:avLst/>
          </a:prstGeom>
          <a:solidFill>
            <a:srgbClr val="595959">
              <a:alpha val="50379"/>
            </a:srgbClr>
          </a:solidFill>
          <a:ln w="6350">
            <a:solidFill>
              <a:srgbClr val="FFFFFF"/>
            </a:solidFill>
          </a:ln>
        </p:spPr>
      </p:sp>
      <p:sp>
        <p:nvSpPr>
          <p:cNvPr id="124" name="Prob 124"/>
          <p:cNvSpPr/>
          <p:nvPr/>
        </p:nvSpPr>
        <p:spPr>
          <a:xfrm>
            <a:off x="6784848" y="2951683"/>
            <a:ext cx="173736" cy="173736"/>
          </a:xfrm>
          <a:prstGeom prst="rect">
            <a:avLst/>
          </a:prstGeom>
          <a:solidFill>
            <a:srgbClr val="0C234B">
              <a:alpha val="4616"/>
            </a:srgbClr>
          </a:solidFill>
          <a:ln w="6350">
            <a:solidFill>
              <a:srgbClr val="FFFFFF"/>
            </a:solidFill>
          </a:ln>
        </p:spPr>
      </p:sp>
      <p:sp>
        <p:nvSpPr>
          <p:cNvPr id="125" name="Logit 125"/>
          <p:cNvSpPr/>
          <p:nvPr/>
        </p:nvSpPr>
        <p:spPr>
          <a:xfrm>
            <a:off x="4800600" y="3125419"/>
            <a:ext cx="173736" cy="173736"/>
          </a:xfrm>
          <a:prstGeom prst="rect">
            <a:avLst/>
          </a:prstGeom>
          <a:solidFill>
            <a:srgbClr val="595959">
              <a:alpha val="43796"/>
            </a:srgbClr>
          </a:solidFill>
          <a:ln w="6350">
            <a:solidFill>
              <a:srgbClr val="FFFFFF"/>
            </a:solidFill>
          </a:ln>
        </p:spPr>
      </p:sp>
      <p:sp>
        <p:nvSpPr>
          <p:cNvPr id="126" name="Prob 126"/>
          <p:cNvSpPr/>
          <p:nvPr/>
        </p:nvSpPr>
        <p:spPr>
          <a:xfrm>
            <a:off x="6263640" y="3125419"/>
            <a:ext cx="173736" cy="173736"/>
          </a:xfrm>
          <a:prstGeom prst="rect">
            <a:avLst/>
          </a:prstGeom>
          <a:solidFill>
            <a:srgbClr val="0C234B">
              <a:alpha val="6233"/>
            </a:srgbClr>
          </a:solidFill>
          <a:ln w="6350">
            <a:solidFill>
              <a:srgbClr val="FFFFFF"/>
            </a:solidFill>
          </a:ln>
        </p:spPr>
      </p:sp>
      <p:sp>
        <p:nvSpPr>
          <p:cNvPr id="127" name="Logit 127"/>
          <p:cNvSpPr/>
          <p:nvPr/>
        </p:nvSpPr>
        <p:spPr>
          <a:xfrm>
            <a:off x="4974336" y="3125419"/>
            <a:ext cx="173736" cy="173736"/>
          </a:xfrm>
          <a:prstGeom prst="rect">
            <a:avLst/>
          </a:prstGeom>
          <a:solidFill>
            <a:srgbClr val="595959">
              <a:alpha val="49725"/>
            </a:srgbClr>
          </a:solidFill>
          <a:ln w="6350">
            <a:solidFill>
              <a:srgbClr val="FFFFFF"/>
            </a:solidFill>
          </a:ln>
        </p:spPr>
      </p:sp>
      <p:sp>
        <p:nvSpPr>
          <p:cNvPr id="128" name="Prob 128"/>
          <p:cNvSpPr/>
          <p:nvPr/>
        </p:nvSpPr>
        <p:spPr>
          <a:xfrm>
            <a:off x="6437376" y="3125419"/>
            <a:ext cx="173736" cy="173736"/>
          </a:xfrm>
          <a:prstGeom prst="rect">
            <a:avLst/>
          </a:prstGeom>
          <a:solidFill>
            <a:srgbClr val="0C234B">
              <a:alpha val="127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129" name="Logit 129"/>
          <p:cNvSpPr/>
          <p:nvPr/>
        </p:nvSpPr>
        <p:spPr>
          <a:xfrm>
            <a:off x="5148072" y="3125419"/>
            <a:ext cx="173736" cy="173736"/>
          </a:xfrm>
          <a:prstGeom prst="rect">
            <a:avLst/>
          </a:prstGeom>
          <a:solidFill>
            <a:srgbClr val="595959">
              <a:alpha val="65250"/>
            </a:srgbClr>
          </a:solidFill>
          <a:ln w="6350">
            <a:solidFill>
              <a:srgbClr val="FFFFFF"/>
            </a:solidFill>
          </a:ln>
        </p:spPr>
      </p:sp>
      <p:sp>
        <p:nvSpPr>
          <p:cNvPr id="130" name="Prob 130"/>
          <p:cNvSpPr/>
          <p:nvPr/>
        </p:nvSpPr>
        <p:spPr>
          <a:xfrm>
            <a:off x="6611112" y="3125419"/>
            <a:ext cx="173736" cy="173736"/>
          </a:xfrm>
          <a:prstGeom prst="rect">
            <a:avLst/>
          </a:prstGeom>
          <a:solidFill>
            <a:srgbClr val="0C234B">
              <a:alpha val="91916"/>
            </a:srgbClr>
          </a:solidFill>
          <a:ln w="6350">
            <a:solidFill>
              <a:srgbClr val="FFFFFF"/>
            </a:solidFill>
          </a:ln>
        </p:spPr>
      </p:sp>
      <p:sp>
        <p:nvSpPr>
          <p:cNvPr id="131" name="Logit 131"/>
          <p:cNvSpPr/>
          <p:nvPr/>
        </p:nvSpPr>
        <p:spPr>
          <a:xfrm>
            <a:off x="5321808" y="3125419"/>
            <a:ext cx="173736" cy="173736"/>
          </a:xfrm>
          <a:prstGeom prst="rect">
            <a:avLst/>
          </a:prstGeom>
          <a:solidFill>
            <a:srgbClr val="595959">
              <a:alpha val="20692"/>
            </a:srgbClr>
          </a:solidFill>
          <a:ln w="6350">
            <a:solidFill>
              <a:srgbClr val="FFFFFF"/>
            </a:solidFill>
          </a:ln>
        </p:spPr>
      </p:sp>
      <p:sp>
        <p:nvSpPr>
          <p:cNvPr id="132" name="Prob 132"/>
          <p:cNvSpPr/>
          <p:nvPr/>
        </p:nvSpPr>
        <p:spPr>
          <a:xfrm>
            <a:off x="6784848" y="3125419"/>
            <a:ext cx="173736" cy="173736"/>
          </a:xfrm>
          <a:prstGeom prst="rect">
            <a:avLst/>
          </a:prstGeom>
          <a:solidFill>
            <a:srgbClr val="0C234B">
              <a:alpha val="15933"/>
            </a:srgbClr>
          </a:solidFill>
          <a:ln w="6350">
            <a:solidFill>
              <a:srgbClr val="FFFFFF"/>
            </a:solidFill>
          </a:ln>
        </p:spPr>
      </p:sp>
      <p:sp>
        <p:nvSpPr>
          <p:cNvPr id="133" name="Logit 133"/>
          <p:cNvSpPr/>
          <p:nvPr/>
        </p:nvSpPr>
        <p:spPr>
          <a:xfrm>
            <a:off x="4800600" y="3299155"/>
            <a:ext cx="173736" cy="173736"/>
          </a:xfrm>
          <a:prstGeom prst="rect">
            <a:avLst/>
          </a:prstGeom>
          <a:solidFill>
            <a:srgbClr val="595959">
              <a:alpha val="34882"/>
            </a:srgbClr>
          </a:solidFill>
          <a:ln w="6350">
            <a:solidFill>
              <a:srgbClr val="FFFFFF"/>
            </a:solidFill>
          </a:ln>
        </p:spPr>
      </p:sp>
      <p:sp>
        <p:nvSpPr>
          <p:cNvPr id="134" name="Prob 134"/>
          <p:cNvSpPr/>
          <p:nvPr/>
        </p:nvSpPr>
        <p:spPr>
          <a:xfrm>
            <a:off x="6263640" y="3299155"/>
            <a:ext cx="173736" cy="173736"/>
          </a:xfrm>
          <a:prstGeom prst="rect">
            <a:avLst/>
          </a:prstGeom>
          <a:solidFill>
            <a:srgbClr val="0C234B">
              <a:alpha val="4616"/>
            </a:srgbClr>
          </a:solidFill>
          <a:ln w="6350">
            <a:solidFill>
              <a:srgbClr val="FFFFFF"/>
            </a:solidFill>
          </a:ln>
        </p:spPr>
      </p:sp>
      <p:sp>
        <p:nvSpPr>
          <p:cNvPr id="135" name="Logit 135"/>
          <p:cNvSpPr/>
          <p:nvPr/>
        </p:nvSpPr>
        <p:spPr>
          <a:xfrm>
            <a:off x="4974336" y="3299155"/>
            <a:ext cx="173736" cy="173736"/>
          </a:xfrm>
          <a:prstGeom prst="rect">
            <a:avLst/>
          </a:prstGeom>
          <a:solidFill>
            <a:srgbClr val="595959">
              <a:alpha val="50409"/>
            </a:srgbClr>
          </a:solidFill>
          <a:ln w="6350">
            <a:solidFill>
              <a:srgbClr val="FFFFFF"/>
            </a:solidFill>
          </a:ln>
        </p:spPr>
      </p:sp>
      <p:sp>
        <p:nvSpPr>
          <p:cNvPr id="136" name="Prob 136"/>
          <p:cNvSpPr/>
          <p:nvPr/>
        </p:nvSpPr>
        <p:spPr>
          <a:xfrm>
            <a:off x="6437376" y="3299155"/>
            <a:ext cx="173736" cy="173736"/>
          </a:xfrm>
          <a:prstGeom prst="rect">
            <a:avLst/>
          </a:prstGeom>
          <a:solidFill>
            <a:srgbClr val="0C234B">
              <a:alpha val="9466"/>
            </a:srgbClr>
          </a:solidFill>
          <a:ln w="6350">
            <a:solidFill>
              <a:srgbClr val="FFFFFF"/>
            </a:solidFill>
          </a:ln>
        </p:spPr>
      </p:sp>
      <p:sp>
        <p:nvSpPr>
          <p:cNvPr id="137" name="Logit 137"/>
          <p:cNvSpPr/>
          <p:nvPr/>
        </p:nvSpPr>
        <p:spPr>
          <a:xfrm>
            <a:off x="5148072" y="3299155"/>
            <a:ext cx="173736" cy="173736"/>
          </a:xfrm>
          <a:prstGeom prst="rect">
            <a:avLst/>
          </a:prstGeom>
          <a:solidFill>
            <a:srgbClr val="595959">
              <a:alpha val="40841"/>
            </a:srgbClr>
          </a:solidFill>
          <a:ln w="6350">
            <a:solidFill>
              <a:srgbClr val="FFFFFF"/>
            </a:solidFill>
          </a:ln>
        </p:spPr>
      </p:sp>
      <p:sp>
        <p:nvSpPr>
          <p:cNvPr id="138" name="Prob 138"/>
          <p:cNvSpPr/>
          <p:nvPr/>
        </p:nvSpPr>
        <p:spPr>
          <a:xfrm>
            <a:off x="6611112" y="3299155"/>
            <a:ext cx="173736" cy="173736"/>
          </a:xfrm>
          <a:prstGeom prst="rect">
            <a:avLst/>
          </a:prstGeom>
          <a:solidFill>
            <a:srgbClr val="0C234B">
              <a:alpha val="17549"/>
            </a:srgbClr>
          </a:solidFill>
          <a:ln w="6350">
            <a:solidFill>
              <a:srgbClr val="FFFFFF"/>
            </a:solidFill>
          </a:ln>
        </p:spPr>
      </p:sp>
      <p:sp>
        <p:nvSpPr>
          <p:cNvPr id="139" name="Logit 139"/>
          <p:cNvSpPr/>
          <p:nvPr/>
        </p:nvSpPr>
        <p:spPr>
          <a:xfrm>
            <a:off x="5321808" y="3299155"/>
            <a:ext cx="173736" cy="173736"/>
          </a:xfrm>
          <a:prstGeom prst="rect">
            <a:avLst/>
          </a:prstGeom>
          <a:solidFill>
            <a:srgbClr val="595959">
              <a:alpha val="49029"/>
            </a:srgbClr>
          </a:solidFill>
          <a:ln w="6350">
            <a:solidFill>
              <a:srgbClr val="FFFFFF"/>
            </a:solidFill>
          </a:ln>
        </p:spPr>
      </p:sp>
      <p:sp>
        <p:nvSpPr>
          <p:cNvPr id="140" name="Prob 140"/>
          <p:cNvSpPr/>
          <p:nvPr/>
        </p:nvSpPr>
        <p:spPr>
          <a:xfrm>
            <a:off x="6784848" y="3299155"/>
            <a:ext cx="173736" cy="173736"/>
          </a:xfrm>
          <a:prstGeom prst="rect">
            <a:avLst/>
          </a:prstGeom>
          <a:solidFill>
            <a:srgbClr val="0C234B">
              <a:alpha val="6233"/>
            </a:srgbClr>
          </a:solidFill>
          <a:ln w="6350">
            <a:solidFill>
              <a:srgbClr val="FFFFFF"/>
            </a:solidFill>
          </a:ln>
        </p:spPr>
      </p:sp>
      <p:sp>
        <p:nvSpPr>
          <p:cNvPr id="141" name="Logit 141"/>
          <p:cNvSpPr/>
          <p:nvPr/>
        </p:nvSpPr>
        <p:spPr>
          <a:xfrm>
            <a:off x="4800600" y="3472891"/>
            <a:ext cx="173736" cy="173736"/>
          </a:xfrm>
          <a:prstGeom prst="rect">
            <a:avLst/>
          </a:prstGeom>
          <a:solidFill>
            <a:srgbClr val="595959">
              <a:alpha val="23429"/>
            </a:srgbClr>
          </a:solidFill>
          <a:ln w="6350">
            <a:solidFill>
              <a:srgbClr val="FFFFFF"/>
            </a:solidFill>
          </a:ln>
        </p:spPr>
      </p:sp>
      <p:sp>
        <p:nvSpPr>
          <p:cNvPr id="142" name="Prob 142"/>
          <p:cNvSpPr/>
          <p:nvPr/>
        </p:nvSpPr>
        <p:spPr>
          <a:xfrm>
            <a:off x="6263640" y="3472891"/>
            <a:ext cx="173736" cy="173736"/>
          </a:xfrm>
          <a:prstGeom prst="rect">
            <a:avLst/>
          </a:prstGeom>
          <a:solidFill>
            <a:srgbClr val="0C234B">
              <a:alpha val="30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143" name="Logit 143"/>
          <p:cNvSpPr/>
          <p:nvPr/>
        </p:nvSpPr>
        <p:spPr>
          <a:xfrm>
            <a:off x="4974336" y="3472891"/>
            <a:ext cx="173736" cy="173736"/>
          </a:xfrm>
          <a:prstGeom prst="rect">
            <a:avLst/>
          </a:prstGeom>
          <a:solidFill>
            <a:srgbClr val="595959">
              <a:alpha val="34994"/>
            </a:srgbClr>
          </a:solidFill>
          <a:ln w="6350">
            <a:solidFill>
              <a:srgbClr val="FFFFFF"/>
            </a:solidFill>
          </a:ln>
        </p:spPr>
      </p:sp>
      <p:sp>
        <p:nvSpPr>
          <p:cNvPr id="144" name="Prob 144"/>
          <p:cNvSpPr/>
          <p:nvPr/>
        </p:nvSpPr>
        <p:spPr>
          <a:xfrm>
            <a:off x="6437376" y="3472891"/>
            <a:ext cx="173736" cy="173736"/>
          </a:xfrm>
          <a:prstGeom prst="rect">
            <a:avLst/>
          </a:prstGeom>
          <a:solidFill>
            <a:srgbClr val="0C234B">
              <a:alpha val="4616"/>
            </a:srgbClr>
          </a:solidFill>
          <a:ln w="6350">
            <a:solidFill>
              <a:srgbClr val="FFFFFF"/>
            </a:solidFill>
          </a:ln>
        </p:spPr>
      </p:sp>
      <p:sp>
        <p:nvSpPr>
          <p:cNvPr id="145" name="Logit 145"/>
          <p:cNvSpPr/>
          <p:nvPr/>
        </p:nvSpPr>
        <p:spPr>
          <a:xfrm>
            <a:off x="5148072" y="3472891"/>
            <a:ext cx="173736" cy="173736"/>
          </a:xfrm>
          <a:prstGeom prst="rect">
            <a:avLst/>
          </a:prstGeom>
          <a:solidFill>
            <a:srgbClr val="595959">
              <a:alpha val="27763"/>
            </a:srgbClr>
          </a:solidFill>
          <a:ln w="6350">
            <a:solidFill>
              <a:srgbClr val="FFFFFF"/>
            </a:solidFill>
          </a:ln>
        </p:spPr>
      </p:sp>
      <p:sp>
        <p:nvSpPr>
          <p:cNvPr id="146" name="Prob 146"/>
          <p:cNvSpPr/>
          <p:nvPr/>
        </p:nvSpPr>
        <p:spPr>
          <a:xfrm>
            <a:off x="6611112" y="3472891"/>
            <a:ext cx="173736" cy="173736"/>
          </a:xfrm>
          <a:prstGeom prst="rect">
            <a:avLst/>
          </a:prstGeom>
          <a:solidFill>
            <a:srgbClr val="0C234B">
              <a:alpha val="6233"/>
            </a:srgbClr>
          </a:solidFill>
          <a:ln w="6350">
            <a:solidFill>
              <a:srgbClr val="FFFFFF"/>
            </a:solidFill>
          </a:ln>
        </p:spPr>
      </p:sp>
      <p:sp>
        <p:nvSpPr>
          <p:cNvPr id="147" name="Logit 147"/>
          <p:cNvSpPr/>
          <p:nvPr/>
        </p:nvSpPr>
        <p:spPr>
          <a:xfrm>
            <a:off x="5321808" y="3472891"/>
            <a:ext cx="173736" cy="173736"/>
          </a:xfrm>
          <a:prstGeom prst="rect">
            <a:avLst/>
          </a:prstGeom>
          <a:solidFill>
            <a:srgbClr val="595959">
              <a:alpha val="37422"/>
            </a:srgbClr>
          </a:solidFill>
          <a:ln w="6350">
            <a:solidFill>
              <a:srgbClr val="FFFFFF"/>
            </a:solidFill>
          </a:ln>
        </p:spPr>
      </p:sp>
      <p:sp>
        <p:nvSpPr>
          <p:cNvPr id="148" name="Prob 148"/>
          <p:cNvSpPr/>
          <p:nvPr/>
        </p:nvSpPr>
        <p:spPr>
          <a:xfrm>
            <a:off x="6784848" y="3472891"/>
            <a:ext cx="173736" cy="173736"/>
          </a:xfrm>
          <a:prstGeom prst="rect">
            <a:avLst/>
          </a:prstGeom>
          <a:solidFill>
            <a:srgbClr val="0C234B">
              <a:alpha val="4616"/>
            </a:srgbClr>
          </a:solidFill>
          <a:ln w="6350">
            <a:solidFill>
              <a:srgbClr val="FFFFFF"/>
            </a:solidFill>
          </a:ln>
        </p:spPr>
      </p:sp>
      <p:sp>
        <p:nvSpPr>
          <p:cNvPr id="149" name="GridFrame 149"/>
          <p:cNvSpPr/>
          <p:nvPr/>
        </p:nvSpPr>
        <p:spPr>
          <a:xfrm>
            <a:off x="4800600" y="2951683"/>
            <a:ext cx="694944" cy="69494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50" name="GridFrame 150"/>
          <p:cNvSpPr/>
          <p:nvPr/>
        </p:nvSpPr>
        <p:spPr>
          <a:xfrm>
            <a:off x="6263640" y="2951683"/>
            <a:ext cx="694944" cy="69494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51" name="HardAnchor 151"/>
          <p:cNvSpPr/>
          <p:nvPr/>
        </p:nvSpPr>
        <p:spPr>
          <a:xfrm>
            <a:off x="7726680" y="2951683"/>
            <a:ext cx="173736" cy="173736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2" name="HardAnchor 152"/>
          <p:cNvSpPr/>
          <p:nvPr/>
        </p:nvSpPr>
        <p:spPr>
          <a:xfrm>
            <a:off x="7900416" y="2951683"/>
            <a:ext cx="173736" cy="173736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3" name="HardAnchor 153"/>
          <p:cNvSpPr/>
          <p:nvPr/>
        </p:nvSpPr>
        <p:spPr>
          <a:xfrm>
            <a:off x="8074152" y="2951683"/>
            <a:ext cx="173736" cy="173736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4" name="HardAnchor 154"/>
          <p:cNvSpPr/>
          <p:nvPr/>
        </p:nvSpPr>
        <p:spPr>
          <a:xfrm>
            <a:off x="8247888" y="2951683"/>
            <a:ext cx="173736" cy="173736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5" name="HardAnchor 155"/>
          <p:cNvSpPr/>
          <p:nvPr/>
        </p:nvSpPr>
        <p:spPr>
          <a:xfrm>
            <a:off x="7726680" y="3125419"/>
            <a:ext cx="173736" cy="173736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6" name="HardAnchor 156"/>
          <p:cNvSpPr/>
          <p:nvPr/>
        </p:nvSpPr>
        <p:spPr>
          <a:xfrm>
            <a:off x="7900416" y="3125419"/>
            <a:ext cx="173736" cy="173736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7" name="HardAnchor 157"/>
          <p:cNvSpPr/>
          <p:nvPr/>
        </p:nvSpPr>
        <p:spPr>
          <a:xfrm>
            <a:off x="8074152" y="3125419"/>
            <a:ext cx="173736" cy="173736"/>
          </a:xfrm>
          <a:prstGeom prst="rect">
            <a:avLst/>
          </a:prstGeom>
          <a:solidFill>
            <a:srgbClr val="0074D9"/>
          </a:solidFill>
          <a:ln>
            <a:noFill/>
          </a:ln>
        </p:spPr>
      </p:sp>
      <p:sp>
        <p:nvSpPr>
          <p:cNvPr id="158" name="HardAnchor 158"/>
          <p:cNvSpPr/>
          <p:nvPr/>
        </p:nvSpPr>
        <p:spPr>
          <a:xfrm>
            <a:off x="8247888" y="3125419"/>
            <a:ext cx="173736" cy="173736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9" name="HardAnchor 159"/>
          <p:cNvSpPr/>
          <p:nvPr/>
        </p:nvSpPr>
        <p:spPr>
          <a:xfrm>
            <a:off x="7726680" y="3299155"/>
            <a:ext cx="173736" cy="173736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0" name="HardAnchor 160"/>
          <p:cNvSpPr/>
          <p:nvPr/>
        </p:nvSpPr>
        <p:spPr>
          <a:xfrm>
            <a:off x="7900416" y="3299155"/>
            <a:ext cx="173736" cy="173736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1" name="HardAnchor 161"/>
          <p:cNvSpPr/>
          <p:nvPr/>
        </p:nvSpPr>
        <p:spPr>
          <a:xfrm>
            <a:off x="8074152" y="3299155"/>
            <a:ext cx="173736" cy="173736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2" name="HardAnchor 162"/>
          <p:cNvSpPr/>
          <p:nvPr/>
        </p:nvSpPr>
        <p:spPr>
          <a:xfrm>
            <a:off x="8247888" y="3299155"/>
            <a:ext cx="173736" cy="173736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3" name="HardAnchor 163"/>
          <p:cNvSpPr/>
          <p:nvPr/>
        </p:nvSpPr>
        <p:spPr>
          <a:xfrm>
            <a:off x="7726680" y="3472891"/>
            <a:ext cx="173736" cy="173736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4" name="HardAnchor 164"/>
          <p:cNvSpPr/>
          <p:nvPr/>
        </p:nvSpPr>
        <p:spPr>
          <a:xfrm>
            <a:off x="7900416" y="3472891"/>
            <a:ext cx="173736" cy="173736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5" name="HardAnchor 165"/>
          <p:cNvSpPr/>
          <p:nvPr/>
        </p:nvSpPr>
        <p:spPr>
          <a:xfrm>
            <a:off x="8074152" y="3472891"/>
            <a:ext cx="173736" cy="173736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6" name="HardAnchor 166"/>
          <p:cNvSpPr/>
          <p:nvPr/>
        </p:nvSpPr>
        <p:spPr>
          <a:xfrm>
            <a:off x="8247888" y="3472891"/>
            <a:ext cx="173736" cy="173736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7" name="HardAnchorLine 167"/>
          <p:cNvSpPr/>
          <p:nvPr/>
        </p:nvSpPr>
        <p:spPr>
          <a:xfrm>
            <a:off x="7726680" y="2951683"/>
            <a:ext cx="173736" cy="1737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68" name="HardAnchorLine 168"/>
          <p:cNvSpPr/>
          <p:nvPr/>
        </p:nvSpPr>
        <p:spPr>
          <a:xfrm>
            <a:off x="7900416" y="2951683"/>
            <a:ext cx="173736" cy="1737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69" name="HardAnchorLine 169"/>
          <p:cNvSpPr/>
          <p:nvPr/>
        </p:nvSpPr>
        <p:spPr>
          <a:xfrm>
            <a:off x="8074152" y="2951683"/>
            <a:ext cx="173736" cy="1737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0" name="HardAnchorLine 170"/>
          <p:cNvSpPr/>
          <p:nvPr/>
        </p:nvSpPr>
        <p:spPr>
          <a:xfrm>
            <a:off x="8247888" y="2951683"/>
            <a:ext cx="173736" cy="1737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1" name="HardAnchorLine 171"/>
          <p:cNvSpPr/>
          <p:nvPr/>
        </p:nvSpPr>
        <p:spPr>
          <a:xfrm>
            <a:off x="7726680" y="3125419"/>
            <a:ext cx="173736" cy="1737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2" name="HardAnchorLine 172"/>
          <p:cNvSpPr/>
          <p:nvPr/>
        </p:nvSpPr>
        <p:spPr>
          <a:xfrm>
            <a:off x="7900416" y="3125419"/>
            <a:ext cx="173736" cy="1737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3" name="HardAnchorLine 173"/>
          <p:cNvSpPr/>
          <p:nvPr/>
        </p:nvSpPr>
        <p:spPr>
          <a:xfrm>
            <a:off x="8074152" y="3125419"/>
            <a:ext cx="173736" cy="1737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4" name="HardAnchorLine 174"/>
          <p:cNvSpPr/>
          <p:nvPr/>
        </p:nvSpPr>
        <p:spPr>
          <a:xfrm>
            <a:off x="8247888" y="3125419"/>
            <a:ext cx="173736" cy="1737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5" name="HardAnchorLine 175"/>
          <p:cNvSpPr/>
          <p:nvPr/>
        </p:nvSpPr>
        <p:spPr>
          <a:xfrm>
            <a:off x="7726680" y="3299155"/>
            <a:ext cx="173736" cy="1737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6" name="HardAnchorLine 176"/>
          <p:cNvSpPr/>
          <p:nvPr/>
        </p:nvSpPr>
        <p:spPr>
          <a:xfrm>
            <a:off x="7900416" y="3299155"/>
            <a:ext cx="173736" cy="1737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7" name="HardAnchorLine 177"/>
          <p:cNvSpPr/>
          <p:nvPr/>
        </p:nvSpPr>
        <p:spPr>
          <a:xfrm>
            <a:off x="8074152" y="3299155"/>
            <a:ext cx="173736" cy="1737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8" name="HardAnchorLine 178"/>
          <p:cNvSpPr/>
          <p:nvPr/>
        </p:nvSpPr>
        <p:spPr>
          <a:xfrm>
            <a:off x="8247888" y="3299155"/>
            <a:ext cx="173736" cy="1737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79" name="HardAnchorLine 179"/>
          <p:cNvSpPr/>
          <p:nvPr/>
        </p:nvSpPr>
        <p:spPr>
          <a:xfrm>
            <a:off x="7726680" y="3472891"/>
            <a:ext cx="173736" cy="1737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80" name="HardAnchorLine 180"/>
          <p:cNvSpPr/>
          <p:nvPr/>
        </p:nvSpPr>
        <p:spPr>
          <a:xfrm>
            <a:off x="7900416" y="3472891"/>
            <a:ext cx="173736" cy="1737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81" name="HardAnchorLine 181"/>
          <p:cNvSpPr/>
          <p:nvPr/>
        </p:nvSpPr>
        <p:spPr>
          <a:xfrm>
            <a:off x="8074152" y="3472891"/>
            <a:ext cx="173736" cy="1737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82" name="HardAnchorLine 182"/>
          <p:cNvSpPr/>
          <p:nvPr/>
        </p:nvSpPr>
        <p:spPr>
          <a:xfrm>
            <a:off x="8247888" y="3472891"/>
            <a:ext cx="173736" cy="1737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83" name="HardAnchorFrame 183"/>
          <p:cNvSpPr/>
          <p:nvPr/>
        </p:nvSpPr>
        <p:spPr>
          <a:xfrm>
            <a:off x="7726680" y="2951683"/>
            <a:ext cx="694944" cy="69494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184" name="Label 184"/>
          <p:cNvSpPr/>
          <p:nvPr/>
        </p:nvSpPr>
        <p:spPr>
          <a:xfrm>
            <a:off x="4526280" y="2649931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dirty="0">
                <a:solidFill>
                  <a:srgbClr val="1F1F1F"/>
                </a:solidFill>
                <a:latin typeface="+mn-lt"/>
                <a:cs typeface="+mn-cs"/>
              </a:rPr>
              <a:t xml:space="preserve">Reshape</a:t>
            </a:r>
            <a:endParaRPr lang="en-US" sz="1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5" name="Label 185"/>
              <p:cNvSpPr/>
              <p:nvPr/>
            </p:nvSpPr>
            <p:spPr>
              <a:xfrm>
                <a:off x="5897880" y="2649931"/>
                <a:ext cx="1426464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lang="en-US" sz="11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1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100" b="0" i="0" dirty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∈[0,1</m:t>
                      </m:r>
                      <m:sSup>
                        <m:sSupPr>
                          <m:ctrlPr>
                            <a:rPr lang="en-US" sz="11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1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100" b="0" i="0" dirty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4×4</m:t>
                          </m:r>
                        </m:sup>
                      </m:sSup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185" name="Label 185"/>
              <p:cNvSpPr/>
              <p:nvPr/>
            </p:nvSpPr>
            <p:spPr>
              <a:xfrm>
                <a:off x="5897880" y="2649931"/>
                <a:ext cx="1426464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Â∈[0,1]^4×4</a:t>
                </a:r>
                <a:endParaRPr lang="en-US" sz="105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Label 186"/>
              <p:cNvSpPr/>
              <p:nvPr/>
            </p:nvSpPr>
            <p:spPr>
              <a:xfrm>
                <a:off x="7360920" y="2649931"/>
                <a:ext cx="1426464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Hard Anchor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10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10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endParaRPr lang="en-US" sz="1050" dirty="0"/>
              </a:p>
            </p:txBody>
          </p:sp>
        </mc:Choice>
        <mc:Fallback>
          <p:sp>
            <p:nvSpPr>
              <p:cNvPr id="186" name="Label 186"/>
              <p:cNvSpPr/>
              <p:nvPr/>
            </p:nvSpPr>
            <p:spPr>
              <a:xfrm>
                <a:off x="7360920" y="2649931"/>
                <a:ext cx="1426464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Hard Anchor </a:t>
                </a:r>
                <a:r>
                  <a:rPr lang="en-US" sz="1050" b="1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p̂</a:t>
                </a:r>
                <a:endParaRPr lang="en-US" sz="1050" dirty="0"/>
              </a:p>
            </p:txBody>
          </p:sp>
        </mc:Fallback>
      </mc:AlternateContent>
      <p:sp>
        <p:nvSpPr>
          <p:cNvPr id="187" name="Label 187"/>
          <p:cNvSpPr/>
          <p:nvPr/>
        </p:nvSpPr>
        <p:spPr>
          <a:xfrm>
            <a:off x="4480560" y="3719779"/>
            <a:ext cx="133502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D4D4D"/>
                </a:solidFill>
                <a:latin typeface="+mn-lt"/>
                <a:cs typeface="+mn-cs"/>
              </a:rPr>
              <a:t xml:space="preserve">16 Logits as</a:t>
            </a:r>
            <a:endParaRPr lang="en-US" sz="1000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D4D4D"/>
                </a:solidFill>
                <a:latin typeface="+mn-lt"/>
                <a:cs typeface="+mn-cs"/>
              </a:rPr>
              <a:t xml:space="preserve">Grid Positions</a:t>
            </a:r>
            <a:endParaRPr lang="en-US" sz="1000" dirty="0"/>
          </a:p>
        </p:txBody>
      </p:sp>
      <p:sp>
        <p:nvSpPr>
          <p:cNvPr id="188" name="Label 188"/>
          <p:cNvSpPr/>
          <p:nvPr/>
        </p:nvSpPr>
        <p:spPr>
          <a:xfrm>
            <a:off x="5897880" y="3719779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D4D4D"/>
                </a:solidFill>
                <a:latin typeface="+mn-lt"/>
                <a:cs typeface="+mn-cs"/>
              </a:rPr>
              <a:t xml:space="preserve">All 16 Cells Sum to 1</a:t>
            </a:r>
            <a:endParaRPr lang="en-US" sz="1000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D4D4D"/>
                </a:solidFill>
                <a:latin typeface="+mn-lt"/>
                <a:cs typeface="+mn-cs"/>
              </a:rPr>
              <a:t xml:space="preserve">(One Categorical)</a:t>
            </a:r>
            <a:endParaRPr lang="en-US" sz="1000" dirty="0"/>
          </a:p>
        </p:txBody>
      </p:sp>
      <p:sp>
        <p:nvSpPr>
          <p:cNvPr id="189" name="Label 189"/>
          <p:cNvSpPr/>
          <p:nvPr/>
        </p:nvSpPr>
        <p:spPr>
          <a:xfrm>
            <a:off x="7360920" y="3719779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D4D4D"/>
                </a:solidFill>
                <a:latin typeface="+mn-lt"/>
                <a:cs typeface="+mn-cs"/>
              </a:rPr>
              <a:t xml:space="preserve">Argmax over Cells</a:t>
            </a:r>
            <a:endParaRPr lang="en-US" sz="1000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dirty="0">
                <a:solidFill>
                  <a:srgbClr val="4D4D4D"/>
                </a:solidFill>
                <a:latin typeface="+mn-lt"/>
                <a:cs typeface="+mn-cs"/>
              </a:rPr>
              <a:t xml:space="preserve">Evaluation Only</a:t>
            </a:r>
            <a:endParaRPr lang="en-US" sz="1000" dirty="0"/>
          </a:p>
        </p:txBody>
      </p:sp>
      <p:sp>
        <p:nvSpPr>
          <p:cNvPr id="190" name="Arrow 190"/>
          <p:cNvSpPr/>
          <p:nvPr/>
        </p:nvSpPr>
        <p:spPr>
          <a:xfrm>
            <a:off x="4526280" y="3299155"/>
            <a:ext cx="228600" cy="1"/>
          </a:xfrm>
          <a:custGeom>
            <a:avLst/>
            <a:gdLst/>
            <a:ahLst/>
            <a:cxnLst/>
            <a:rect l="0" t="0" r="r" b="b"/>
            <a:pathLst>
              <a:path w="228600" h="1" fill="none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1" name="Label 191"/>
              <p:cNvSpPr/>
              <p:nvPr/>
            </p:nvSpPr>
            <p:spPr>
              <a:xfrm>
                <a:off x="4498848" y="3024835"/>
                <a:ext cx="301752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110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191" name="Label 191"/>
              <p:cNvSpPr/>
              <p:nvPr/>
            </p:nvSpPr>
            <p:spPr>
              <a:xfrm>
                <a:off x="4498848" y="3024835"/>
                <a:ext cx="301752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16</a:t>
                </a:r>
                <a:endParaRPr lang="en-US" sz="1050" dirty="0"/>
              </a:p>
            </p:txBody>
          </p:sp>
        </mc:Fallback>
      </mc:AlternateContent>
      <p:sp>
        <p:nvSpPr>
          <p:cNvPr id="192" name="Arrow 192"/>
          <p:cNvSpPr/>
          <p:nvPr/>
        </p:nvSpPr>
        <p:spPr>
          <a:xfrm>
            <a:off x="5532120" y="3299155"/>
            <a:ext cx="694944" cy="1"/>
          </a:xfrm>
          <a:custGeom>
            <a:avLst/>
            <a:gdLst/>
            <a:ahLst/>
            <a:cxnLst/>
            <a:rect l="0" t="0" r="r" b="b"/>
            <a:pathLst>
              <a:path w="694944" h="1" fill="none">
                <a:moveTo>
                  <a:pt x="0" y="0"/>
                </a:moveTo>
                <a:lnTo>
                  <a:pt x="694944" y="0"/>
                </a:lnTo>
              </a:path>
            </a:pathLst>
          </a:custGeom>
          <a:noFill/>
          <a:ln w="19050" cap="flat">
            <a:solidFill>
              <a:srgbClr val="0C234B"/>
            </a:solidFill>
            <a:round/>
            <a:tailEnd type="triangle" w="med" len="med"/>
          </a:ln>
        </p:spPr>
      </p:sp>
      <p:sp>
        <p:nvSpPr>
          <p:cNvPr id="193" name="Label 193"/>
          <p:cNvSpPr/>
          <p:nvPr/>
        </p:nvSpPr>
        <p:spPr>
          <a:xfrm>
            <a:off x="5358384" y="3024835"/>
            <a:ext cx="104241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1F1F"/>
                </a:solidFill>
                <a:latin typeface="+mn-lt"/>
                <a:cs typeface="+mn-cs"/>
              </a:rPr>
              <a:t xml:space="preserve">Softmax</a:t>
            </a:r>
            <a:endParaRPr lang="en-US" sz="1000" dirty="0"/>
          </a:p>
        </p:txBody>
      </p:sp>
      <p:sp>
        <p:nvSpPr>
          <p:cNvPr id="194" name="Label 194"/>
          <p:cNvSpPr/>
          <p:nvPr/>
        </p:nvSpPr>
        <p:spPr>
          <a:xfrm>
            <a:off x="5358384" y="3344875"/>
            <a:ext cx="104241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D4D4D"/>
                </a:solidFill>
                <a:latin typeface="+mn-lt"/>
                <a:cs typeface="+mn-cs"/>
              </a:rPr>
              <a:t xml:space="preserve">Over All 16</a:t>
            </a:r>
            <a:endParaRPr lang="en-US" sz="1000" dirty="0"/>
          </a:p>
        </p:txBody>
      </p:sp>
      <p:sp>
        <p:nvSpPr>
          <p:cNvPr id="195" name="Arrow 195"/>
          <p:cNvSpPr/>
          <p:nvPr/>
        </p:nvSpPr>
        <p:spPr>
          <a:xfrm>
            <a:off x="7004304" y="3299155"/>
            <a:ext cx="676656" cy="1"/>
          </a:xfrm>
          <a:custGeom>
            <a:avLst/>
            <a:gdLst/>
            <a:ahLst/>
            <a:cxnLst/>
            <a:rect l="0" t="0" r="r" b="b"/>
            <a:pathLst>
              <a:path w="676656" h="1" fill="none">
                <a:moveTo>
                  <a:pt x="0" y="0"/>
                </a:moveTo>
                <a:lnTo>
                  <a:pt x="676656" y="0"/>
                </a:lnTo>
              </a:path>
            </a:pathLst>
          </a:custGeom>
          <a:noFill/>
          <a:ln w="19050" cap="flat">
            <a:solidFill>
              <a:srgbClr val="AB0520"/>
            </a:solidFill>
            <a:round/>
            <a:tailEnd type="triangle" w="med" len="med"/>
          </a:ln>
        </p:spPr>
      </p:sp>
      <p:sp>
        <p:nvSpPr>
          <p:cNvPr id="196" name="Panel 196"/>
          <p:cNvSpPr/>
          <p:nvPr/>
        </p:nvSpPr>
        <p:spPr>
          <a:xfrm>
            <a:off x="457200" y="4526280"/>
            <a:ext cx="4041648" cy="1755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9AA6B8"/>
            </a:solidFill>
          </a:ln>
        </p:spPr>
        <p:txBody>
          <a:bodyPr wrap="square" lIns="54864" tIns="36576" rIns="54864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Label 197"/>
              <p:cNvSpPr/>
              <p:nvPr/>
            </p:nvSpPr>
            <p:spPr>
              <a:xfrm>
                <a:off x="585216" y="4617720"/>
                <a:ext cx="3785616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How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5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50" b="0" i="0" dirty="0">
                            <a:solidFill>
                              <a:srgbClr val="0C234B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120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 Replaces FIND</a:t>
                </a:r>
                <a:endParaRPr lang="en-US" sz="1200" dirty="0"/>
              </a:p>
            </p:txBody>
          </p:sp>
        </mc:Choice>
        <mc:Fallback>
          <p:sp>
            <p:nvSpPr>
              <p:cNvPr id="197" name="Label 197"/>
              <p:cNvSpPr/>
              <p:nvPr/>
            </p:nvSpPr>
            <p:spPr>
              <a:xfrm>
                <a:off x="585216" y="4617720"/>
                <a:ext cx="3785616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How </a:t>
                </a:r>
                <a:r>
                  <a:rPr lang="en-US" sz="120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Â</a:t>
                </a:r>
                <a:r>
                  <a:rPr lang="en-US" sz="1200" b="1" i="0" dirty="0">
                    <a:solidFill>
                      <a:srgbClr val="0C234B"/>
                    </a:solidFill>
                    <a:latin typeface="+mn-lt"/>
                    <a:cs typeface="+mn-cs"/>
                  </a:rPr>
                  <a:t xml:space="preserve"> Replaces FIND</a:t>
                </a:r>
                <a:endParaRPr lang="en-US" sz="12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Label 198"/>
              <p:cNvSpPr/>
              <p:nvPr/>
            </p:nvSpPr>
            <p:spPr>
              <a:xfrm>
                <a:off x="585216" y="4928616"/>
                <a:ext cx="3785616" cy="1280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Architecture 1: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5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FIND(</m:t>
                    </m:r>
                    <m:sSub>
                      <m:sSubPr>
                        <m:ctrlP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105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 = One-Hot at the Blue Pixel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000" dirty="0"/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Architecture 2: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US" sz="1050" b="0" i="0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softmax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func>
                  </m:oMath>
                </a14:m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, Never Looks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050" b="0" i="0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000" dirty="0"/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5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5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5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50" b="0" i="0" dirty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 PASTE(</m:t>
                      </m:r>
                      <m:acc>
                        <m:accPr>
                          <m:chr m:val="̂"/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05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05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1050" b="0" i="0" dirty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50" dirty="0"/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Soft paste over all 16 positions,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5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exec</m:t>
                        </m:r>
                      </m:sub>
                    </m:sSub>
                  </m:oMath>
                </a14:m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trains both heads.</a:t>
                </a:r>
                <a:endParaRPr lang="en-US" sz="1000" dirty="0"/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At evaluation, paste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05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5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</m:oMath>
                </a14:m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05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5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US" sz="105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05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050" b="0" i="0" dirty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050" b="0" i="0" dirty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sub>
                            <m:r>
                              <a:rPr lang="en-US" sz="1050" b="0" i="0" dirty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sz="1050" b="0" i="0" dirty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050" b="0" i="0" dirty="0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050" b="0" i="0" dirty="0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sz="1050" b="0" i="0" dirty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.</a:t>
                </a:r>
                <a:endParaRPr lang="en-US" sz="1000" dirty="0"/>
              </a:p>
            </p:txBody>
          </p:sp>
        </mc:Choice>
        <mc:Fallback>
          <p:sp>
            <p:nvSpPr>
              <p:cNvPr id="198" name="Label 198"/>
              <p:cNvSpPr/>
              <p:nvPr/>
            </p:nvSpPr>
            <p:spPr>
              <a:xfrm>
                <a:off x="585216" y="4928616"/>
                <a:ext cx="3785616" cy="1280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Architecture 1:  </a:t>
                </a: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FIND(x_i)</a:t>
                </a: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 = One-Hot at the Blue Pixel of </a:t>
                </a: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x_i</a:t>
                </a:r>
                <a:endParaRPr lang="en-US" sz="1000" dirty="0"/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Architecture 2:  </a:t>
                </a: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Â=softmax (g(z))</a:t>
                </a: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, Never Looks at </a:t>
                </a: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x_i</a:t>
                </a:r>
                <a:endParaRPr lang="en-US" sz="1000" dirty="0"/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en-US" sz="105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Ŷ_i=Σ_p Â_p PASTE(Ŝ,x_i,p)</a:t>
                </a:r>
                <a:endParaRPr lang="en-US" sz="1050" dirty="0"/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Soft paste over all 16 positions, so </a:t>
                </a: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L_exec</a:t>
                </a: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trains both heads.</a:t>
                </a:r>
                <a:endParaRPr lang="en-US" sz="1000" dirty="0"/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At evaluation, paste </a:t>
                </a: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T̂</a:t>
                </a: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at </a:t>
                </a: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p̂=argmax_p Â_p</a:t>
                </a: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.</a:t>
                </a:r>
                <a:endParaRPr lang="en-US" sz="1000" dirty="0"/>
              </a:p>
            </p:txBody>
          </p:sp>
        </mc:Fallback>
      </mc:AlternateContent>
      <p:sp>
        <p:nvSpPr>
          <p:cNvPr id="199" name="Panel 199"/>
          <p:cNvSpPr/>
          <p:nvPr/>
        </p:nvSpPr>
        <p:spPr>
          <a:xfrm>
            <a:off x="4645152" y="4526280"/>
            <a:ext cx="4041648" cy="1755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9AA6B8"/>
            </a:solidFill>
          </a:ln>
        </p:spPr>
        <p:txBody>
          <a:bodyPr wrap="square" lIns="54864" tIns="36576" rIns="54864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/>
          </a:p>
        </p:txBody>
      </p:sp>
      <p:sp>
        <p:nvSpPr>
          <p:cNvPr id="200" name="Label 200"/>
          <p:cNvSpPr/>
          <p:nvPr/>
        </p:nvSpPr>
        <p:spPr>
          <a:xfrm>
            <a:off x="4773168" y="4617720"/>
            <a:ext cx="378561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C234B"/>
                </a:solidFill>
                <a:latin typeface="+mn-lt"/>
                <a:cs typeface="+mn-cs"/>
              </a:rPr>
              <a:t xml:space="preserve">Why We Expect It to Fail</a:t>
            </a:r>
            <a:endParaRPr lang="en-US" sz="1200" dirty="0"/>
          </a:p>
        </p:txBody>
      </p:sp>
      <p:sp>
        <p:nvSpPr>
          <p:cNvPr id="201" name="PairInput 201"/>
          <p:cNvSpPr/>
          <p:nvPr/>
        </p:nvSpPr>
        <p:spPr>
          <a:xfrm>
            <a:off x="4828032" y="4983480"/>
            <a:ext cx="100584" cy="100584"/>
          </a:xfrm>
          <a:prstGeom prst="rect">
            <a:avLst/>
          </a:prstGeom>
          <a:solidFill>
            <a:srgbClr val="0074D9"/>
          </a:solidFill>
          <a:ln>
            <a:noFill/>
          </a:ln>
        </p:spPr>
      </p:sp>
      <p:sp>
        <p:nvSpPr>
          <p:cNvPr id="202" name="PairInput 202"/>
          <p:cNvSpPr/>
          <p:nvPr/>
        </p:nvSpPr>
        <p:spPr>
          <a:xfrm>
            <a:off x="4928616" y="4983480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03" name="PairInput 203"/>
          <p:cNvSpPr/>
          <p:nvPr/>
        </p:nvSpPr>
        <p:spPr>
          <a:xfrm>
            <a:off x="5029200" y="4983480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04" name="PairInput 204"/>
          <p:cNvSpPr/>
          <p:nvPr/>
        </p:nvSpPr>
        <p:spPr>
          <a:xfrm>
            <a:off x="5129784" y="4983480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05" name="PairInput 205"/>
          <p:cNvSpPr/>
          <p:nvPr/>
        </p:nvSpPr>
        <p:spPr>
          <a:xfrm>
            <a:off x="4828032" y="5084064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06" name="PairInput 206"/>
          <p:cNvSpPr/>
          <p:nvPr/>
        </p:nvSpPr>
        <p:spPr>
          <a:xfrm>
            <a:off x="4928616" y="5084064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07" name="PairInput 207"/>
          <p:cNvSpPr/>
          <p:nvPr/>
        </p:nvSpPr>
        <p:spPr>
          <a:xfrm>
            <a:off x="5029200" y="5084064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08" name="PairInput 208"/>
          <p:cNvSpPr/>
          <p:nvPr/>
        </p:nvSpPr>
        <p:spPr>
          <a:xfrm>
            <a:off x="5129784" y="5084064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09" name="PairInput 209"/>
          <p:cNvSpPr/>
          <p:nvPr/>
        </p:nvSpPr>
        <p:spPr>
          <a:xfrm>
            <a:off x="4828032" y="5184648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10" name="PairInput 210"/>
          <p:cNvSpPr/>
          <p:nvPr/>
        </p:nvSpPr>
        <p:spPr>
          <a:xfrm>
            <a:off x="4928616" y="5184648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11" name="PairInput 211"/>
          <p:cNvSpPr/>
          <p:nvPr/>
        </p:nvSpPr>
        <p:spPr>
          <a:xfrm>
            <a:off x="5029200" y="5184648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12" name="PairInput 212"/>
          <p:cNvSpPr/>
          <p:nvPr/>
        </p:nvSpPr>
        <p:spPr>
          <a:xfrm>
            <a:off x="5129784" y="5184648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13" name="PairInput 213"/>
          <p:cNvSpPr/>
          <p:nvPr/>
        </p:nvSpPr>
        <p:spPr>
          <a:xfrm>
            <a:off x="4828032" y="5285232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14" name="PairInput 214"/>
          <p:cNvSpPr/>
          <p:nvPr/>
        </p:nvSpPr>
        <p:spPr>
          <a:xfrm>
            <a:off x="4928616" y="5285232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15" name="PairInput 215"/>
          <p:cNvSpPr/>
          <p:nvPr/>
        </p:nvSpPr>
        <p:spPr>
          <a:xfrm>
            <a:off x="5029200" y="5285232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16" name="PairInput 216"/>
          <p:cNvSpPr/>
          <p:nvPr/>
        </p:nvSpPr>
        <p:spPr>
          <a:xfrm>
            <a:off x="5129784" y="5285232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17" name="PairInputLine 217"/>
          <p:cNvSpPr/>
          <p:nvPr/>
        </p:nvSpPr>
        <p:spPr>
          <a:xfrm>
            <a:off x="4828032" y="4983480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18" name="PairInputLine 218"/>
          <p:cNvSpPr/>
          <p:nvPr/>
        </p:nvSpPr>
        <p:spPr>
          <a:xfrm>
            <a:off x="4928616" y="4983480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19" name="PairInputLine 219"/>
          <p:cNvSpPr/>
          <p:nvPr/>
        </p:nvSpPr>
        <p:spPr>
          <a:xfrm>
            <a:off x="5029200" y="4983480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20" name="PairInputLine 220"/>
          <p:cNvSpPr/>
          <p:nvPr/>
        </p:nvSpPr>
        <p:spPr>
          <a:xfrm>
            <a:off x="5129784" y="4983480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21" name="PairInputLine 221"/>
          <p:cNvSpPr/>
          <p:nvPr/>
        </p:nvSpPr>
        <p:spPr>
          <a:xfrm>
            <a:off x="4828032" y="5084064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22" name="PairInputLine 222"/>
          <p:cNvSpPr/>
          <p:nvPr/>
        </p:nvSpPr>
        <p:spPr>
          <a:xfrm>
            <a:off x="4928616" y="5084064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23" name="PairInputLine 223"/>
          <p:cNvSpPr/>
          <p:nvPr/>
        </p:nvSpPr>
        <p:spPr>
          <a:xfrm>
            <a:off x="5029200" y="5084064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24" name="PairInputLine 224"/>
          <p:cNvSpPr/>
          <p:nvPr/>
        </p:nvSpPr>
        <p:spPr>
          <a:xfrm>
            <a:off x="5129784" y="5084064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25" name="PairInputLine 225"/>
          <p:cNvSpPr/>
          <p:nvPr/>
        </p:nvSpPr>
        <p:spPr>
          <a:xfrm>
            <a:off x="4828032" y="5184648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26" name="PairInputLine 226"/>
          <p:cNvSpPr/>
          <p:nvPr/>
        </p:nvSpPr>
        <p:spPr>
          <a:xfrm>
            <a:off x="4928616" y="5184648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27" name="PairInputLine 227"/>
          <p:cNvSpPr/>
          <p:nvPr/>
        </p:nvSpPr>
        <p:spPr>
          <a:xfrm>
            <a:off x="5029200" y="5184648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28" name="PairInputLine 228"/>
          <p:cNvSpPr/>
          <p:nvPr/>
        </p:nvSpPr>
        <p:spPr>
          <a:xfrm>
            <a:off x="5129784" y="5184648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29" name="PairInputLine 229"/>
          <p:cNvSpPr/>
          <p:nvPr/>
        </p:nvSpPr>
        <p:spPr>
          <a:xfrm>
            <a:off x="4828032" y="5285232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30" name="PairInputLine 230"/>
          <p:cNvSpPr/>
          <p:nvPr/>
        </p:nvSpPr>
        <p:spPr>
          <a:xfrm>
            <a:off x="4928616" y="5285232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31" name="PairInputLine 231"/>
          <p:cNvSpPr/>
          <p:nvPr/>
        </p:nvSpPr>
        <p:spPr>
          <a:xfrm>
            <a:off x="5029200" y="5285232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32" name="PairInputLine 232"/>
          <p:cNvSpPr/>
          <p:nvPr/>
        </p:nvSpPr>
        <p:spPr>
          <a:xfrm>
            <a:off x="5129784" y="5285232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33" name="PairInputFrame 233"/>
          <p:cNvSpPr/>
          <p:nvPr/>
        </p:nvSpPr>
        <p:spPr>
          <a:xfrm>
            <a:off x="4828032" y="4983480"/>
            <a:ext cx="402336" cy="4023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4" name="Label 234"/>
              <p:cNvSpPr/>
              <p:nvPr/>
            </p:nvSpPr>
            <p:spPr>
              <a:xfrm>
                <a:off x="4736592" y="5422392"/>
                <a:ext cx="585216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234" name="Label 234"/>
              <p:cNvSpPr/>
              <p:nvPr/>
            </p:nvSpPr>
            <p:spPr>
              <a:xfrm>
                <a:off x="4736592" y="5422392"/>
                <a:ext cx="585216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x_1</a:t>
                </a:r>
                <a:endParaRPr lang="en-US" sz="1000" dirty="0"/>
              </a:p>
            </p:txBody>
          </p:sp>
        </mc:Fallback>
      </mc:AlternateContent>
      <p:sp>
        <p:nvSpPr>
          <p:cNvPr id="235" name="PairInput 235"/>
          <p:cNvSpPr/>
          <p:nvPr/>
        </p:nvSpPr>
        <p:spPr>
          <a:xfrm>
            <a:off x="5431536" y="4983480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36" name="PairInput 236"/>
          <p:cNvSpPr/>
          <p:nvPr/>
        </p:nvSpPr>
        <p:spPr>
          <a:xfrm>
            <a:off x="5532120" y="4983480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37" name="PairInput 237"/>
          <p:cNvSpPr/>
          <p:nvPr/>
        </p:nvSpPr>
        <p:spPr>
          <a:xfrm>
            <a:off x="5632704" y="4983480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38" name="PairInput 238"/>
          <p:cNvSpPr/>
          <p:nvPr/>
        </p:nvSpPr>
        <p:spPr>
          <a:xfrm>
            <a:off x="5733288" y="4983480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39" name="PairInput 239"/>
          <p:cNvSpPr/>
          <p:nvPr/>
        </p:nvSpPr>
        <p:spPr>
          <a:xfrm>
            <a:off x="5431536" y="5084064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40" name="PairInput 240"/>
          <p:cNvSpPr/>
          <p:nvPr/>
        </p:nvSpPr>
        <p:spPr>
          <a:xfrm>
            <a:off x="5532120" y="5084064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41" name="PairInput 241"/>
          <p:cNvSpPr/>
          <p:nvPr/>
        </p:nvSpPr>
        <p:spPr>
          <a:xfrm>
            <a:off x="5632704" y="5084064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42" name="PairInput 242"/>
          <p:cNvSpPr/>
          <p:nvPr/>
        </p:nvSpPr>
        <p:spPr>
          <a:xfrm>
            <a:off x="5733288" y="5084064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43" name="PairInput 243"/>
          <p:cNvSpPr/>
          <p:nvPr/>
        </p:nvSpPr>
        <p:spPr>
          <a:xfrm>
            <a:off x="5431536" y="5184648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44" name="PairInput 244"/>
          <p:cNvSpPr/>
          <p:nvPr/>
        </p:nvSpPr>
        <p:spPr>
          <a:xfrm>
            <a:off x="5532120" y="5184648"/>
            <a:ext cx="100584" cy="100584"/>
          </a:xfrm>
          <a:prstGeom prst="rect">
            <a:avLst/>
          </a:prstGeom>
          <a:solidFill>
            <a:srgbClr val="0074D9"/>
          </a:solidFill>
          <a:ln>
            <a:noFill/>
          </a:ln>
        </p:spPr>
      </p:sp>
      <p:sp>
        <p:nvSpPr>
          <p:cNvPr id="245" name="PairInput 245"/>
          <p:cNvSpPr/>
          <p:nvPr/>
        </p:nvSpPr>
        <p:spPr>
          <a:xfrm>
            <a:off x="5632704" y="5184648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46" name="PairInput 246"/>
          <p:cNvSpPr/>
          <p:nvPr/>
        </p:nvSpPr>
        <p:spPr>
          <a:xfrm>
            <a:off x="5733288" y="5184648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47" name="PairInput 247"/>
          <p:cNvSpPr/>
          <p:nvPr/>
        </p:nvSpPr>
        <p:spPr>
          <a:xfrm>
            <a:off x="5431536" y="5285232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48" name="PairInput 248"/>
          <p:cNvSpPr/>
          <p:nvPr/>
        </p:nvSpPr>
        <p:spPr>
          <a:xfrm>
            <a:off x="5532120" y="5285232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49" name="PairInput 249"/>
          <p:cNvSpPr/>
          <p:nvPr/>
        </p:nvSpPr>
        <p:spPr>
          <a:xfrm>
            <a:off x="5632704" y="5285232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50" name="PairInput 250"/>
          <p:cNvSpPr/>
          <p:nvPr/>
        </p:nvSpPr>
        <p:spPr>
          <a:xfrm>
            <a:off x="5733288" y="5285232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51" name="PairInputLine 251"/>
          <p:cNvSpPr/>
          <p:nvPr/>
        </p:nvSpPr>
        <p:spPr>
          <a:xfrm>
            <a:off x="5431536" y="4983480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52" name="PairInputLine 252"/>
          <p:cNvSpPr/>
          <p:nvPr/>
        </p:nvSpPr>
        <p:spPr>
          <a:xfrm>
            <a:off x="5532120" y="4983480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53" name="PairInputLine 253"/>
          <p:cNvSpPr/>
          <p:nvPr/>
        </p:nvSpPr>
        <p:spPr>
          <a:xfrm>
            <a:off x="5632704" y="4983480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54" name="PairInputLine 254"/>
          <p:cNvSpPr/>
          <p:nvPr/>
        </p:nvSpPr>
        <p:spPr>
          <a:xfrm>
            <a:off x="5733288" y="4983480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55" name="PairInputLine 255"/>
          <p:cNvSpPr/>
          <p:nvPr/>
        </p:nvSpPr>
        <p:spPr>
          <a:xfrm>
            <a:off x="5431536" y="5084064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56" name="PairInputLine 256"/>
          <p:cNvSpPr/>
          <p:nvPr/>
        </p:nvSpPr>
        <p:spPr>
          <a:xfrm>
            <a:off x="5532120" y="5084064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57" name="PairInputLine 257"/>
          <p:cNvSpPr/>
          <p:nvPr/>
        </p:nvSpPr>
        <p:spPr>
          <a:xfrm>
            <a:off x="5632704" y="5084064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58" name="PairInputLine 258"/>
          <p:cNvSpPr/>
          <p:nvPr/>
        </p:nvSpPr>
        <p:spPr>
          <a:xfrm>
            <a:off x="5733288" y="5084064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59" name="PairInputLine 259"/>
          <p:cNvSpPr/>
          <p:nvPr/>
        </p:nvSpPr>
        <p:spPr>
          <a:xfrm>
            <a:off x="5431536" y="5184648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60" name="PairInputLine 260"/>
          <p:cNvSpPr/>
          <p:nvPr/>
        </p:nvSpPr>
        <p:spPr>
          <a:xfrm>
            <a:off x="5532120" y="5184648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61" name="PairInputLine 261"/>
          <p:cNvSpPr/>
          <p:nvPr/>
        </p:nvSpPr>
        <p:spPr>
          <a:xfrm>
            <a:off x="5632704" y="5184648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62" name="PairInputLine 262"/>
          <p:cNvSpPr/>
          <p:nvPr/>
        </p:nvSpPr>
        <p:spPr>
          <a:xfrm>
            <a:off x="5733288" y="5184648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63" name="PairInputLine 263"/>
          <p:cNvSpPr/>
          <p:nvPr/>
        </p:nvSpPr>
        <p:spPr>
          <a:xfrm>
            <a:off x="5431536" y="5285232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64" name="PairInputLine 264"/>
          <p:cNvSpPr/>
          <p:nvPr/>
        </p:nvSpPr>
        <p:spPr>
          <a:xfrm>
            <a:off x="5532120" y="5285232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65" name="PairInputLine 265"/>
          <p:cNvSpPr/>
          <p:nvPr/>
        </p:nvSpPr>
        <p:spPr>
          <a:xfrm>
            <a:off x="5632704" y="5285232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66" name="PairInputLine 266"/>
          <p:cNvSpPr/>
          <p:nvPr/>
        </p:nvSpPr>
        <p:spPr>
          <a:xfrm>
            <a:off x="5733288" y="5285232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67" name="PairInputFrame 267"/>
          <p:cNvSpPr/>
          <p:nvPr/>
        </p:nvSpPr>
        <p:spPr>
          <a:xfrm>
            <a:off x="5431536" y="4983480"/>
            <a:ext cx="402336" cy="4023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8" name="Label 268"/>
              <p:cNvSpPr/>
              <p:nvPr/>
            </p:nvSpPr>
            <p:spPr>
              <a:xfrm>
                <a:off x="5340096" y="5422392"/>
                <a:ext cx="585216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268" name="Label 268"/>
              <p:cNvSpPr/>
              <p:nvPr/>
            </p:nvSpPr>
            <p:spPr>
              <a:xfrm>
                <a:off x="5340096" y="5422392"/>
                <a:ext cx="585216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x_2</a:t>
                </a:r>
                <a:endParaRPr lang="en-US" sz="1000" dirty="0"/>
              </a:p>
            </p:txBody>
          </p:sp>
        </mc:Fallback>
      </mc:AlternateContent>
      <p:sp>
        <p:nvSpPr>
          <p:cNvPr id="269" name="PairInput 269"/>
          <p:cNvSpPr/>
          <p:nvPr/>
        </p:nvSpPr>
        <p:spPr>
          <a:xfrm>
            <a:off x="6035040" y="4983480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70" name="PairInput 270"/>
          <p:cNvSpPr/>
          <p:nvPr/>
        </p:nvSpPr>
        <p:spPr>
          <a:xfrm>
            <a:off x="6135624" y="4983480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71" name="PairInput 271"/>
          <p:cNvSpPr/>
          <p:nvPr/>
        </p:nvSpPr>
        <p:spPr>
          <a:xfrm>
            <a:off x="6236208" y="4983480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72" name="PairInput 272"/>
          <p:cNvSpPr/>
          <p:nvPr/>
        </p:nvSpPr>
        <p:spPr>
          <a:xfrm>
            <a:off x="6336792" y="4983480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73" name="PairInput 273"/>
          <p:cNvSpPr/>
          <p:nvPr/>
        </p:nvSpPr>
        <p:spPr>
          <a:xfrm>
            <a:off x="6035040" y="5084064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74" name="PairInput 274"/>
          <p:cNvSpPr/>
          <p:nvPr/>
        </p:nvSpPr>
        <p:spPr>
          <a:xfrm>
            <a:off x="6135624" y="5084064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75" name="PairInput 275"/>
          <p:cNvSpPr/>
          <p:nvPr/>
        </p:nvSpPr>
        <p:spPr>
          <a:xfrm>
            <a:off x="6236208" y="5084064"/>
            <a:ext cx="100584" cy="100584"/>
          </a:xfrm>
          <a:prstGeom prst="rect">
            <a:avLst/>
          </a:prstGeom>
          <a:solidFill>
            <a:srgbClr val="0074D9"/>
          </a:solidFill>
          <a:ln>
            <a:noFill/>
          </a:ln>
        </p:spPr>
      </p:sp>
      <p:sp>
        <p:nvSpPr>
          <p:cNvPr id="276" name="PairInput 276"/>
          <p:cNvSpPr/>
          <p:nvPr/>
        </p:nvSpPr>
        <p:spPr>
          <a:xfrm>
            <a:off x="6336792" y="5084064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77" name="PairInput 277"/>
          <p:cNvSpPr/>
          <p:nvPr/>
        </p:nvSpPr>
        <p:spPr>
          <a:xfrm>
            <a:off x="6035040" y="5184648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78" name="PairInput 278"/>
          <p:cNvSpPr/>
          <p:nvPr/>
        </p:nvSpPr>
        <p:spPr>
          <a:xfrm>
            <a:off x="6135624" y="5184648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79" name="PairInput 279"/>
          <p:cNvSpPr/>
          <p:nvPr/>
        </p:nvSpPr>
        <p:spPr>
          <a:xfrm>
            <a:off x="6236208" y="5184648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80" name="PairInput 280"/>
          <p:cNvSpPr/>
          <p:nvPr/>
        </p:nvSpPr>
        <p:spPr>
          <a:xfrm>
            <a:off x="6336792" y="5184648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81" name="PairInput 281"/>
          <p:cNvSpPr/>
          <p:nvPr/>
        </p:nvSpPr>
        <p:spPr>
          <a:xfrm>
            <a:off x="6035040" y="5285232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82" name="PairInput 282"/>
          <p:cNvSpPr/>
          <p:nvPr/>
        </p:nvSpPr>
        <p:spPr>
          <a:xfrm>
            <a:off x="6135624" y="5285232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83" name="PairInput 283"/>
          <p:cNvSpPr/>
          <p:nvPr/>
        </p:nvSpPr>
        <p:spPr>
          <a:xfrm>
            <a:off x="6236208" y="5285232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84" name="PairInput 284"/>
          <p:cNvSpPr/>
          <p:nvPr/>
        </p:nvSpPr>
        <p:spPr>
          <a:xfrm>
            <a:off x="6336792" y="5285232"/>
            <a:ext cx="100584" cy="1005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85" name="PairInputLine 285"/>
          <p:cNvSpPr/>
          <p:nvPr/>
        </p:nvSpPr>
        <p:spPr>
          <a:xfrm>
            <a:off x="6035040" y="4983480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86" name="PairInputLine 286"/>
          <p:cNvSpPr/>
          <p:nvPr/>
        </p:nvSpPr>
        <p:spPr>
          <a:xfrm>
            <a:off x="6135624" y="4983480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87" name="PairInputLine 287"/>
          <p:cNvSpPr/>
          <p:nvPr/>
        </p:nvSpPr>
        <p:spPr>
          <a:xfrm>
            <a:off x="6236208" y="4983480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88" name="PairInputLine 288"/>
          <p:cNvSpPr/>
          <p:nvPr/>
        </p:nvSpPr>
        <p:spPr>
          <a:xfrm>
            <a:off x="6336792" y="4983480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89" name="PairInputLine 289"/>
          <p:cNvSpPr/>
          <p:nvPr/>
        </p:nvSpPr>
        <p:spPr>
          <a:xfrm>
            <a:off x="6035040" y="5084064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90" name="PairInputLine 290"/>
          <p:cNvSpPr/>
          <p:nvPr/>
        </p:nvSpPr>
        <p:spPr>
          <a:xfrm>
            <a:off x="6135624" y="5084064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91" name="PairInputLine 291"/>
          <p:cNvSpPr/>
          <p:nvPr/>
        </p:nvSpPr>
        <p:spPr>
          <a:xfrm>
            <a:off x="6236208" y="5084064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92" name="PairInputLine 292"/>
          <p:cNvSpPr/>
          <p:nvPr/>
        </p:nvSpPr>
        <p:spPr>
          <a:xfrm>
            <a:off x="6336792" y="5084064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93" name="PairInputLine 293"/>
          <p:cNvSpPr/>
          <p:nvPr/>
        </p:nvSpPr>
        <p:spPr>
          <a:xfrm>
            <a:off x="6035040" y="5184648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94" name="PairInputLine 294"/>
          <p:cNvSpPr/>
          <p:nvPr/>
        </p:nvSpPr>
        <p:spPr>
          <a:xfrm>
            <a:off x="6135624" y="5184648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95" name="PairInputLine 295"/>
          <p:cNvSpPr/>
          <p:nvPr/>
        </p:nvSpPr>
        <p:spPr>
          <a:xfrm>
            <a:off x="6236208" y="5184648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96" name="PairInputLine 296"/>
          <p:cNvSpPr/>
          <p:nvPr/>
        </p:nvSpPr>
        <p:spPr>
          <a:xfrm>
            <a:off x="6336792" y="5184648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97" name="PairInputLine 297"/>
          <p:cNvSpPr/>
          <p:nvPr/>
        </p:nvSpPr>
        <p:spPr>
          <a:xfrm>
            <a:off x="6035040" y="5285232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98" name="PairInputLine 298"/>
          <p:cNvSpPr/>
          <p:nvPr/>
        </p:nvSpPr>
        <p:spPr>
          <a:xfrm>
            <a:off x="6135624" y="5285232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299" name="PairInputLine 299"/>
          <p:cNvSpPr/>
          <p:nvPr/>
        </p:nvSpPr>
        <p:spPr>
          <a:xfrm>
            <a:off x="6236208" y="5285232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300" name="PairInputLine 300"/>
          <p:cNvSpPr/>
          <p:nvPr/>
        </p:nvSpPr>
        <p:spPr>
          <a:xfrm>
            <a:off x="6336792" y="5285232"/>
            <a:ext cx="100584" cy="100584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p:sp>
        <p:nvSpPr>
          <p:cNvPr id="301" name="PairInputFrame 301"/>
          <p:cNvSpPr/>
          <p:nvPr/>
        </p:nvSpPr>
        <p:spPr>
          <a:xfrm>
            <a:off x="6035040" y="4983480"/>
            <a:ext cx="402336" cy="4023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2" name="Label 302"/>
              <p:cNvSpPr/>
              <p:nvPr/>
            </p:nvSpPr>
            <p:spPr>
              <a:xfrm>
                <a:off x="5943600" y="5422392"/>
                <a:ext cx="585216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 dirty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302" name="Label 302"/>
              <p:cNvSpPr/>
              <p:nvPr/>
            </p:nvSpPr>
            <p:spPr>
              <a:xfrm>
                <a:off x="5943600" y="5422392"/>
                <a:ext cx="585216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1F1F1F"/>
                    </a:solidFill>
                    <a:latin typeface="+mn-lt"/>
                    <a:cs typeface="+mn-cs"/>
                  </a:rPr>
                  <a:t xml:space="preserve">x_3</a:t>
                </a:r>
                <a:endParaRPr lang="en-US" sz="1000" dirty="0"/>
              </a:p>
            </p:txBody>
          </p:sp>
        </mc:Fallback>
      </mc:AlternateContent>
      <p:sp>
        <p:nvSpPr>
          <p:cNvPr id="303" name="Label 303"/>
          <p:cNvSpPr/>
          <p:nvPr/>
        </p:nvSpPr>
        <p:spPr>
          <a:xfrm>
            <a:off x="6510528" y="5074920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D4D4D"/>
                </a:solidFill>
                <a:latin typeface="+mn-lt"/>
                <a:cs typeface="+mn-cs"/>
              </a:rPr>
              <a:t xml:space="preserve">vs.</a:t>
            </a:r>
            <a:endParaRPr lang="en-US" sz="1000" dirty="0"/>
          </a:p>
        </p:txBody>
      </p:sp>
      <p:sp>
        <p:nvSpPr>
          <p:cNvPr id="304" name="SharedA 304"/>
          <p:cNvSpPr/>
          <p:nvPr/>
        </p:nvSpPr>
        <p:spPr>
          <a:xfrm>
            <a:off x="6940296" y="4983480"/>
            <a:ext cx="100584" cy="100584"/>
          </a:xfrm>
          <a:prstGeom prst="rect">
            <a:avLst/>
          </a:prstGeom>
          <a:solidFill>
            <a:srgbClr val="0C234B">
              <a:alpha val="1666"/>
            </a:srgbClr>
          </a:solidFill>
          <a:ln>
            <a:noFill/>
          </a:ln>
        </p:spPr>
      </p:sp>
      <p:sp>
        <p:nvSpPr>
          <p:cNvPr id="305" name="SharedA 305"/>
          <p:cNvSpPr/>
          <p:nvPr/>
        </p:nvSpPr>
        <p:spPr>
          <a:xfrm>
            <a:off x="7040880" y="4983480"/>
            <a:ext cx="100584" cy="100584"/>
          </a:xfrm>
          <a:prstGeom prst="rect">
            <a:avLst/>
          </a:prstGeom>
          <a:solidFill>
            <a:srgbClr val="0C234B">
              <a:alpha val="3333"/>
            </a:srgbClr>
          </a:solidFill>
          <a:ln>
            <a:noFill/>
          </a:ln>
        </p:spPr>
      </p:sp>
      <p:sp>
        <p:nvSpPr>
          <p:cNvPr id="306" name="SharedA 306"/>
          <p:cNvSpPr/>
          <p:nvPr/>
        </p:nvSpPr>
        <p:spPr>
          <a:xfrm>
            <a:off x="7141464" y="4983480"/>
            <a:ext cx="100584" cy="100584"/>
          </a:xfrm>
          <a:prstGeom prst="rect">
            <a:avLst/>
          </a:prstGeom>
          <a:solidFill>
            <a:srgbClr val="0C234B">
              <a:alpha val="8333"/>
            </a:srgbClr>
          </a:solidFill>
          <a:ln>
            <a:noFill/>
          </a:ln>
        </p:spPr>
      </p:sp>
      <p:sp>
        <p:nvSpPr>
          <p:cNvPr id="307" name="SharedA 307"/>
          <p:cNvSpPr/>
          <p:nvPr/>
        </p:nvSpPr>
        <p:spPr>
          <a:xfrm>
            <a:off x="7242048" y="4983480"/>
            <a:ext cx="100584" cy="100584"/>
          </a:xfrm>
          <a:prstGeom prst="rect">
            <a:avLst/>
          </a:prstGeom>
          <a:solidFill>
            <a:srgbClr val="0C234B">
              <a:alpha val="1666"/>
            </a:srgbClr>
          </a:solidFill>
          <a:ln>
            <a:noFill/>
          </a:ln>
        </p:spPr>
      </p:sp>
      <p:sp>
        <p:nvSpPr>
          <p:cNvPr id="308" name="SharedA 308"/>
          <p:cNvSpPr/>
          <p:nvPr/>
        </p:nvSpPr>
        <p:spPr>
          <a:xfrm>
            <a:off x="6940296" y="5084064"/>
            <a:ext cx="100584" cy="100584"/>
          </a:xfrm>
          <a:prstGeom prst="rect">
            <a:avLst/>
          </a:prstGeom>
          <a:solidFill>
            <a:srgbClr val="0C234B">
              <a:alpha val="3333"/>
            </a:srgbClr>
          </a:solidFill>
          <a:ln>
            <a:noFill/>
          </a:ln>
        </p:spPr>
      </p:sp>
      <p:sp>
        <p:nvSpPr>
          <p:cNvPr id="309" name="SharedA 309"/>
          <p:cNvSpPr/>
          <p:nvPr/>
        </p:nvSpPr>
        <p:spPr>
          <a:xfrm>
            <a:off x="7040880" y="5084064"/>
            <a:ext cx="100584" cy="100584"/>
          </a:xfrm>
          <a:prstGeom prst="rect">
            <a:avLst/>
          </a:prstGeom>
          <a:solidFill>
            <a:srgbClr val="0C234B">
              <a:alpha val="10000"/>
            </a:srgbClr>
          </a:solidFill>
          <a:ln>
            <a:noFill/>
          </a:ln>
        </p:spPr>
      </p:sp>
      <p:sp>
        <p:nvSpPr>
          <p:cNvPr id="310" name="SharedA 310"/>
          <p:cNvSpPr/>
          <p:nvPr/>
        </p:nvSpPr>
        <p:spPr>
          <a:xfrm>
            <a:off x="7141464" y="5084064"/>
            <a:ext cx="100584" cy="100584"/>
          </a:xfrm>
          <a:prstGeom prst="rect">
            <a:avLst/>
          </a:prstGeom>
          <a:solidFill>
            <a:srgbClr val="0C234B">
              <a:alpha val="91666"/>
            </a:srgbClr>
          </a:solidFill>
          <a:ln>
            <a:noFill/>
          </a:ln>
        </p:spPr>
      </p:sp>
      <p:sp>
        <p:nvSpPr>
          <p:cNvPr id="311" name="SharedA 311"/>
          <p:cNvSpPr/>
          <p:nvPr/>
        </p:nvSpPr>
        <p:spPr>
          <a:xfrm>
            <a:off x="7242048" y="5084064"/>
            <a:ext cx="100584" cy="100584"/>
          </a:xfrm>
          <a:prstGeom prst="rect">
            <a:avLst/>
          </a:prstGeom>
          <a:solidFill>
            <a:srgbClr val="0C234B">
              <a:alpha val="13333"/>
            </a:srgbClr>
          </a:solidFill>
          <a:ln>
            <a:noFill/>
          </a:ln>
        </p:spPr>
      </p:sp>
      <p:sp>
        <p:nvSpPr>
          <p:cNvPr id="312" name="SharedA 312"/>
          <p:cNvSpPr/>
          <p:nvPr/>
        </p:nvSpPr>
        <p:spPr>
          <a:xfrm>
            <a:off x="6940296" y="5184648"/>
            <a:ext cx="100584" cy="100584"/>
          </a:xfrm>
          <a:prstGeom prst="rect">
            <a:avLst/>
          </a:prstGeom>
          <a:solidFill>
            <a:srgbClr val="0C234B">
              <a:alpha val="1666"/>
            </a:srgbClr>
          </a:solidFill>
          <a:ln>
            <a:noFill/>
          </a:ln>
        </p:spPr>
      </p:sp>
      <p:sp>
        <p:nvSpPr>
          <p:cNvPr id="313" name="SharedA 313"/>
          <p:cNvSpPr/>
          <p:nvPr/>
        </p:nvSpPr>
        <p:spPr>
          <a:xfrm>
            <a:off x="7040880" y="5184648"/>
            <a:ext cx="100584" cy="100584"/>
          </a:xfrm>
          <a:prstGeom prst="rect">
            <a:avLst/>
          </a:prstGeom>
          <a:solidFill>
            <a:srgbClr val="0C234B">
              <a:alpha val="6666"/>
            </a:srgbClr>
          </a:solidFill>
          <a:ln>
            <a:noFill/>
          </a:ln>
        </p:spPr>
      </p:sp>
      <p:sp>
        <p:nvSpPr>
          <p:cNvPr id="314" name="SharedA 314"/>
          <p:cNvSpPr/>
          <p:nvPr/>
        </p:nvSpPr>
        <p:spPr>
          <a:xfrm>
            <a:off x="7141464" y="5184648"/>
            <a:ext cx="100584" cy="100584"/>
          </a:xfrm>
          <a:prstGeom prst="rect">
            <a:avLst/>
          </a:prstGeom>
          <a:solidFill>
            <a:srgbClr val="0C234B">
              <a:alpha val="15000"/>
            </a:srgbClr>
          </a:solidFill>
          <a:ln>
            <a:noFill/>
          </a:ln>
        </p:spPr>
      </p:sp>
      <p:sp>
        <p:nvSpPr>
          <p:cNvPr id="315" name="SharedA 315"/>
          <p:cNvSpPr/>
          <p:nvPr/>
        </p:nvSpPr>
        <p:spPr>
          <a:xfrm>
            <a:off x="7242048" y="5184648"/>
            <a:ext cx="100584" cy="100584"/>
          </a:xfrm>
          <a:prstGeom prst="rect">
            <a:avLst/>
          </a:prstGeom>
          <a:solidFill>
            <a:srgbClr val="0C234B">
              <a:alpha val="3333"/>
            </a:srgbClr>
          </a:solidFill>
          <a:ln>
            <a:noFill/>
          </a:ln>
        </p:spPr>
      </p:sp>
      <p:sp>
        <p:nvSpPr>
          <p:cNvPr id="316" name="SharedA 316"/>
          <p:cNvSpPr/>
          <p:nvPr/>
        </p:nvSpPr>
        <p:spPr>
          <a:xfrm>
            <a:off x="6940296" y="5285232"/>
            <a:ext cx="100584" cy="100584"/>
          </a:xfrm>
          <a:prstGeom prst="rect">
            <a:avLst/>
          </a:prstGeom>
          <a:solidFill>
            <a:srgbClr val="0C234B">
              <a:alpha val="0"/>
            </a:srgbClr>
          </a:solidFill>
          <a:ln>
            <a:noFill/>
          </a:ln>
        </p:spPr>
      </p:sp>
      <p:sp>
        <p:nvSpPr>
          <p:cNvPr id="317" name="SharedA 317"/>
          <p:cNvSpPr/>
          <p:nvPr/>
        </p:nvSpPr>
        <p:spPr>
          <a:xfrm>
            <a:off x="7040880" y="5285232"/>
            <a:ext cx="100584" cy="100584"/>
          </a:xfrm>
          <a:prstGeom prst="rect">
            <a:avLst/>
          </a:prstGeom>
          <a:solidFill>
            <a:srgbClr val="0C234B">
              <a:alpha val="1666"/>
            </a:srgbClr>
          </a:solidFill>
          <a:ln>
            <a:noFill/>
          </a:ln>
        </p:spPr>
      </p:sp>
      <p:sp>
        <p:nvSpPr>
          <p:cNvPr id="318" name="SharedA 318"/>
          <p:cNvSpPr/>
          <p:nvPr/>
        </p:nvSpPr>
        <p:spPr>
          <a:xfrm>
            <a:off x="7141464" y="5285232"/>
            <a:ext cx="100584" cy="100584"/>
          </a:xfrm>
          <a:prstGeom prst="rect">
            <a:avLst/>
          </a:prstGeom>
          <a:solidFill>
            <a:srgbClr val="0C234B">
              <a:alpha val="3333"/>
            </a:srgbClr>
          </a:solidFill>
          <a:ln>
            <a:noFill/>
          </a:ln>
        </p:spPr>
      </p:sp>
      <p:sp>
        <p:nvSpPr>
          <p:cNvPr id="319" name="SharedA 319"/>
          <p:cNvSpPr/>
          <p:nvPr/>
        </p:nvSpPr>
        <p:spPr>
          <a:xfrm>
            <a:off x="7242048" y="5285232"/>
            <a:ext cx="100584" cy="100584"/>
          </a:xfrm>
          <a:prstGeom prst="rect">
            <a:avLst/>
          </a:prstGeom>
          <a:solidFill>
            <a:srgbClr val="0C234B">
              <a:alpha val="1666"/>
            </a:srgbClr>
          </a:solidFill>
          <a:ln>
            <a:noFill/>
          </a:ln>
        </p:spPr>
      </p:sp>
      <p:sp>
        <p:nvSpPr>
          <p:cNvPr id="320" name="SharedALine 320"/>
          <p:cNvSpPr/>
          <p:nvPr/>
        </p:nvSpPr>
        <p:spPr>
          <a:xfrm>
            <a:off x="6940296" y="4983480"/>
            <a:ext cx="100584" cy="10058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321" name="SharedALine 321"/>
          <p:cNvSpPr/>
          <p:nvPr/>
        </p:nvSpPr>
        <p:spPr>
          <a:xfrm>
            <a:off x="7040880" y="4983480"/>
            <a:ext cx="100584" cy="10058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322" name="SharedALine 322"/>
          <p:cNvSpPr/>
          <p:nvPr/>
        </p:nvSpPr>
        <p:spPr>
          <a:xfrm>
            <a:off x="7141464" y="4983480"/>
            <a:ext cx="100584" cy="10058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323" name="SharedALine 323"/>
          <p:cNvSpPr/>
          <p:nvPr/>
        </p:nvSpPr>
        <p:spPr>
          <a:xfrm>
            <a:off x="7242048" y="4983480"/>
            <a:ext cx="100584" cy="10058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324" name="SharedALine 324"/>
          <p:cNvSpPr/>
          <p:nvPr/>
        </p:nvSpPr>
        <p:spPr>
          <a:xfrm>
            <a:off x="6940296" y="5084064"/>
            <a:ext cx="100584" cy="10058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325" name="SharedALine 325"/>
          <p:cNvSpPr/>
          <p:nvPr/>
        </p:nvSpPr>
        <p:spPr>
          <a:xfrm>
            <a:off x="7040880" y="5084064"/>
            <a:ext cx="100584" cy="10058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326" name="SharedALine 326"/>
          <p:cNvSpPr/>
          <p:nvPr/>
        </p:nvSpPr>
        <p:spPr>
          <a:xfrm>
            <a:off x="7141464" y="5084064"/>
            <a:ext cx="100584" cy="10058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327" name="SharedALine 327"/>
          <p:cNvSpPr/>
          <p:nvPr/>
        </p:nvSpPr>
        <p:spPr>
          <a:xfrm>
            <a:off x="7242048" y="5084064"/>
            <a:ext cx="100584" cy="10058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328" name="SharedALine 328"/>
          <p:cNvSpPr/>
          <p:nvPr/>
        </p:nvSpPr>
        <p:spPr>
          <a:xfrm>
            <a:off x="6940296" y="5184648"/>
            <a:ext cx="100584" cy="10058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329" name="SharedALine 329"/>
          <p:cNvSpPr/>
          <p:nvPr/>
        </p:nvSpPr>
        <p:spPr>
          <a:xfrm>
            <a:off x="7040880" y="5184648"/>
            <a:ext cx="100584" cy="10058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330" name="SharedALine 330"/>
          <p:cNvSpPr/>
          <p:nvPr/>
        </p:nvSpPr>
        <p:spPr>
          <a:xfrm>
            <a:off x="7141464" y="5184648"/>
            <a:ext cx="100584" cy="10058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331" name="SharedALine 331"/>
          <p:cNvSpPr/>
          <p:nvPr/>
        </p:nvSpPr>
        <p:spPr>
          <a:xfrm>
            <a:off x="7242048" y="5184648"/>
            <a:ext cx="100584" cy="10058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332" name="SharedALine 332"/>
          <p:cNvSpPr/>
          <p:nvPr/>
        </p:nvSpPr>
        <p:spPr>
          <a:xfrm>
            <a:off x="6940296" y="5285232"/>
            <a:ext cx="100584" cy="10058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333" name="SharedALine 333"/>
          <p:cNvSpPr/>
          <p:nvPr/>
        </p:nvSpPr>
        <p:spPr>
          <a:xfrm>
            <a:off x="7040880" y="5285232"/>
            <a:ext cx="100584" cy="10058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334" name="SharedALine 334"/>
          <p:cNvSpPr/>
          <p:nvPr/>
        </p:nvSpPr>
        <p:spPr>
          <a:xfrm>
            <a:off x="7141464" y="5285232"/>
            <a:ext cx="100584" cy="10058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335" name="SharedALine 335"/>
          <p:cNvSpPr/>
          <p:nvPr/>
        </p:nvSpPr>
        <p:spPr>
          <a:xfrm>
            <a:off x="7242048" y="5285232"/>
            <a:ext cx="100584" cy="100584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336" name="SharedAFrame 336"/>
          <p:cNvSpPr/>
          <p:nvPr/>
        </p:nvSpPr>
        <p:spPr>
          <a:xfrm>
            <a:off x="6940296" y="4983480"/>
            <a:ext cx="402336" cy="402336"/>
          </a:xfrm>
          <a:prstGeom prst="rect">
            <a:avLst/>
          </a:prstGeom>
          <a:noFill/>
          <a:ln w="9525">
            <a:solidFill>
              <a:srgbClr val="595959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7" name="Label 337"/>
              <p:cNvSpPr/>
              <p:nvPr/>
            </p:nvSpPr>
            <p:spPr>
              <a:xfrm>
                <a:off x="6711696" y="5422392"/>
                <a:ext cx="859536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One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05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50" b="0" i="0" dirty="0">
                            <a:solidFill>
                              <a:srgbClr val="AB052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endParaRPr lang="en-US" sz="1000" dirty="0"/>
              </a:p>
            </p:txBody>
          </p:sp>
        </mc:Choice>
        <mc:Fallback>
          <p:sp>
            <p:nvSpPr>
              <p:cNvPr id="337" name="Label 337"/>
              <p:cNvSpPr/>
              <p:nvPr/>
            </p:nvSpPr>
            <p:spPr>
              <a:xfrm>
                <a:off x="6711696" y="5422392"/>
                <a:ext cx="859536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One </a:t>
                </a:r>
                <a:r>
                  <a:rPr lang="en-US" sz="1000" b="0" i="0" dirty="0">
                    <a:solidFill>
                      <a:srgbClr val="AB0520"/>
                    </a:solidFill>
                    <a:latin typeface="+mn-lt"/>
                    <a:cs typeface="+mn-cs"/>
                  </a:rPr>
                  <a:t xml:space="preserve">Â</a:t>
                </a:r>
                <a:endParaRPr lang="en-US" sz="10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8" name="Label 338"/>
              <p:cNvSpPr/>
              <p:nvPr/>
            </p:nvSpPr>
            <p:spPr>
              <a:xfrm>
                <a:off x="7507224" y="4965192"/>
                <a:ext cx="1069848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Same Map for</a:t>
                </a:r>
                <a:endParaRPr lang="en-US" sz="1000" dirty="0"/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Every Pair </a:t>
                </a:r>
                <a14:m>
                  <m:oMath xmlns:m="http://schemas.openxmlformats.org/officeDocument/2006/math">
                    <m:r>
                      <a:rPr lang="en-US" sz="105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000" dirty="0"/>
              </a:p>
            </p:txBody>
          </p:sp>
        </mc:Choice>
        <mc:Fallback>
          <p:sp>
            <p:nvSpPr>
              <p:cNvPr id="338" name="Label 338"/>
              <p:cNvSpPr/>
              <p:nvPr/>
            </p:nvSpPr>
            <p:spPr>
              <a:xfrm>
                <a:off x="7507224" y="4965192"/>
                <a:ext cx="1069848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Same Map for</a:t>
                </a:r>
                <a:endParaRPr lang="en-US" sz="1000" dirty="0"/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Every Pair </a:t>
                </a: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i</a:t>
                </a:r>
                <a:endParaRPr lang="en-US" sz="10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9" name="Label 339"/>
              <p:cNvSpPr/>
              <p:nvPr/>
            </p:nvSpPr>
            <p:spPr>
              <a:xfrm>
                <a:off x="4773168" y="5715000"/>
                <a:ext cx="3785616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Each pair's anchor differs, but pooling cancels it out of </a:t>
                </a:r>
                <a14:m>
                  <m:oMath xmlns:m="http://schemas.openxmlformats.org/officeDocument/2006/math">
                    <m:r>
                      <a:rPr lang="en-US" sz="105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,</a:t>
                </a:r>
                <a:endParaRPr lang="en-US" sz="1000" dirty="0"/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so </a:t>
                </a:r>
                <a14:m>
                  <m:oMath xmlns:m="http://schemas.openxmlformats.org/officeDocument/2006/math">
                    <m:r>
                      <a:rPr lang="en-US" sz="105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US" sz="105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05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US" sz="1050" b="0" i="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can't locate it: expect low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05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50" b="0" i="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and exec accuracy.</a:t>
                </a:r>
                <a:endParaRPr lang="en-US" sz="1000" dirty="0"/>
              </a:p>
            </p:txBody>
          </p:sp>
        </mc:Choice>
        <mc:Fallback>
          <p:sp>
            <p:nvSpPr>
              <p:cNvPr id="339" name="Label 339"/>
              <p:cNvSpPr/>
              <p:nvPr/>
            </p:nvSpPr>
            <p:spPr>
              <a:xfrm>
                <a:off x="4773168" y="5715000"/>
                <a:ext cx="3785616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Each pair's anchor differs, but pooling cancels it out of </a:t>
                </a: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z</a:t>
                </a: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,</a:t>
                </a:r>
                <a:endParaRPr lang="en-US" sz="1000" dirty="0"/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so </a:t>
                </a: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g(z)</a:t>
                </a: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can't locate it: expect low </a:t>
                </a: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p̂</a:t>
                </a:r>
                <a:r>
                  <a:rPr lang="en-US" sz="1000" b="0" i="0" dirty="0">
                    <a:solidFill>
                      <a:srgbClr val="4D4D4D"/>
                    </a:solidFill>
                    <a:latin typeface="+mn-lt"/>
                    <a:cs typeface="+mn-cs"/>
                  </a:rPr>
                  <a:t xml:space="preserve"> and exec accuracy.</a:t>
                </a:r>
                <a:endParaRPr lang="en-US" sz="1000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193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060F0E6-1ACA-415C-9205-D2FA031CA28A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84887ff-c039-43b5-abfa-4284895319f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32251</TotalTime>
  <Words>303</Words>
  <Application>Microsoft Office PowerPoint</Application>
  <PresentationFormat>On-screen Show (4:3)</PresentationFormat>
  <Paragraphs>90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Architecture1: Full Optimization</vt:lpstr>
      <vt:lpstr>Architecture 1: MLP Head</vt:lpstr>
      <vt:lpstr>Architecture 2: Full Optimization</vt:lpstr>
      <vt:lpstr>Architecture 2: Second MLP Head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Leake</dc:creator>
  <cp:lastModifiedBy>Leake, James Tyler - (jtylerleake)</cp:lastModifiedBy>
  <cp:revision>1798</cp:revision>
  <cp:lastPrinted>2026-07-27T22:34:17Z</cp:lastPrinted>
  <dcterms:created xsi:type="dcterms:W3CDTF">2026-06-22T16:07:56Z</dcterms:created>
  <dcterms:modified xsi:type="dcterms:W3CDTF">2026-10-08T20:23:26Z</dcterms:modified>
</cp:coreProperties>
</file>