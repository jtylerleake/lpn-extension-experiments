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93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590" userDrawn="1">
          <p15:clr>
            <a:srgbClr val="A4A3A4"/>
          </p15:clr>
        </p15:guide>
        <p15:guide id="2" orient="horz" pos="1656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4B"/>
    <a:srgbClr val="AB0520"/>
    <a:srgbClr val="1E5288"/>
    <a:srgbClr val="4EA72E"/>
    <a:srgbClr val="106AB1"/>
    <a:srgbClr val="F2EFEA"/>
    <a:srgbClr val="9E0000"/>
    <a:srgbClr val="0000FF"/>
    <a:srgbClr val="FF797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1733" y="62"/>
      </p:cViewPr>
      <p:guideLst>
        <p:guide pos="4590"/>
        <p:guide orient="horz" pos="1656"/>
        <p:guide pos="5472"/>
      </p:guideLst>
    </p:cSldViewPr>
  </p:slideViewPr>
  <p:outlineViewPr>
    <p:cViewPr>
      <p:scale>
        <a:sx n="33" d="100"/>
        <a:sy n="33" d="100"/>
      </p:scale>
      <p:origin x="0" y="-213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9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6252BF-30AC-0341-149F-F2CD0681B4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1DD26-21A1-DC29-F9F6-53EB0B882B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950A6-1B47-4DE2-A2E4-16A3270F6C85}" type="datetimeFigureOut">
              <a:rPr lang="en-US" smtClean="0"/>
              <a:t>10/09/2026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5CC53-A606-8A64-6AA4-09ED352DDD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7B6A5-01AD-B5FC-780F-F04BE9EE9B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E890A-A667-4778-BED7-31E20088D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157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9547A-5776-4380-B2F0-6D10DA2F49ED}" type="datetimeFigureOut">
              <a:rPr lang="en-US" smtClean="0"/>
              <a:t>10/09/2026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FC99D-A838-46DF-9DDE-78CC941D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032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1E52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9041-D81A-8B7D-C597-0CFB27E4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3086436"/>
            <a:ext cx="8029575" cy="68580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89AE30-89BD-B9EB-8A7B-8A8B8FAD47F5}"/>
              </a:ext>
            </a:extLst>
          </p:cNvPr>
          <p:cNvCxnSpPr>
            <a:cxnSpLocks/>
          </p:cNvCxnSpPr>
          <p:nvPr userDrawn="1"/>
        </p:nvCxnSpPr>
        <p:spPr>
          <a:xfrm>
            <a:off x="479943" y="3017856"/>
            <a:ext cx="0" cy="82296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48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bg>
      <p:bgPr>
        <a:solidFill>
          <a:srgbClr val="AB0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C2B93C8-56A2-15D3-13CD-913958CD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3086436"/>
            <a:ext cx="8029575" cy="685800"/>
          </a:xfrm>
        </p:spPr>
        <p:txBody>
          <a:bodyPr anchor="ctr"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3E60EA-240B-4681-B907-7A4E1EFE443E}"/>
              </a:ext>
            </a:extLst>
          </p:cNvPr>
          <p:cNvCxnSpPr>
            <a:cxnSpLocks/>
          </p:cNvCxnSpPr>
          <p:nvPr userDrawn="1"/>
        </p:nvCxnSpPr>
        <p:spPr>
          <a:xfrm>
            <a:off x="479943" y="3017856"/>
            <a:ext cx="0" cy="82296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2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1BC3EA-A564-8064-9F69-C308268E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04E324-BBDD-4A99-7C86-13B180C8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1" y="1462729"/>
            <a:ext cx="8229600" cy="484227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C2073B7-F4B7-F5A5-3B2D-4E06AFD3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811126-2348-A5AF-C1FD-F3DF54E72A78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CCF7C3C-ECA9-622C-8D1E-1F5F02E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CEC7A-72E5-CDDF-04BC-950749FF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8679B6-54F0-4076-EA12-2F813A3918A6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E6F37EB9-5AB5-96E3-D26A-16435183B3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E4A507A-5DBF-A6A2-C5DE-84C550693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701" y="1122357"/>
            <a:ext cx="8231029" cy="274320"/>
          </a:xfrm>
        </p:spPr>
        <p:txBody>
          <a:bodyPr lIns="0" anchor="ctr"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318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1BC3EA-A564-8064-9F69-C308268E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04E324-BBDD-4A99-7C86-13B180C8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1" y="1462729"/>
            <a:ext cx="8229600" cy="484227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C2073B7-F4B7-F5A5-3B2D-4E06AFD3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811126-2348-A5AF-C1FD-F3DF54E72A78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CCF7C3C-ECA9-622C-8D1E-1F5F02E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CEC7A-72E5-CDDF-04BC-950749FF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8679B6-54F0-4076-EA12-2F813A3918A6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E6F37EB9-5AB5-96E3-D26A-16435183B3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D3645305-356B-1DFE-BF53-19ED4D8670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701" y="1122357"/>
            <a:ext cx="8231029" cy="274320"/>
          </a:xfrm>
        </p:spPr>
        <p:txBody>
          <a:bodyPr lIns="0" anchor="ctr">
            <a:noAutofit/>
          </a:bodyPr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9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1698" y="1067337"/>
            <a:ext cx="4120301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91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9EA7DA3-0F54-FEFB-B958-EACC129BFD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61986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0D25A5CF-B93C-3399-EBB4-D072A246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443F13E4-FF7C-4F19-E974-7CDBFA4F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3B69253-B81D-B3D7-69DF-DE9B67EE55E7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File:Arizona Wildcats logo.svg - Wikimedia Commons">
            <a:extLst>
              <a:ext uri="{FF2B5EF4-FFF2-40B4-BE49-F238E27FC236}">
                <a16:creationId xmlns:a16="http://schemas.microsoft.com/office/drawing/2014/main" id="{D0AC0779-26BA-0F51-B9AB-6152B2611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5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72000" y="1067337"/>
            <a:ext cx="4114800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243" y="1203160"/>
            <a:ext cx="3930315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50807C-A53B-DB65-D291-34B32C22538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1" y="1203160"/>
            <a:ext cx="4010526" cy="51018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B8BA16-0EF1-9517-AC5E-592F6A93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E6440B-CD16-D5D5-EF0A-EE7FA4D7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6BFEAB-88C7-2870-3372-B181B97E6384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File:Arizona Wildcats logo.svg - Wikimedia Commons">
            <a:extLst>
              <a:ext uri="{FF2B5EF4-FFF2-40B4-BE49-F238E27FC236}">
                <a16:creationId xmlns:a16="http://schemas.microsoft.com/office/drawing/2014/main" id="{F0C42098-0CAF-F8FA-C1AB-B5E81AA7D7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5172635" y="1067337"/>
            <a:ext cx="3514164" cy="5346572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797" y="1563664"/>
            <a:ext cx="3291840" cy="4741338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200" b="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1A9DC1D-AB0C-8625-B0C6-E4CE8E5DAA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83797" y="1203160"/>
            <a:ext cx="3291840" cy="298942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400" b="1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1DBA5-19B5-AFDE-0AEA-BCC65A9E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907D2-58A6-C232-5275-D10A7703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97F5D4-A85B-928F-20CF-D8A10CCE1BDA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ile:Arizona Wildcats logo.svg - Wikimedia Commons">
            <a:extLst>
              <a:ext uri="{FF2B5EF4-FFF2-40B4-BE49-F238E27FC236}">
                <a16:creationId xmlns:a16="http://schemas.microsoft.com/office/drawing/2014/main" id="{3E0F10C2-A62F-E776-9544-9E5C7AB4F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7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3C829-8823-8C9C-4D74-A164C84572CA}"/>
              </a:ext>
            </a:extLst>
          </p:cNvPr>
          <p:cNvSpPr/>
          <p:nvPr userDrawn="1"/>
        </p:nvSpPr>
        <p:spPr>
          <a:xfrm>
            <a:off x="457199" y="1053281"/>
            <a:ext cx="8229600" cy="1280160"/>
          </a:xfrm>
          <a:prstGeom prst="rect">
            <a:avLst/>
          </a:prstGeom>
          <a:solidFill>
            <a:srgbClr val="F2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C3F78-B6F1-D4A4-1305-3C973C09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7866"/>
            <a:ext cx="8229600" cy="1188720"/>
          </a:xfrm>
        </p:spPr>
        <p:txBody>
          <a:bodyPr lIns="91440" rIns="91440">
            <a:noAutofit/>
          </a:bodyPr>
          <a:lstStyle>
            <a:lvl1pPr marL="0">
              <a:lnSpc>
                <a:spcPts val="1600"/>
              </a:lnSpc>
              <a:spcBef>
                <a:spcPts val="0"/>
              </a:spcBef>
              <a:buNone/>
              <a:defRPr sz="1200" b="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6D0597-E61B-A844-526B-5E3BDBE3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3BA80BA-0347-802D-ED8D-EC6EC44D30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4D8F3C-4255-55E3-3442-02AE9DFB2521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1DBA5-19B5-AFDE-0AEA-BCC65A9E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907D2-58A6-C232-5275-D10A7703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97F5D4-A85B-928F-20CF-D8A10CCE1BDA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File:Arizona Wildcats logo.svg - Wikimedia Commons">
            <a:extLst>
              <a:ext uri="{FF2B5EF4-FFF2-40B4-BE49-F238E27FC236}">
                <a16:creationId xmlns:a16="http://schemas.microsoft.com/office/drawing/2014/main" id="{3E0F10C2-A62F-E776-9544-9E5C7AB4F2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6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E6A35EB-4AEF-A307-1FAF-700E6CDB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A1AFD1C0-45E4-57D2-C006-E2F19A15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5313DD-A859-CBED-2435-37C37193CED3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C271CFF4-AFB1-88C1-BE6F-5795E72276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8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1BC3EA-A564-8064-9F69-C308268E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01" y="607485"/>
            <a:ext cx="8229600" cy="387258"/>
          </a:xfrm>
        </p:spPr>
        <p:txBody>
          <a:bodyPr lIns="0">
            <a:noAutofit/>
          </a:bodyPr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C2073B7-F4B7-F5A5-3B2D-4E06AFD3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701" y="274625"/>
            <a:ext cx="8229600" cy="274320"/>
          </a:xfrm>
        </p:spPr>
        <p:txBody>
          <a:bodyPr lIns="0" anchor="ctr">
            <a:noAutofit/>
          </a:bodyPr>
          <a:lstStyle>
            <a:lvl1pPr marL="0" indent="0">
              <a:spcBef>
                <a:spcPts val="450"/>
              </a:spcBef>
              <a:buNone/>
              <a:defRPr sz="1300" b="1" i="0" cap="all" baseline="0">
                <a:solidFill>
                  <a:srgbClr val="C00000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811126-2348-A5AF-C1FD-F3DF54E72A78}"/>
              </a:ext>
            </a:extLst>
          </p:cNvPr>
          <p:cNvCxnSpPr>
            <a:cxnSpLocks/>
          </p:cNvCxnSpPr>
          <p:nvPr userDrawn="1"/>
        </p:nvCxnSpPr>
        <p:spPr>
          <a:xfrm>
            <a:off x="457200" y="105630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2CCF7C3C-ECA9-622C-8D1E-1F5F02E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6" y="6485131"/>
            <a:ext cx="7291990" cy="228600"/>
          </a:xfrm>
        </p:spPr>
        <p:txBody>
          <a:bodyPr/>
          <a:lstStyle>
            <a:lvl1pPr algn="l">
              <a:defRPr sz="1200"/>
            </a:lvl1pPr>
          </a:lstStyle>
          <a:p>
            <a:endParaRPr lang="en-US" sz="1200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9FCEC7A-72E5-CDDF-04BC-950749FF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08973" y="6485131"/>
            <a:ext cx="477827" cy="228600"/>
          </a:xfrm>
        </p:spPr>
        <p:txBody>
          <a:bodyPr/>
          <a:lstStyle>
            <a:lvl1pPr>
              <a:defRPr sz="1200"/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8679B6-54F0-4076-EA12-2F813A3918A6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File:Arizona Wildcats logo.svg - Wikimedia Commons">
            <a:extLst>
              <a:ext uri="{FF2B5EF4-FFF2-40B4-BE49-F238E27FC236}">
                <a16:creationId xmlns:a16="http://schemas.microsoft.com/office/drawing/2014/main" id="{E6F37EB9-5AB5-96E3-D26A-16435183B3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07" y="6489930"/>
            <a:ext cx="236959" cy="2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0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5313DD-A859-CBED-2435-37C37193CED3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13912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196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8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pos="2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701D8-BF45-46A2-ADF3-0D690B397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8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6" r:id="rId2"/>
    <p:sldLayoutId id="2147483686" r:id="rId3"/>
    <p:sldLayoutId id="2147483685" r:id="rId4"/>
    <p:sldLayoutId id="2147483681" r:id="rId5"/>
    <p:sldLayoutId id="2147483682" r:id="rId6"/>
    <p:sldLayoutId id="2147483683" r:id="rId7"/>
    <p:sldLayoutId id="2147483684" r:id="rId8"/>
    <p:sldLayoutId id="2147483680" r:id="rId9"/>
    <p:sldLayoutId id="2147483679" r:id="rId10"/>
    <p:sldLayoutId id="214748368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FAAF-2573-4686-66E4-76A72B50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18AD-9BB6-5CD6-DE6F-5AA672C6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Iteration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14F9C-CEC9-E332-FF12-735C710D4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Technical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54519-0ED4-F7A9-A038-82ECA4B2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01D8-BF45-46A2-ADF3-0D690B397DE9}" type="slidenum">
              <a:rPr lang="en-US" smtClean="0"/>
              <a:pPr/>
              <a:t>1</a:t>
            </a:fld>
            <a:endParaRPr lang="en-US" sz="1200" dirty="0"/>
          </a:p>
        </p:txBody>
      </p:sp>
      <p:sp>
        <p:nvSpPr>
          <p:cNvPr id="101" name="Inputs Card 101"/>
          <p:cNvSpPr/>
          <p:nvPr/>
        </p:nvSpPr>
        <p:spPr>
          <a:xfrm>
            <a:off x="457200" y="1298448"/>
            <a:ext cx="1600200" cy="4617720"/>
          </a:xfrm>
          <a:prstGeom prst="roundRect">
            <a:avLst>
              <a:gd name="adj" fmla="val 5000"/>
            </a:avLst>
          </a:prstGeom>
          <a:solidFill>
            <a:srgbClr val="E9EEF5"/>
          </a:solidFill>
          <a:ln w="9525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2" name="Inputs Title 102"/>
          <p:cNvSpPr/>
          <p:nvPr/>
        </p:nvSpPr>
        <p:spPr>
          <a:xfrm>
            <a:off x="457200" y="1344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i="0" dirty="0">
                <a:solidFill>
                  <a:srgbClr val="0C234B"/>
                </a:solidFill>
              </a:rPr>
              <a:t>Inputs (One Pair)</a:t>
            </a:r>
          </a:p>
        </p:txBody>
      </p:sp>
      <p:sp>
        <p:nvSpPr>
          <p:cNvPr id="103" name="x Label 103"/>
          <p:cNvSpPr/>
          <p:nvPr/>
        </p:nvSpPr>
        <p:spPr>
          <a:xfrm>
            <a:off x="457200" y="166420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i="0" dirty="0">
                <a:solidFill>
                  <a:srgbClr val="222222"/>
                </a:solidFill>
              </a:rPr>
              <a:t>Input Grid x</a:t>
            </a:r>
          </a:p>
        </p:txBody>
      </p:sp>
      <p:sp>
        <p:nvSpPr>
          <p:cNvPr id="104" name="Input x r0c0 Band 104"/>
          <p:cNvSpPr/>
          <p:nvPr/>
        </p:nvSpPr>
        <p:spPr>
          <a:xfrm>
            <a:off x="854964" y="1901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5" name="Input x r0c0 Cell 105"/>
          <p:cNvSpPr/>
          <p:nvPr/>
        </p:nvSpPr>
        <p:spPr>
          <a:xfrm>
            <a:off x="854964" y="1901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6" name="Input x r0c1 Band 106"/>
          <p:cNvSpPr/>
          <p:nvPr/>
        </p:nvSpPr>
        <p:spPr>
          <a:xfrm>
            <a:off x="1056132" y="1901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7" name="Input x r0c1 Cell 107"/>
          <p:cNvSpPr/>
          <p:nvPr/>
        </p:nvSpPr>
        <p:spPr>
          <a:xfrm>
            <a:off x="1056132" y="1901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8" name="Input x r0c2 Band 108"/>
          <p:cNvSpPr/>
          <p:nvPr/>
        </p:nvSpPr>
        <p:spPr>
          <a:xfrm>
            <a:off x="1257300" y="1901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09" name="Input x r0c2 Cell 109"/>
          <p:cNvSpPr/>
          <p:nvPr/>
        </p:nvSpPr>
        <p:spPr>
          <a:xfrm>
            <a:off x="1257300" y="1901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0" name="Input x r0c3 Band 110"/>
          <p:cNvSpPr/>
          <p:nvPr/>
        </p:nvSpPr>
        <p:spPr>
          <a:xfrm>
            <a:off x="1458468" y="1901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1" name="Input x r0c3 Cell 111"/>
          <p:cNvSpPr/>
          <p:nvPr/>
        </p:nvSpPr>
        <p:spPr>
          <a:xfrm>
            <a:off x="1458468" y="1901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2" name="Input x r1c0 Band 112"/>
          <p:cNvSpPr/>
          <p:nvPr/>
        </p:nvSpPr>
        <p:spPr>
          <a:xfrm>
            <a:off x="854964" y="210312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3" name="Input x r1c0 Cell 113"/>
          <p:cNvSpPr/>
          <p:nvPr/>
        </p:nvSpPr>
        <p:spPr>
          <a:xfrm>
            <a:off x="854964" y="2103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4" name="Input x r1c1 Band 114"/>
          <p:cNvSpPr/>
          <p:nvPr/>
        </p:nvSpPr>
        <p:spPr>
          <a:xfrm>
            <a:off x="1056132" y="2103120"/>
            <a:ext cx="201168" cy="20116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5" name="Input x r1c1 Cell 115"/>
          <p:cNvSpPr/>
          <p:nvPr/>
        </p:nvSpPr>
        <p:spPr>
          <a:xfrm>
            <a:off x="1056132" y="2103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6" name="Input x r1c2 Band 116"/>
          <p:cNvSpPr/>
          <p:nvPr/>
        </p:nvSpPr>
        <p:spPr>
          <a:xfrm>
            <a:off x="1257300" y="210312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7" name="Input x r1c2 Cell 117"/>
          <p:cNvSpPr/>
          <p:nvPr/>
        </p:nvSpPr>
        <p:spPr>
          <a:xfrm>
            <a:off x="1257300" y="2103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8" name="Input x r1c3 Band 118"/>
          <p:cNvSpPr/>
          <p:nvPr/>
        </p:nvSpPr>
        <p:spPr>
          <a:xfrm>
            <a:off x="1458468" y="210312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19" name="Input x r1c3 Cell 119"/>
          <p:cNvSpPr/>
          <p:nvPr/>
        </p:nvSpPr>
        <p:spPr>
          <a:xfrm>
            <a:off x="1458468" y="2103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0" name="Input x r2c0 Band 120"/>
          <p:cNvSpPr/>
          <p:nvPr/>
        </p:nvSpPr>
        <p:spPr>
          <a:xfrm>
            <a:off x="854964" y="23042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1" name="Input x r2c0 Cell 121"/>
          <p:cNvSpPr/>
          <p:nvPr/>
        </p:nvSpPr>
        <p:spPr>
          <a:xfrm>
            <a:off x="854964" y="23042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2" name="Input x r2c1 Band 122"/>
          <p:cNvSpPr/>
          <p:nvPr/>
        </p:nvSpPr>
        <p:spPr>
          <a:xfrm>
            <a:off x="1056132" y="23042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3" name="Input x r2c1 Cell 123"/>
          <p:cNvSpPr/>
          <p:nvPr/>
        </p:nvSpPr>
        <p:spPr>
          <a:xfrm>
            <a:off x="1056132" y="23042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4" name="Input x r2c2 Band 124"/>
          <p:cNvSpPr/>
          <p:nvPr/>
        </p:nvSpPr>
        <p:spPr>
          <a:xfrm>
            <a:off x="1257300" y="23042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5" name="Input x r2c2 Cell 125"/>
          <p:cNvSpPr/>
          <p:nvPr/>
        </p:nvSpPr>
        <p:spPr>
          <a:xfrm>
            <a:off x="1257300" y="23042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6" name="Input x r2c3 Band 126"/>
          <p:cNvSpPr/>
          <p:nvPr/>
        </p:nvSpPr>
        <p:spPr>
          <a:xfrm>
            <a:off x="1458468" y="23042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7" name="Input x r2c3 Cell 127"/>
          <p:cNvSpPr/>
          <p:nvPr/>
        </p:nvSpPr>
        <p:spPr>
          <a:xfrm>
            <a:off x="1458468" y="23042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8" name="Input x r3c0 Band 128"/>
          <p:cNvSpPr/>
          <p:nvPr/>
        </p:nvSpPr>
        <p:spPr>
          <a:xfrm>
            <a:off x="854964" y="25054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29" name="Input x r3c0 Cell 129"/>
          <p:cNvSpPr/>
          <p:nvPr/>
        </p:nvSpPr>
        <p:spPr>
          <a:xfrm>
            <a:off x="854964" y="25054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0" name="Input x r3c1 Band 130"/>
          <p:cNvSpPr/>
          <p:nvPr/>
        </p:nvSpPr>
        <p:spPr>
          <a:xfrm>
            <a:off x="1056132" y="25054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1" name="Input x r3c1 Cell 131"/>
          <p:cNvSpPr/>
          <p:nvPr/>
        </p:nvSpPr>
        <p:spPr>
          <a:xfrm>
            <a:off x="1056132" y="25054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2" name="Input x r3c2 Band 132"/>
          <p:cNvSpPr/>
          <p:nvPr/>
        </p:nvSpPr>
        <p:spPr>
          <a:xfrm>
            <a:off x="1257300" y="25054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3" name="Input x r3c2 Cell 133"/>
          <p:cNvSpPr/>
          <p:nvPr/>
        </p:nvSpPr>
        <p:spPr>
          <a:xfrm>
            <a:off x="1257300" y="25054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4" name="Input x r3c3 Band 134"/>
          <p:cNvSpPr/>
          <p:nvPr/>
        </p:nvSpPr>
        <p:spPr>
          <a:xfrm>
            <a:off x="1458468" y="25054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5" name="Input x r3c3 Cell 135"/>
          <p:cNvSpPr/>
          <p:nvPr/>
        </p:nvSpPr>
        <p:spPr>
          <a:xfrm>
            <a:off x="1458468" y="25054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6" name="Input x Frame 136"/>
          <p:cNvSpPr/>
          <p:nvPr/>
        </p:nvSpPr>
        <p:spPr>
          <a:xfrm>
            <a:off x="854964" y="1901952"/>
            <a:ext cx="804672" cy="804672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7" name="Tile Label 137"/>
          <p:cNvSpPr/>
          <p:nvPr/>
        </p:nvSpPr>
        <p:spPr>
          <a:xfrm>
            <a:off x="457200" y="28346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i="0" dirty="0">
                <a:solidFill>
                  <a:srgbClr val="222222"/>
                </a:solidFill>
              </a:rPr>
              <a:t>Soft Tile Ŝ  (from h(z))</a:t>
            </a:r>
          </a:p>
        </p:txBody>
      </p:sp>
      <p:sp>
        <p:nvSpPr>
          <p:cNvPr id="138" name="Tile c0 Band 138"/>
          <p:cNvSpPr/>
          <p:nvPr/>
        </p:nvSpPr>
        <p:spPr>
          <a:xfrm>
            <a:off x="964692" y="3090672"/>
            <a:ext cx="263347" cy="292608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39" name="Tile c0 Band 139"/>
          <p:cNvSpPr/>
          <p:nvPr/>
        </p:nvSpPr>
        <p:spPr>
          <a:xfrm>
            <a:off x="1228039" y="3090672"/>
            <a:ext cx="29261" cy="29260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0" name="Tile c0 Cell 140"/>
          <p:cNvSpPr/>
          <p:nvPr/>
        </p:nvSpPr>
        <p:spPr>
          <a:xfrm>
            <a:off x="964692" y="3090672"/>
            <a:ext cx="292608" cy="29260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1" name="Tile c1 Band 141"/>
          <p:cNvSpPr/>
          <p:nvPr/>
        </p:nvSpPr>
        <p:spPr>
          <a:xfrm>
            <a:off x="1257300" y="3090672"/>
            <a:ext cx="263347" cy="292608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2" name="Tile c1 Band 142"/>
          <p:cNvSpPr/>
          <p:nvPr/>
        </p:nvSpPr>
        <p:spPr>
          <a:xfrm>
            <a:off x="1520647" y="3090672"/>
            <a:ext cx="29261" cy="29260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3" name="Tile c1 Cell 143"/>
          <p:cNvSpPr/>
          <p:nvPr/>
        </p:nvSpPr>
        <p:spPr>
          <a:xfrm>
            <a:off x="1257300" y="3090672"/>
            <a:ext cx="292608" cy="29260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4" name="Tile c2 Band 144"/>
          <p:cNvSpPr/>
          <p:nvPr/>
        </p:nvSpPr>
        <p:spPr>
          <a:xfrm>
            <a:off x="964692" y="3383280"/>
            <a:ext cx="263347" cy="292608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5" name="Tile c2 Band 145"/>
          <p:cNvSpPr/>
          <p:nvPr/>
        </p:nvSpPr>
        <p:spPr>
          <a:xfrm>
            <a:off x="1228039" y="3383280"/>
            <a:ext cx="29261" cy="29260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6" name="Tile c2 Cell 146"/>
          <p:cNvSpPr/>
          <p:nvPr/>
        </p:nvSpPr>
        <p:spPr>
          <a:xfrm>
            <a:off x="964692" y="3383280"/>
            <a:ext cx="292608" cy="29260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7" name="Tile c3 Band 147"/>
          <p:cNvSpPr/>
          <p:nvPr/>
        </p:nvSpPr>
        <p:spPr>
          <a:xfrm>
            <a:off x="1257300" y="3383280"/>
            <a:ext cx="263347" cy="292608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8" name="Tile c3 Band 148"/>
          <p:cNvSpPr/>
          <p:nvPr/>
        </p:nvSpPr>
        <p:spPr>
          <a:xfrm>
            <a:off x="1520647" y="3383280"/>
            <a:ext cx="29261" cy="29260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49" name="Tile c3 Cell 149"/>
          <p:cNvSpPr/>
          <p:nvPr/>
        </p:nvSpPr>
        <p:spPr>
          <a:xfrm>
            <a:off x="1257300" y="3383280"/>
            <a:ext cx="292608" cy="29260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0" name="Tile Frame 150"/>
          <p:cNvSpPr/>
          <p:nvPr/>
        </p:nvSpPr>
        <p:spPr>
          <a:xfrm>
            <a:off x="964692" y="3090672"/>
            <a:ext cx="585216" cy="585216"/>
          </a:xfrm>
          <a:prstGeom prst="rect">
            <a:avLst/>
          </a:prstGeom>
          <a:noFill/>
          <a:ln w="1587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1" name="Tile Note 151"/>
          <p:cNvSpPr/>
          <p:nvPr/>
        </p:nvSpPr>
        <p:spPr>
          <a:xfrm>
            <a:off x="502920" y="3703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Same in Every Candidate</a:t>
            </a:r>
          </a:p>
        </p:txBody>
      </p:sp>
      <p:sp>
        <p:nvSpPr>
          <p:cNvPr id="152" name="Anchor Label 152"/>
          <p:cNvSpPr/>
          <p:nvPr/>
        </p:nvSpPr>
        <p:spPr>
          <a:xfrm>
            <a:off x="457200" y="4005072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i="0" dirty="0">
                <a:solidFill>
                  <a:srgbClr val="222222"/>
                </a:solidFill>
              </a:rPr>
              <a:t>Anchor Softmax Â  (g(z))</a:t>
            </a:r>
          </a:p>
        </p:txBody>
      </p:sp>
      <p:sp>
        <p:nvSpPr>
          <p:cNvPr id="153" name="Anchor p0 153"/>
          <p:cNvSpPr/>
          <p:nvPr/>
        </p:nvSpPr>
        <p:spPr>
          <a:xfrm>
            <a:off x="708660" y="4261104"/>
            <a:ext cx="274320" cy="274320"/>
          </a:xfrm>
          <a:prstGeom prst="rect">
            <a:avLst/>
          </a:prstGeom>
          <a:solidFill>
            <a:srgbClr val="AB0520">
              <a:alpha val="78750"/>
            </a:srgbClr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4" name="Anchor Val 0 154"/>
          <p:cNvSpPr/>
          <p:nvPr/>
        </p:nvSpPr>
        <p:spPr>
          <a:xfrm>
            <a:off x="708660" y="42611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i="0" dirty="0">
                <a:solidFill>
                  <a:srgbClr val="FFFFFF"/>
                </a:solidFill>
              </a:rPr>
              <a:t>.3</a:t>
            </a:r>
          </a:p>
        </p:txBody>
      </p:sp>
      <p:sp>
        <p:nvSpPr>
          <p:cNvPr id="155" name="Anchor p1 155"/>
          <p:cNvSpPr/>
          <p:nvPr/>
        </p:nvSpPr>
        <p:spPr>
          <a:xfrm>
            <a:off x="982980" y="426110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6" name="Anchor p2 156"/>
          <p:cNvSpPr/>
          <p:nvPr/>
        </p:nvSpPr>
        <p:spPr>
          <a:xfrm>
            <a:off x="1257300" y="426110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7" name="Anchor p3 157"/>
          <p:cNvSpPr/>
          <p:nvPr/>
        </p:nvSpPr>
        <p:spPr>
          <a:xfrm>
            <a:off x="1531620" y="426110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8" name="Anchor p4 158"/>
          <p:cNvSpPr/>
          <p:nvPr/>
        </p:nvSpPr>
        <p:spPr>
          <a:xfrm>
            <a:off x="708660" y="453542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59" name="Anchor p5 159"/>
          <p:cNvSpPr/>
          <p:nvPr/>
        </p:nvSpPr>
        <p:spPr>
          <a:xfrm>
            <a:off x="982980" y="4535424"/>
            <a:ext cx="274320" cy="274320"/>
          </a:xfrm>
          <a:prstGeom prst="rect">
            <a:avLst/>
          </a:prstGeom>
          <a:solidFill>
            <a:srgbClr val="AB0520">
              <a:alpha val="100000"/>
            </a:srgbClr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0" name="Anchor Val 5 160"/>
          <p:cNvSpPr/>
          <p:nvPr/>
        </p:nvSpPr>
        <p:spPr>
          <a:xfrm>
            <a:off x="982980" y="45354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i="0" dirty="0">
                <a:solidFill>
                  <a:srgbClr val="FFFFFF"/>
                </a:solidFill>
              </a:rPr>
              <a:t>.4</a:t>
            </a:r>
          </a:p>
        </p:txBody>
      </p:sp>
      <p:sp>
        <p:nvSpPr>
          <p:cNvPr id="161" name="Anchor p6 161"/>
          <p:cNvSpPr/>
          <p:nvPr/>
        </p:nvSpPr>
        <p:spPr>
          <a:xfrm>
            <a:off x="1257300" y="453542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2" name="Anchor p7 162"/>
          <p:cNvSpPr/>
          <p:nvPr/>
        </p:nvSpPr>
        <p:spPr>
          <a:xfrm>
            <a:off x="1531620" y="453542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3" name="Anchor p8 163"/>
          <p:cNvSpPr/>
          <p:nvPr/>
        </p:nvSpPr>
        <p:spPr>
          <a:xfrm>
            <a:off x="708660" y="480974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4" name="Anchor p9 164"/>
          <p:cNvSpPr/>
          <p:nvPr/>
        </p:nvSpPr>
        <p:spPr>
          <a:xfrm>
            <a:off x="982980" y="480974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5" name="Anchor p10 165"/>
          <p:cNvSpPr/>
          <p:nvPr/>
        </p:nvSpPr>
        <p:spPr>
          <a:xfrm>
            <a:off x="1257300" y="4809744"/>
            <a:ext cx="274320" cy="274320"/>
          </a:xfrm>
          <a:prstGeom prst="rect">
            <a:avLst/>
          </a:prstGeom>
          <a:solidFill>
            <a:srgbClr val="AB0520">
              <a:alpha val="57500"/>
            </a:srgbClr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6" name="Anchor Val 10 166"/>
          <p:cNvSpPr/>
          <p:nvPr/>
        </p:nvSpPr>
        <p:spPr>
          <a:xfrm>
            <a:off x="1257300" y="48097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i="0" dirty="0">
                <a:solidFill>
                  <a:srgbClr val="222222"/>
                </a:solidFill>
              </a:rPr>
              <a:t>.2</a:t>
            </a:r>
          </a:p>
        </p:txBody>
      </p:sp>
      <p:sp>
        <p:nvSpPr>
          <p:cNvPr id="167" name="Anchor p11 167"/>
          <p:cNvSpPr/>
          <p:nvPr/>
        </p:nvSpPr>
        <p:spPr>
          <a:xfrm>
            <a:off x="1531620" y="480974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8" name="Anchor p12 168"/>
          <p:cNvSpPr/>
          <p:nvPr/>
        </p:nvSpPr>
        <p:spPr>
          <a:xfrm>
            <a:off x="708660" y="508406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69" name="Anchor p13 169"/>
          <p:cNvSpPr/>
          <p:nvPr/>
        </p:nvSpPr>
        <p:spPr>
          <a:xfrm>
            <a:off x="982980" y="508406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70" name="Anchor p14 170"/>
          <p:cNvSpPr/>
          <p:nvPr/>
        </p:nvSpPr>
        <p:spPr>
          <a:xfrm>
            <a:off x="1257300" y="5084064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71" name="Anchor p15 171"/>
          <p:cNvSpPr/>
          <p:nvPr/>
        </p:nvSpPr>
        <p:spPr>
          <a:xfrm>
            <a:off x="1531620" y="5084064"/>
            <a:ext cx="274320" cy="274320"/>
          </a:xfrm>
          <a:prstGeom prst="rect">
            <a:avLst/>
          </a:prstGeom>
          <a:solidFill>
            <a:srgbClr val="AB0520">
              <a:alpha val="36250"/>
            </a:srgbClr>
          </a:solidFill>
          <a:ln w="6350">
            <a:solidFill>
              <a:srgbClr val="BFBFB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72" name="Anchor Val 15 172"/>
          <p:cNvSpPr/>
          <p:nvPr/>
        </p:nvSpPr>
        <p:spPr>
          <a:xfrm>
            <a:off x="1531620" y="50840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i="0" dirty="0">
                <a:solidFill>
                  <a:srgbClr val="222222"/>
                </a:solidFill>
              </a:rPr>
              <a:t>.1</a:t>
            </a:r>
          </a:p>
        </p:txBody>
      </p:sp>
      <p:sp>
        <p:nvSpPr>
          <p:cNvPr id="173" name="Anchor Frame 173"/>
          <p:cNvSpPr/>
          <p:nvPr/>
        </p:nvSpPr>
        <p:spPr>
          <a:xfrm>
            <a:off x="708660" y="4261104"/>
            <a:ext cx="1097280" cy="1097280"/>
          </a:xfrm>
          <a:prstGeom prst="rect">
            <a:avLst/>
          </a:prstGeom>
          <a:noFill/>
          <a:ln w="1587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74" name="Anchor Note 174"/>
          <p:cNvSpPr/>
          <p:nvPr/>
        </p:nvSpPr>
        <p:spPr>
          <a:xfrm>
            <a:off x="502920" y="53949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Other 12 Positions ≈ 0 in This Example</a:t>
            </a:r>
          </a:p>
        </p:txBody>
      </p:sp>
      <p:sp>
        <p:nvSpPr>
          <p:cNvPr id="175" name="Loop Container 175"/>
          <p:cNvSpPr/>
          <p:nvPr/>
        </p:nvSpPr>
        <p:spPr>
          <a:xfrm>
            <a:off x="2331720" y="1298448"/>
            <a:ext cx="3337560" cy="461772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9AA6B8"/>
            </a:solidFill>
            <a:prstDash val="dash"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76" name="Loop Title 176"/>
          <p:cNvSpPr/>
          <p:nvPr/>
        </p:nvSpPr>
        <p:spPr>
          <a:xfrm>
            <a:off x="2331720" y="134416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i="0" dirty="0">
                <a:solidFill>
                  <a:srgbClr val="0C234B"/>
                </a:solidFill>
              </a:rPr>
              <a:t>For Each Position p: Paste, Then Weight</a:t>
            </a:r>
          </a:p>
        </p:txBody>
      </p:sp>
      <p:sp>
        <p:nvSpPr>
          <p:cNvPr id="177" name="Inputs To Loop 177"/>
          <p:cNvSpPr/>
          <p:nvPr/>
        </p:nvSpPr>
        <p:spPr>
          <a:xfrm>
            <a:off x="2057400" y="3291840"/>
            <a:ext cx="274320" cy="1"/>
          </a:xfrm>
          <a:custGeom>
            <a:avLst/>
            <a:gdLst/>
            <a:ahLst/>
            <a:cxnLst/>
            <a:rect l="0" t="0" r="r" b="b"/>
            <a:pathLst>
              <a:path w="274320" h="1" fill="none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</p:sp>
      <p:sp>
        <p:nvSpPr>
          <p:cNvPr id="178" name="Cand 5 Pos 178"/>
          <p:cNvSpPr/>
          <p:nvPr/>
        </p:nvSpPr>
        <p:spPr>
          <a:xfrm>
            <a:off x="2441448" y="171907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0C234B"/>
                </a:solidFill>
              </a:rPr>
              <a:t>p = 5</a:t>
            </a:r>
          </a:p>
        </p:txBody>
      </p:sp>
      <p:sp>
        <p:nvSpPr>
          <p:cNvPr id="179" name="Cand 5 RC 179"/>
          <p:cNvSpPr/>
          <p:nvPr/>
        </p:nvSpPr>
        <p:spPr>
          <a:xfrm>
            <a:off x="2441448" y="19751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(row 1, col 1)</a:t>
            </a:r>
          </a:p>
        </p:txBody>
      </p:sp>
      <p:sp>
        <p:nvSpPr>
          <p:cNvPr id="180" name="Candidate p5 r0c0 Band 180"/>
          <p:cNvSpPr/>
          <p:nvPr/>
        </p:nvSpPr>
        <p:spPr>
          <a:xfrm>
            <a:off x="3520440" y="171907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1" name="Candidate p5 r0c0 Cell 181"/>
          <p:cNvSpPr/>
          <p:nvPr/>
        </p:nvSpPr>
        <p:spPr>
          <a:xfrm>
            <a:off x="3520440" y="171907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2" name="Candidate p5 r0c1 Band 182"/>
          <p:cNvSpPr/>
          <p:nvPr/>
        </p:nvSpPr>
        <p:spPr>
          <a:xfrm>
            <a:off x="3721608" y="171907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3" name="Candidate p5 r0c1 Cell 183"/>
          <p:cNvSpPr/>
          <p:nvPr/>
        </p:nvSpPr>
        <p:spPr>
          <a:xfrm>
            <a:off x="3721608" y="171907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4" name="Candidate p5 r0c2 Band 184"/>
          <p:cNvSpPr/>
          <p:nvPr/>
        </p:nvSpPr>
        <p:spPr>
          <a:xfrm>
            <a:off x="3922776" y="171907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5" name="Candidate p5 r0c2 Cell 185"/>
          <p:cNvSpPr/>
          <p:nvPr/>
        </p:nvSpPr>
        <p:spPr>
          <a:xfrm>
            <a:off x="3922776" y="171907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6" name="Candidate p5 r0c3 Band 186"/>
          <p:cNvSpPr/>
          <p:nvPr/>
        </p:nvSpPr>
        <p:spPr>
          <a:xfrm>
            <a:off x="4123944" y="171907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7" name="Candidate p5 r0c3 Cell 187"/>
          <p:cNvSpPr/>
          <p:nvPr/>
        </p:nvSpPr>
        <p:spPr>
          <a:xfrm>
            <a:off x="4123944" y="171907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8" name="Candidate p5 r1c0 Band 188"/>
          <p:cNvSpPr/>
          <p:nvPr/>
        </p:nvSpPr>
        <p:spPr>
          <a:xfrm>
            <a:off x="3520440" y="192024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89" name="Candidate p5 r1c0 Cell 189"/>
          <p:cNvSpPr/>
          <p:nvPr/>
        </p:nvSpPr>
        <p:spPr>
          <a:xfrm>
            <a:off x="3520440" y="192024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0" name="Candidate p5 r1c1 Band 190"/>
          <p:cNvSpPr/>
          <p:nvPr/>
        </p:nvSpPr>
        <p:spPr>
          <a:xfrm>
            <a:off x="3721608" y="1920240"/>
            <a:ext cx="181051" cy="201168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1" name="Candidate p5 r1c1 Band 191"/>
          <p:cNvSpPr/>
          <p:nvPr/>
        </p:nvSpPr>
        <p:spPr>
          <a:xfrm>
            <a:off x="3902659" y="1920240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2" name="Candidate p5 r1c1 Cell 192"/>
          <p:cNvSpPr/>
          <p:nvPr/>
        </p:nvSpPr>
        <p:spPr>
          <a:xfrm>
            <a:off x="3721608" y="192024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3" name="Candidate p5 r1c2 Band 193"/>
          <p:cNvSpPr/>
          <p:nvPr/>
        </p:nvSpPr>
        <p:spPr>
          <a:xfrm>
            <a:off x="3922776" y="1920240"/>
            <a:ext cx="181051" cy="201168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4" name="Candidate p5 r1c2 Band 194"/>
          <p:cNvSpPr/>
          <p:nvPr/>
        </p:nvSpPr>
        <p:spPr>
          <a:xfrm>
            <a:off x="4103827" y="1920240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5" name="Candidate p5 r1c2 Cell 195"/>
          <p:cNvSpPr/>
          <p:nvPr/>
        </p:nvSpPr>
        <p:spPr>
          <a:xfrm>
            <a:off x="3922776" y="192024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6" name="Candidate p5 r1c3 Band 196"/>
          <p:cNvSpPr/>
          <p:nvPr/>
        </p:nvSpPr>
        <p:spPr>
          <a:xfrm>
            <a:off x="4123944" y="192024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7" name="Candidate p5 r1c3 Cell 197"/>
          <p:cNvSpPr/>
          <p:nvPr/>
        </p:nvSpPr>
        <p:spPr>
          <a:xfrm>
            <a:off x="4123944" y="192024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8" name="Candidate p5 r2c0 Band 198"/>
          <p:cNvSpPr/>
          <p:nvPr/>
        </p:nvSpPr>
        <p:spPr>
          <a:xfrm>
            <a:off x="3520440" y="212140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199" name="Candidate p5 r2c0 Cell 199"/>
          <p:cNvSpPr/>
          <p:nvPr/>
        </p:nvSpPr>
        <p:spPr>
          <a:xfrm>
            <a:off x="3520440" y="212140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0" name="Candidate p5 r2c1 Band 200"/>
          <p:cNvSpPr/>
          <p:nvPr/>
        </p:nvSpPr>
        <p:spPr>
          <a:xfrm>
            <a:off x="3721608" y="2121408"/>
            <a:ext cx="181051" cy="201168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1" name="Candidate p5 r2c1 Band 201"/>
          <p:cNvSpPr/>
          <p:nvPr/>
        </p:nvSpPr>
        <p:spPr>
          <a:xfrm>
            <a:off x="3902659" y="2121408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2" name="Candidate p5 r2c1 Cell 202"/>
          <p:cNvSpPr/>
          <p:nvPr/>
        </p:nvSpPr>
        <p:spPr>
          <a:xfrm>
            <a:off x="3721608" y="212140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3" name="Candidate p5 r2c2 Band 203"/>
          <p:cNvSpPr/>
          <p:nvPr/>
        </p:nvSpPr>
        <p:spPr>
          <a:xfrm>
            <a:off x="3922776" y="2121408"/>
            <a:ext cx="181051" cy="201168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4" name="Candidate p5 r2c2 Band 204"/>
          <p:cNvSpPr/>
          <p:nvPr/>
        </p:nvSpPr>
        <p:spPr>
          <a:xfrm>
            <a:off x="4103827" y="2121408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5" name="Candidate p5 r2c2 Cell 205"/>
          <p:cNvSpPr/>
          <p:nvPr/>
        </p:nvSpPr>
        <p:spPr>
          <a:xfrm>
            <a:off x="3922776" y="212140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6" name="Candidate p5 r2c3 Band 206"/>
          <p:cNvSpPr/>
          <p:nvPr/>
        </p:nvSpPr>
        <p:spPr>
          <a:xfrm>
            <a:off x="4123944" y="212140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7" name="Candidate p5 r2c3 Cell 207"/>
          <p:cNvSpPr/>
          <p:nvPr/>
        </p:nvSpPr>
        <p:spPr>
          <a:xfrm>
            <a:off x="4123944" y="212140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8" name="Candidate p5 r3c0 Band 208"/>
          <p:cNvSpPr/>
          <p:nvPr/>
        </p:nvSpPr>
        <p:spPr>
          <a:xfrm>
            <a:off x="3520440" y="232257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09" name="Candidate p5 r3c0 Cell 209"/>
          <p:cNvSpPr/>
          <p:nvPr/>
        </p:nvSpPr>
        <p:spPr>
          <a:xfrm>
            <a:off x="3520440" y="232257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0" name="Candidate p5 r3c1 Band 210"/>
          <p:cNvSpPr/>
          <p:nvPr/>
        </p:nvSpPr>
        <p:spPr>
          <a:xfrm>
            <a:off x="3721608" y="232257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1" name="Candidate p5 r3c1 Cell 211"/>
          <p:cNvSpPr/>
          <p:nvPr/>
        </p:nvSpPr>
        <p:spPr>
          <a:xfrm>
            <a:off x="3721608" y="232257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2" name="Candidate p5 r3c2 Band 212"/>
          <p:cNvSpPr/>
          <p:nvPr/>
        </p:nvSpPr>
        <p:spPr>
          <a:xfrm>
            <a:off x="3922776" y="232257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3" name="Candidate p5 r3c2 Cell 213"/>
          <p:cNvSpPr/>
          <p:nvPr/>
        </p:nvSpPr>
        <p:spPr>
          <a:xfrm>
            <a:off x="3922776" y="232257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4" name="Candidate p5 r3c3 Band 214"/>
          <p:cNvSpPr/>
          <p:nvPr/>
        </p:nvSpPr>
        <p:spPr>
          <a:xfrm>
            <a:off x="4123944" y="232257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5" name="Candidate p5 r3c3 Cell 215"/>
          <p:cNvSpPr/>
          <p:nvPr/>
        </p:nvSpPr>
        <p:spPr>
          <a:xfrm>
            <a:off x="4123944" y="232257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6" name="Candidate p5 Frame 216"/>
          <p:cNvSpPr/>
          <p:nvPr/>
        </p:nvSpPr>
        <p:spPr>
          <a:xfrm>
            <a:off x="3520440" y="1719072"/>
            <a:ext cx="804672" cy="804672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17" name="Cand 5 Anchor Mark 217"/>
          <p:cNvSpPr/>
          <p:nvPr/>
        </p:nvSpPr>
        <p:spPr>
          <a:xfrm>
            <a:off x="3721608" y="1920240"/>
            <a:ext cx="201168" cy="201168"/>
          </a:xfrm>
          <a:prstGeom prst="rect">
            <a:avLst/>
          </a:prstGeom>
          <a:noFill/>
          <a:ln w="2222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Cand 5 Y 218"/>
              <p:cNvSpPr/>
              <p:nvPr/>
            </p:nvSpPr>
            <p:spPr>
              <a:xfrm>
                <a:off x="3520440" y="2523744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8" name="Cand 5 Y 218"/>
              <p:cNvSpPr/>
              <p:nvPr/>
            </p:nvSpPr>
            <p:spPr>
              <a:xfrm>
                <a:off x="3520440" y="2523744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50" b="0" i="0" dirty="0">
                    <a:solidFill>
                      <a:srgbClr val="222222"/>
                    </a:solidFill>
                  </a:rPr>
                  <a:t>Y_5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Cand 5 Times 219"/>
              <p:cNvSpPr/>
              <p:nvPr/>
            </p:nvSpPr>
            <p:spPr>
              <a:xfrm>
                <a:off x="4462272" y="1965960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× </m:t>
                      </m:r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[5]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9" name="Cand 5 Times 219"/>
              <p:cNvSpPr/>
              <p:nvPr/>
            </p:nvSpPr>
            <p:spPr>
              <a:xfrm>
                <a:off x="4462272" y="1965960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× Â[5] = 0.4</a:t>
                </a:r>
              </a:p>
            </p:txBody>
          </p:sp>
        </mc:Fallback>
      </mc:AlternateContent>
      <p:sp>
        <p:nvSpPr>
          <p:cNvPr id="220" name="Cand 0 Pos 220"/>
          <p:cNvSpPr/>
          <p:nvPr/>
        </p:nvSpPr>
        <p:spPr>
          <a:xfrm>
            <a:off x="2441448" y="275234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0C234B"/>
                </a:solidFill>
              </a:rPr>
              <a:t>p = 0</a:t>
            </a:r>
          </a:p>
        </p:txBody>
      </p:sp>
      <p:sp>
        <p:nvSpPr>
          <p:cNvPr id="221" name="Cand 0 RC 221"/>
          <p:cNvSpPr/>
          <p:nvPr/>
        </p:nvSpPr>
        <p:spPr>
          <a:xfrm>
            <a:off x="2441448" y="30083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(row 0, col 0)</a:t>
            </a:r>
          </a:p>
        </p:txBody>
      </p:sp>
      <p:sp>
        <p:nvSpPr>
          <p:cNvPr id="222" name="Candidate p0 r0c0 Band 222"/>
          <p:cNvSpPr/>
          <p:nvPr/>
        </p:nvSpPr>
        <p:spPr>
          <a:xfrm>
            <a:off x="3520440" y="2752344"/>
            <a:ext cx="181051" cy="201168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3" name="Candidate p0 r0c0 Band 223"/>
          <p:cNvSpPr/>
          <p:nvPr/>
        </p:nvSpPr>
        <p:spPr>
          <a:xfrm>
            <a:off x="3701491" y="2752344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4" name="Candidate p0 r0c0 Cell 224"/>
          <p:cNvSpPr/>
          <p:nvPr/>
        </p:nvSpPr>
        <p:spPr>
          <a:xfrm>
            <a:off x="3520440" y="275234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5" name="Candidate p0 r0c1 Band 225"/>
          <p:cNvSpPr/>
          <p:nvPr/>
        </p:nvSpPr>
        <p:spPr>
          <a:xfrm>
            <a:off x="3721608" y="2752344"/>
            <a:ext cx="181051" cy="201168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6" name="Candidate p0 r0c1 Band 226"/>
          <p:cNvSpPr/>
          <p:nvPr/>
        </p:nvSpPr>
        <p:spPr>
          <a:xfrm>
            <a:off x="3902659" y="2752344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7" name="Candidate p0 r0c1 Cell 227"/>
          <p:cNvSpPr/>
          <p:nvPr/>
        </p:nvSpPr>
        <p:spPr>
          <a:xfrm>
            <a:off x="3721608" y="275234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8" name="Candidate p0 r0c2 Band 228"/>
          <p:cNvSpPr/>
          <p:nvPr/>
        </p:nvSpPr>
        <p:spPr>
          <a:xfrm>
            <a:off x="3922776" y="275234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29" name="Candidate p0 r0c2 Cell 229"/>
          <p:cNvSpPr/>
          <p:nvPr/>
        </p:nvSpPr>
        <p:spPr>
          <a:xfrm>
            <a:off x="3922776" y="275234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0" name="Candidate p0 r0c3 Band 230"/>
          <p:cNvSpPr/>
          <p:nvPr/>
        </p:nvSpPr>
        <p:spPr>
          <a:xfrm>
            <a:off x="4123944" y="275234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1" name="Candidate p0 r0c3 Cell 231"/>
          <p:cNvSpPr/>
          <p:nvPr/>
        </p:nvSpPr>
        <p:spPr>
          <a:xfrm>
            <a:off x="4123944" y="275234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2" name="Candidate p0 r1c0 Band 232"/>
          <p:cNvSpPr/>
          <p:nvPr/>
        </p:nvSpPr>
        <p:spPr>
          <a:xfrm>
            <a:off x="3520440" y="2953512"/>
            <a:ext cx="181051" cy="201168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3" name="Candidate p0 r1c0 Band 233"/>
          <p:cNvSpPr/>
          <p:nvPr/>
        </p:nvSpPr>
        <p:spPr>
          <a:xfrm>
            <a:off x="3701491" y="2953512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4" name="Candidate p0 r1c0 Cell 234"/>
          <p:cNvSpPr/>
          <p:nvPr/>
        </p:nvSpPr>
        <p:spPr>
          <a:xfrm>
            <a:off x="3520440" y="295351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5" name="Candidate p0 r1c1 Band 235"/>
          <p:cNvSpPr/>
          <p:nvPr/>
        </p:nvSpPr>
        <p:spPr>
          <a:xfrm>
            <a:off x="3721608" y="2953512"/>
            <a:ext cx="181051" cy="201168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6" name="Candidate p0 r1c1 Band 236"/>
          <p:cNvSpPr/>
          <p:nvPr/>
        </p:nvSpPr>
        <p:spPr>
          <a:xfrm>
            <a:off x="3902659" y="2953512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7" name="Candidate p0 r1c1 Cell 237"/>
          <p:cNvSpPr/>
          <p:nvPr/>
        </p:nvSpPr>
        <p:spPr>
          <a:xfrm>
            <a:off x="3721608" y="295351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8" name="Candidate p0 r1c2 Band 238"/>
          <p:cNvSpPr/>
          <p:nvPr/>
        </p:nvSpPr>
        <p:spPr>
          <a:xfrm>
            <a:off x="3922776" y="295351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39" name="Candidate p0 r1c2 Cell 239"/>
          <p:cNvSpPr/>
          <p:nvPr/>
        </p:nvSpPr>
        <p:spPr>
          <a:xfrm>
            <a:off x="3922776" y="295351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0" name="Candidate p0 r1c3 Band 240"/>
          <p:cNvSpPr/>
          <p:nvPr/>
        </p:nvSpPr>
        <p:spPr>
          <a:xfrm>
            <a:off x="4123944" y="295351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1" name="Candidate p0 r1c3 Cell 241"/>
          <p:cNvSpPr/>
          <p:nvPr/>
        </p:nvSpPr>
        <p:spPr>
          <a:xfrm>
            <a:off x="4123944" y="295351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2" name="Candidate p0 r2c0 Band 242"/>
          <p:cNvSpPr/>
          <p:nvPr/>
        </p:nvSpPr>
        <p:spPr>
          <a:xfrm>
            <a:off x="3520440" y="315468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3" name="Candidate p0 r2c0 Cell 243"/>
          <p:cNvSpPr/>
          <p:nvPr/>
        </p:nvSpPr>
        <p:spPr>
          <a:xfrm>
            <a:off x="3520440" y="315468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4" name="Candidate p0 r2c1 Band 244"/>
          <p:cNvSpPr/>
          <p:nvPr/>
        </p:nvSpPr>
        <p:spPr>
          <a:xfrm>
            <a:off x="3721608" y="315468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5" name="Candidate p0 r2c1 Cell 245"/>
          <p:cNvSpPr/>
          <p:nvPr/>
        </p:nvSpPr>
        <p:spPr>
          <a:xfrm>
            <a:off x="3721608" y="315468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6" name="Candidate p0 r2c2 Band 246"/>
          <p:cNvSpPr/>
          <p:nvPr/>
        </p:nvSpPr>
        <p:spPr>
          <a:xfrm>
            <a:off x="3922776" y="315468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7" name="Candidate p0 r2c2 Cell 247"/>
          <p:cNvSpPr/>
          <p:nvPr/>
        </p:nvSpPr>
        <p:spPr>
          <a:xfrm>
            <a:off x="3922776" y="315468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8" name="Candidate p0 r2c3 Band 248"/>
          <p:cNvSpPr/>
          <p:nvPr/>
        </p:nvSpPr>
        <p:spPr>
          <a:xfrm>
            <a:off x="4123944" y="315468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49" name="Candidate p0 r2c3 Cell 249"/>
          <p:cNvSpPr/>
          <p:nvPr/>
        </p:nvSpPr>
        <p:spPr>
          <a:xfrm>
            <a:off x="4123944" y="315468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0" name="Candidate p0 r3c0 Band 250"/>
          <p:cNvSpPr/>
          <p:nvPr/>
        </p:nvSpPr>
        <p:spPr>
          <a:xfrm>
            <a:off x="3520440" y="335584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1" name="Candidate p0 r3c0 Cell 251"/>
          <p:cNvSpPr/>
          <p:nvPr/>
        </p:nvSpPr>
        <p:spPr>
          <a:xfrm>
            <a:off x="3520440" y="335584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2" name="Candidate p0 r3c1 Band 252"/>
          <p:cNvSpPr/>
          <p:nvPr/>
        </p:nvSpPr>
        <p:spPr>
          <a:xfrm>
            <a:off x="3721608" y="335584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3" name="Candidate p0 r3c1 Cell 253"/>
          <p:cNvSpPr/>
          <p:nvPr/>
        </p:nvSpPr>
        <p:spPr>
          <a:xfrm>
            <a:off x="3721608" y="335584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4" name="Candidate p0 r3c2 Band 254"/>
          <p:cNvSpPr/>
          <p:nvPr/>
        </p:nvSpPr>
        <p:spPr>
          <a:xfrm>
            <a:off x="3922776" y="335584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5" name="Candidate p0 r3c2 Cell 255"/>
          <p:cNvSpPr/>
          <p:nvPr/>
        </p:nvSpPr>
        <p:spPr>
          <a:xfrm>
            <a:off x="3922776" y="335584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6" name="Candidate p0 r3c3 Band 256"/>
          <p:cNvSpPr/>
          <p:nvPr/>
        </p:nvSpPr>
        <p:spPr>
          <a:xfrm>
            <a:off x="4123944" y="335584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7" name="Candidate p0 r3c3 Cell 257"/>
          <p:cNvSpPr/>
          <p:nvPr/>
        </p:nvSpPr>
        <p:spPr>
          <a:xfrm>
            <a:off x="4123944" y="335584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8" name="Candidate p0 Frame 258"/>
          <p:cNvSpPr/>
          <p:nvPr/>
        </p:nvSpPr>
        <p:spPr>
          <a:xfrm>
            <a:off x="3520440" y="2752344"/>
            <a:ext cx="804672" cy="804672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59" name="Cand 0 Anchor Mark 259"/>
          <p:cNvSpPr/>
          <p:nvPr/>
        </p:nvSpPr>
        <p:spPr>
          <a:xfrm>
            <a:off x="3520440" y="2752344"/>
            <a:ext cx="201168" cy="201168"/>
          </a:xfrm>
          <a:prstGeom prst="rect">
            <a:avLst/>
          </a:prstGeom>
          <a:noFill/>
          <a:ln w="2222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Cand 0 Y 260"/>
              <p:cNvSpPr/>
              <p:nvPr/>
            </p:nvSpPr>
            <p:spPr>
              <a:xfrm>
                <a:off x="3520440" y="3557016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0" name="Cand 0 Y 260"/>
              <p:cNvSpPr/>
              <p:nvPr/>
            </p:nvSpPr>
            <p:spPr>
              <a:xfrm>
                <a:off x="3520440" y="3557016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50" b="0" i="0" dirty="0">
                    <a:solidFill>
                      <a:srgbClr val="222222"/>
                    </a:solidFill>
                  </a:rPr>
                  <a:t>Y_0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Cand 0 Times 261"/>
              <p:cNvSpPr/>
              <p:nvPr/>
            </p:nvSpPr>
            <p:spPr>
              <a:xfrm>
                <a:off x="4462272" y="2999232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× </m:t>
                      </m:r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[0]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1" name="Cand 0 Times 261"/>
              <p:cNvSpPr/>
              <p:nvPr/>
            </p:nvSpPr>
            <p:spPr>
              <a:xfrm>
                <a:off x="4462272" y="2999232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× Â[0] = 0.3</a:t>
                </a:r>
              </a:p>
            </p:txBody>
          </p:sp>
        </mc:Fallback>
      </mc:AlternateContent>
      <p:sp>
        <p:nvSpPr>
          <p:cNvPr id="262" name="Cand 10 Pos 262"/>
          <p:cNvSpPr/>
          <p:nvPr/>
        </p:nvSpPr>
        <p:spPr>
          <a:xfrm>
            <a:off x="2441448" y="378561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0C234B"/>
                </a:solidFill>
              </a:rPr>
              <a:t>p = 10</a:t>
            </a:r>
          </a:p>
        </p:txBody>
      </p:sp>
      <p:sp>
        <p:nvSpPr>
          <p:cNvPr id="263" name="Cand 10 RC 263"/>
          <p:cNvSpPr/>
          <p:nvPr/>
        </p:nvSpPr>
        <p:spPr>
          <a:xfrm>
            <a:off x="2441448" y="404164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(row 2, col 2)</a:t>
            </a:r>
          </a:p>
        </p:txBody>
      </p:sp>
      <p:sp>
        <p:nvSpPr>
          <p:cNvPr id="264" name="Candidate p10 r0c0 Band 264"/>
          <p:cNvSpPr/>
          <p:nvPr/>
        </p:nvSpPr>
        <p:spPr>
          <a:xfrm>
            <a:off x="3520440" y="378561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65" name="Candidate p10 r0c0 Cell 265"/>
          <p:cNvSpPr/>
          <p:nvPr/>
        </p:nvSpPr>
        <p:spPr>
          <a:xfrm>
            <a:off x="3520440" y="378561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66" name="Candidate p10 r0c1 Band 266"/>
          <p:cNvSpPr/>
          <p:nvPr/>
        </p:nvSpPr>
        <p:spPr>
          <a:xfrm>
            <a:off x="3721608" y="378561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67" name="Candidate p10 r0c1 Cell 267"/>
          <p:cNvSpPr/>
          <p:nvPr/>
        </p:nvSpPr>
        <p:spPr>
          <a:xfrm>
            <a:off x="3721608" y="378561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68" name="Candidate p10 r0c2 Band 268"/>
          <p:cNvSpPr/>
          <p:nvPr/>
        </p:nvSpPr>
        <p:spPr>
          <a:xfrm>
            <a:off x="3922776" y="378561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69" name="Candidate p10 r0c2 Cell 269"/>
          <p:cNvSpPr/>
          <p:nvPr/>
        </p:nvSpPr>
        <p:spPr>
          <a:xfrm>
            <a:off x="3922776" y="378561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0" name="Candidate p10 r0c3 Band 270"/>
          <p:cNvSpPr/>
          <p:nvPr/>
        </p:nvSpPr>
        <p:spPr>
          <a:xfrm>
            <a:off x="4123944" y="378561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1" name="Candidate p10 r0c3 Cell 271"/>
          <p:cNvSpPr/>
          <p:nvPr/>
        </p:nvSpPr>
        <p:spPr>
          <a:xfrm>
            <a:off x="4123944" y="378561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2" name="Candidate p10 r1c0 Band 272"/>
          <p:cNvSpPr/>
          <p:nvPr/>
        </p:nvSpPr>
        <p:spPr>
          <a:xfrm>
            <a:off x="3520440" y="398678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3" name="Candidate p10 r1c0 Cell 273"/>
          <p:cNvSpPr/>
          <p:nvPr/>
        </p:nvSpPr>
        <p:spPr>
          <a:xfrm>
            <a:off x="3520440" y="398678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4" name="Candidate p10 r1c1 Band 274"/>
          <p:cNvSpPr/>
          <p:nvPr/>
        </p:nvSpPr>
        <p:spPr>
          <a:xfrm>
            <a:off x="3721608" y="3986784"/>
            <a:ext cx="201168" cy="20116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5" name="Candidate p10 r1c1 Cell 275"/>
          <p:cNvSpPr/>
          <p:nvPr/>
        </p:nvSpPr>
        <p:spPr>
          <a:xfrm>
            <a:off x="3721608" y="398678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6" name="Candidate p10 r1c2 Band 276"/>
          <p:cNvSpPr/>
          <p:nvPr/>
        </p:nvSpPr>
        <p:spPr>
          <a:xfrm>
            <a:off x="3922776" y="398678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7" name="Candidate p10 r1c2 Cell 277"/>
          <p:cNvSpPr/>
          <p:nvPr/>
        </p:nvSpPr>
        <p:spPr>
          <a:xfrm>
            <a:off x="3922776" y="398678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8" name="Candidate p10 r1c3 Band 278"/>
          <p:cNvSpPr/>
          <p:nvPr/>
        </p:nvSpPr>
        <p:spPr>
          <a:xfrm>
            <a:off x="4123944" y="398678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79" name="Candidate p10 r1c3 Cell 279"/>
          <p:cNvSpPr/>
          <p:nvPr/>
        </p:nvSpPr>
        <p:spPr>
          <a:xfrm>
            <a:off x="4123944" y="398678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0" name="Candidate p10 r2c0 Band 280"/>
          <p:cNvSpPr/>
          <p:nvPr/>
        </p:nvSpPr>
        <p:spPr>
          <a:xfrm>
            <a:off x="3520440" y="4187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1" name="Candidate p10 r2c0 Cell 281"/>
          <p:cNvSpPr/>
          <p:nvPr/>
        </p:nvSpPr>
        <p:spPr>
          <a:xfrm>
            <a:off x="3520440" y="4187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2" name="Candidate p10 r2c1 Band 282"/>
          <p:cNvSpPr/>
          <p:nvPr/>
        </p:nvSpPr>
        <p:spPr>
          <a:xfrm>
            <a:off x="3721608" y="418795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3" name="Candidate p10 r2c1 Cell 283"/>
          <p:cNvSpPr/>
          <p:nvPr/>
        </p:nvSpPr>
        <p:spPr>
          <a:xfrm>
            <a:off x="3721608" y="4187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4" name="Candidate p10 r2c2 Band 284"/>
          <p:cNvSpPr/>
          <p:nvPr/>
        </p:nvSpPr>
        <p:spPr>
          <a:xfrm>
            <a:off x="3922776" y="4187952"/>
            <a:ext cx="181051" cy="201168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5" name="Candidate p10 r2c2 Band 285"/>
          <p:cNvSpPr/>
          <p:nvPr/>
        </p:nvSpPr>
        <p:spPr>
          <a:xfrm>
            <a:off x="4103827" y="4187952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6" name="Candidate p10 r2c2 Cell 286"/>
          <p:cNvSpPr/>
          <p:nvPr/>
        </p:nvSpPr>
        <p:spPr>
          <a:xfrm>
            <a:off x="3922776" y="4187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7" name="Candidate p10 r2c3 Band 287"/>
          <p:cNvSpPr/>
          <p:nvPr/>
        </p:nvSpPr>
        <p:spPr>
          <a:xfrm>
            <a:off x="4123944" y="4187952"/>
            <a:ext cx="181051" cy="201168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8" name="Candidate p10 r2c3 Band 288"/>
          <p:cNvSpPr/>
          <p:nvPr/>
        </p:nvSpPr>
        <p:spPr>
          <a:xfrm>
            <a:off x="4304995" y="4187952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89" name="Candidate p10 r2c3 Cell 289"/>
          <p:cNvSpPr/>
          <p:nvPr/>
        </p:nvSpPr>
        <p:spPr>
          <a:xfrm>
            <a:off x="4123944" y="418795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0" name="Candidate p10 r3c0 Band 290"/>
          <p:cNvSpPr/>
          <p:nvPr/>
        </p:nvSpPr>
        <p:spPr>
          <a:xfrm>
            <a:off x="3520440" y="438912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1" name="Candidate p10 r3c0 Cell 291"/>
          <p:cNvSpPr/>
          <p:nvPr/>
        </p:nvSpPr>
        <p:spPr>
          <a:xfrm>
            <a:off x="3520440" y="4389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2" name="Candidate p10 r3c1 Band 292"/>
          <p:cNvSpPr/>
          <p:nvPr/>
        </p:nvSpPr>
        <p:spPr>
          <a:xfrm>
            <a:off x="3721608" y="4389120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3" name="Candidate p10 r3c1 Cell 293"/>
          <p:cNvSpPr/>
          <p:nvPr/>
        </p:nvSpPr>
        <p:spPr>
          <a:xfrm>
            <a:off x="3721608" y="4389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4" name="Candidate p10 r3c2 Band 294"/>
          <p:cNvSpPr/>
          <p:nvPr/>
        </p:nvSpPr>
        <p:spPr>
          <a:xfrm>
            <a:off x="3922776" y="4389120"/>
            <a:ext cx="181051" cy="201168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5" name="Candidate p10 r3c2 Band 295"/>
          <p:cNvSpPr/>
          <p:nvPr/>
        </p:nvSpPr>
        <p:spPr>
          <a:xfrm>
            <a:off x="4103827" y="4389120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6" name="Candidate p10 r3c2 Cell 296"/>
          <p:cNvSpPr/>
          <p:nvPr/>
        </p:nvSpPr>
        <p:spPr>
          <a:xfrm>
            <a:off x="3922776" y="4389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7" name="Candidate p10 r3c3 Band 297"/>
          <p:cNvSpPr/>
          <p:nvPr/>
        </p:nvSpPr>
        <p:spPr>
          <a:xfrm>
            <a:off x="4123944" y="4389120"/>
            <a:ext cx="181051" cy="201168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8" name="Candidate p10 r3c3 Band 298"/>
          <p:cNvSpPr/>
          <p:nvPr/>
        </p:nvSpPr>
        <p:spPr>
          <a:xfrm>
            <a:off x="4304995" y="4389120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299" name="Candidate p10 r3c3 Cell 299"/>
          <p:cNvSpPr/>
          <p:nvPr/>
        </p:nvSpPr>
        <p:spPr>
          <a:xfrm>
            <a:off x="4123944" y="4389120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00" name="Candidate p10 Frame 300"/>
          <p:cNvSpPr/>
          <p:nvPr/>
        </p:nvSpPr>
        <p:spPr>
          <a:xfrm>
            <a:off x="3520440" y="3785616"/>
            <a:ext cx="804672" cy="804672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01" name="Cand 10 Anchor Mark 301"/>
          <p:cNvSpPr/>
          <p:nvPr/>
        </p:nvSpPr>
        <p:spPr>
          <a:xfrm>
            <a:off x="3922776" y="4187952"/>
            <a:ext cx="201168" cy="201168"/>
          </a:xfrm>
          <a:prstGeom prst="rect">
            <a:avLst/>
          </a:prstGeom>
          <a:noFill/>
          <a:ln w="2222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Cand 10 Y 302"/>
              <p:cNvSpPr/>
              <p:nvPr/>
            </p:nvSpPr>
            <p:spPr>
              <a:xfrm>
                <a:off x="3520440" y="4590288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02" name="Cand 10 Y 302"/>
              <p:cNvSpPr/>
              <p:nvPr/>
            </p:nvSpPr>
            <p:spPr>
              <a:xfrm>
                <a:off x="3520440" y="4590288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50" b="0" i="0" dirty="0">
                    <a:solidFill>
                      <a:srgbClr val="222222"/>
                    </a:solidFill>
                  </a:rPr>
                  <a:t>Y_10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3" name="Cand 10 Times 303"/>
              <p:cNvSpPr/>
              <p:nvPr/>
            </p:nvSpPr>
            <p:spPr>
              <a:xfrm>
                <a:off x="4462272" y="4032504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× </m:t>
                      </m:r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[10]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03" name="Cand 10 Times 303"/>
              <p:cNvSpPr/>
              <p:nvPr/>
            </p:nvSpPr>
            <p:spPr>
              <a:xfrm>
                <a:off x="4462272" y="4032504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× Â[10] = 0.2</a:t>
                </a:r>
              </a:p>
            </p:txBody>
          </p:sp>
        </mc:Fallback>
      </mc:AlternateContent>
      <p:sp>
        <p:nvSpPr>
          <p:cNvPr id="304" name="Cand 15 Pos 304"/>
          <p:cNvSpPr/>
          <p:nvPr/>
        </p:nvSpPr>
        <p:spPr>
          <a:xfrm>
            <a:off x="2441448" y="48188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0C234B"/>
                </a:solidFill>
              </a:rPr>
              <a:t>p = 15</a:t>
            </a:r>
          </a:p>
        </p:txBody>
      </p:sp>
      <p:sp>
        <p:nvSpPr>
          <p:cNvPr id="305" name="Cand 15 RC 305"/>
          <p:cNvSpPr/>
          <p:nvPr/>
        </p:nvSpPr>
        <p:spPr>
          <a:xfrm>
            <a:off x="2441448" y="50749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(row 3, col 3)</a:t>
            </a:r>
          </a:p>
        </p:txBody>
      </p:sp>
      <p:sp>
        <p:nvSpPr>
          <p:cNvPr id="306" name="Cand 15 Clip 306"/>
          <p:cNvSpPr/>
          <p:nvPr/>
        </p:nvSpPr>
        <p:spPr>
          <a:xfrm>
            <a:off x="2441448" y="530352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3 Tile Cells Fall Off and Are Dropped</a:t>
            </a:r>
          </a:p>
        </p:txBody>
      </p:sp>
      <p:sp>
        <p:nvSpPr>
          <p:cNvPr id="307" name="Candidate p15 r0c0 Band 307"/>
          <p:cNvSpPr/>
          <p:nvPr/>
        </p:nvSpPr>
        <p:spPr>
          <a:xfrm>
            <a:off x="3520440" y="48188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08" name="Candidate p15 r0c0 Cell 308"/>
          <p:cNvSpPr/>
          <p:nvPr/>
        </p:nvSpPr>
        <p:spPr>
          <a:xfrm>
            <a:off x="3520440" y="48188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09" name="Candidate p15 r0c1 Band 309"/>
          <p:cNvSpPr/>
          <p:nvPr/>
        </p:nvSpPr>
        <p:spPr>
          <a:xfrm>
            <a:off x="3721608" y="48188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0" name="Candidate p15 r0c1 Cell 310"/>
          <p:cNvSpPr/>
          <p:nvPr/>
        </p:nvSpPr>
        <p:spPr>
          <a:xfrm>
            <a:off x="3721608" y="48188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1" name="Candidate p15 r0c2 Band 311"/>
          <p:cNvSpPr/>
          <p:nvPr/>
        </p:nvSpPr>
        <p:spPr>
          <a:xfrm>
            <a:off x="3922776" y="48188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2" name="Candidate p15 r0c2 Cell 312"/>
          <p:cNvSpPr/>
          <p:nvPr/>
        </p:nvSpPr>
        <p:spPr>
          <a:xfrm>
            <a:off x="3922776" y="48188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3" name="Candidate p15 r0c3 Band 313"/>
          <p:cNvSpPr/>
          <p:nvPr/>
        </p:nvSpPr>
        <p:spPr>
          <a:xfrm>
            <a:off x="4123944" y="4818888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4" name="Candidate p15 r0c3 Cell 314"/>
          <p:cNvSpPr/>
          <p:nvPr/>
        </p:nvSpPr>
        <p:spPr>
          <a:xfrm>
            <a:off x="4123944" y="4818888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5" name="Candidate p15 r1c0 Band 315"/>
          <p:cNvSpPr/>
          <p:nvPr/>
        </p:nvSpPr>
        <p:spPr>
          <a:xfrm>
            <a:off x="3520440" y="50200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6" name="Candidate p15 r1c0 Cell 316"/>
          <p:cNvSpPr/>
          <p:nvPr/>
        </p:nvSpPr>
        <p:spPr>
          <a:xfrm>
            <a:off x="3520440" y="50200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7" name="Candidate p15 r1c1 Band 317"/>
          <p:cNvSpPr/>
          <p:nvPr/>
        </p:nvSpPr>
        <p:spPr>
          <a:xfrm>
            <a:off x="3721608" y="5020056"/>
            <a:ext cx="201168" cy="201168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8" name="Candidate p15 r1c1 Cell 318"/>
          <p:cNvSpPr/>
          <p:nvPr/>
        </p:nvSpPr>
        <p:spPr>
          <a:xfrm>
            <a:off x="3721608" y="50200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19" name="Candidate p15 r1c2 Band 319"/>
          <p:cNvSpPr/>
          <p:nvPr/>
        </p:nvSpPr>
        <p:spPr>
          <a:xfrm>
            <a:off x="3922776" y="50200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0" name="Candidate p15 r1c2 Cell 320"/>
          <p:cNvSpPr/>
          <p:nvPr/>
        </p:nvSpPr>
        <p:spPr>
          <a:xfrm>
            <a:off x="3922776" y="50200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1" name="Candidate p15 r1c3 Band 321"/>
          <p:cNvSpPr/>
          <p:nvPr/>
        </p:nvSpPr>
        <p:spPr>
          <a:xfrm>
            <a:off x="4123944" y="5020056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2" name="Candidate p15 r1c3 Cell 322"/>
          <p:cNvSpPr/>
          <p:nvPr/>
        </p:nvSpPr>
        <p:spPr>
          <a:xfrm>
            <a:off x="4123944" y="5020056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3" name="Candidate p15 r2c0 Band 323"/>
          <p:cNvSpPr/>
          <p:nvPr/>
        </p:nvSpPr>
        <p:spPr>
          <a:xfrm>
            <a:off x="3520440" y="522122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4" name="Candidate p15 r2c0 Cell 324"/>
          <p:cNvSpPr/>
          <p:nvPr/>
        </p:nvSpPr>
        <p:spPr>
          <a:xfrm>
            <a:off x="3520440" y="522122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5" name="Candidate p15 r2c1 Band 325"/>
          <p:cNvSpPr/>
          <p:nvPr/>
        </p:nvSpPr>
        <p:spPr>
          <a:xfrm>
            <a:off x="3721608" y="522122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6" name="Candidate p15 r2c1 Cell 326"/>
          <p:cNvSpPr/>
          <p:nvPr/>
        </p:nvSpPr>
        <p:spPr>
          <a:xfrm>
            <a:off x="3721608" y="522122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7" name="Candidate p15 r2c2 Band 327"/>
          <p:cNvSpPr/>
          <p:nvPr/>
        </p:nvSpPr>
        <p:spPr>
          <a:xfrm>
            <a:off x="3922776" y="522122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8" name="Candidate p15 r2c2 Cell 328"/>
          <p:cNvSpPr/>
          <p:nvPr/>
        </p:nvSpPr>
        <p:spPr>
          <a:xfrm>
            <a:off x="3922776" y="522122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29" name="Candidate p15 r2c3 Band 329"/>
          <p:cNvSpPr/>
          <p:nvPr/>
        </p:nvSpPr>
        <p:spPr>
          <a:xfrm>
            <a:off x="4123944" y="5221224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0" name="Candidate p15 r2c3 Cell 330"/>
          <p:cNvSpPr/>
          <p:nvPr/>
        </p:nvSpPr>
        <p:spPr>
          <a:xfrm>
            <a:off x="4123944" y="5221224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1" name="Candidate p15 r3c0 Band 331"/>
          <p:cNvSpPr/>
          <p:nvPr/>
        </p:nvSpPr>
        <p:spPr>
          <a:xfrm>
            <a:off x="3520440" y="542239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2" name="Candidate p15 r3c0 Cell 332"/>
          <p:cNvSpPr/>
          <p:nvPr/>
        </p:nvSpPr>
        <p:spPr>
          <a:xfrm>
            <a:off x="3520440" y="542239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3" name="Candidate p15 r3c1 Band 333"/>
          <p:cNvSpPr/>
          <p:nvPr/>
        </p:nvSpPr>
        <p:spPr>
          <a:xfrm>
            <a:off x="3721608" y="542239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4" name="Candidate p15 r3c1 Cell 334"/>
          <p:cNvSpPr/>
          <p:nvPr/>
        </p:nvSpPr>
        <p:spPr>
          <a:xfrm>
            <a:off x="3721608" y="542239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5" name="Candidate p15 r3c2 Band 335"/>
          <p:cNvSpPr/>
          <p:nvPr/>
        </p:nvSpPr>
        <p:spPr>
          <a:xfrm>
            <a:off x="3922776" y="5422392"/>
            <a:ext cx="20116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6" name="Candidate p15 r3c2 Cell 336"/>
          <p:cNvSpPr/>
          <p:nvPr/>
        </p:nvSpPr>
        <p:spPr>
          <a:xfrm>
            <a:off x="3922776" y="542239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7" name="Candidate p15 r3c3 Band 337"/>
          <p:cNvSpPr/>
          <p:nvPr/>
        </p:nvSpPr>
        <p:spPr>
          <a:xfrm>
            <a:off x="4123944" y="5422392"/>
            <a:ext cx="181051" cy="201168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8" name="Candidate p15 r3c3 Band 338"/>
          <p:cNvSpPr/>
          <p:nvPr/>
        </p:nvSpPr>
        <p:spPr>
          <a:xfrm>
            <a:off x="4304995" y="5422392"/>
            <a:ext cx="20117" cy="20116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39" name="Candidate p15 r3c3 Cell 339"/>
          <p:cNvSpPr/>
          <p:nvPr/>
        </p:nvSpPr>
        <p:spPr>
          <a:xfrm>
            <a:off x="4123944" y="5422392"/>
            <a:ext cx="201168" cy="201168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40" name="Candidate p15 Frame 340"/>
          <p:cNvSpPr/>
          <p:nvPr/>
        </p:nvSpPr>
        <p:spPr>
          <a:xfrm>
            <a:off x="3520440" y="4818888"/>
            <a:ext cx="804672" cy="804672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41" name="Cand 15 Anchor Mark 341"/>
          <p:cNvSpPr/>
          <p:nvPr/>
        </p:nvSpPr>
        <p:spPr>
          <a:xfrm>
            <a:off x="4123944" y="5422392"/>
            <a:ext cx="201168" cy="201168"/>
          </a:xfrm>
          <a:prstGeom prst="rect">
            <a:avLst/>
          </a:prstGeom>
          <a:noFill/>
          <a:ln w="22225">
            <a:solidFill>
              <a:srgbClr val="AB052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2" name="Cand 15 Y 342"/>
              <p:cNvSpPr/>
              <p:nvPr/>
            </p:nvSpPr>
            <p:spPr>
              <a:xfrm>
                <a:off x="3520440" y="5623560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2" name="Cand 15 Y 342"/>
              <p:cNvSpPr/>
              <p:nvPr/>
            </p:nvSpPr>
            <p:spPr>
              <a:xfrm>
                <a:off x="3520440" y="5623560"/>
                <a:ext cx="804672" cy="201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50" b="0" i="0" dirty="0">
                    <a:solidFill>
                      <a:srgbClr val="222222"/>
                    </a:solidFill>
                  </a:rPr>
                  <a:t>Y_15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3" name="Cand 15 Times 343"/>
              <p:cNvSpPr/>
              <p:nvPr/>
            </p:nvSpPr>
            <p:spPr>
              <a:xfrm>
                <a:off x="4462272" y="5065776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× </m:t>
                      </m:r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AB052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[15]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AB052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43" name="Cand 15 Times 343"/>
              <p:cNvSpPr/>
              <p:nvPr/>
            </p:nvSpPr>
            <p:spPr>
              <a:xfrm>
                <a:off x="4462272" y="5065776"/>
                <a:ext cx="114300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× Â[15] = 0.1</a:t>
                </a:r>
              </a:p>
            </p:txBody>
          </p:sp>
        </mc:Fallback>
      </mc:AlternateContent>
      <p:sp>
        <p:nvSpPr>
          <p:cNvPr id="344" name="Row 0 To Bus 344"/>
          <p:cNvSpPr/>
          <p:nvPr/>
        </p:nvSpPr>
        <p:spPr>
          <a:xfrm>
            <a:off x="5596128" y="2121408"/>
            <a:ext cx="274320" cy="1"/>
          </a:xfrm>
          <a:custGeom>
            <a:avLst/>
            <a:gdLst/>
            <a:ahLst/>
            <a:cxnLst/>
            <a:rect l="0" t="0" r="r" b="b"/>
            <a:pathLst>
              <a:path w="274320" h="1" fill="none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</p:sp>
      <p:sp>
        <p:nvSpPr>
          <p:cNvPr id="345" name="Row 1 To Bus 345"/>
          <p:cNvSpPr/>
          <p:nvPr/>
        </p:nvSpPr>
        <p:spPr>
          <a:xfrm>
            <a:off x="5596128" y="3154680"/>
            <a:ext cx="274320" cy="1"/>
          </a:xfrm>
          <a:custGeom>
            <a:avLst/>
            <a:gdLst/>
            <a:ahLst/>
            <a:cxnLst/>
            <a:rect l="0" t="0" r="r" b="b"/>
            <a:pathLst>
              <a:path w="274320" h="1" fill="none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</p:sp>
      <p:sp>
        <p:nvSpPr>
          <p:cNvPr id="346" name="Row 2 To Bus 346"/>
          <p:cNvSpPr/>
          <p:nvPr/>
        </p:nvSpPr>
        <p:spPr>
          <a:xfrm>
            <a:off x="5596128" y="4187952"/>
            <a:ext cx="274320" cy="1"/>
          </a:xfrm>
          <a:custGeom>
            <a:avLst/>
            <a:gdLst/>
            <a:ahLst/>
            <a:cxnLst/>
            <a:rect l="0" t="0" r="r" b="b"/>
            <a:pathLst>
              <a:path w="274320" h="1" fill="none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</p:sp>
      <p:sp>
        <p:nvSpPr>
          <p:cNvPr id="347" name="Row 3 To Bus 347"/>
          <p:cNvSpPr/>
          <p:nvPr/>
        </p:nvSpPr>
        <p:spPr>
          <a:xfrm>
            <a:off x="5596128" y="5221224"/>
            <a:ext cx="274320" cy="1"/>
          </a:xfrm>
          <a:custGeom>
            <a:avLst/>
            <a:gdLst/>
            <a:ahLst/>
            <a:cxnLst/>
            <a:rect l="0" t="0" r="r" b="b"/>
            <a:pathLst>
              <a:path w="274320" h="1" fill="none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</p:sp>
      <p:sp>
        <p:nvSpPr>
          <p:cNvPr id="348" name="Bus 348"/>
          <p:cNvSpPr/>
          <p:nvPr/>
        </p:nvSpPr>
        <p:spPr>
          <a:xfrm>
            <a:off x="5870448" y="2121408"/>
            <a:ext cx="1" cy="3099816"/>
          </a:xfrm>
          <a:custGeom>
            <a:avLst/>
            <a:gdLst/>
            <a:ahLst/>
            <a:cxnLst/>
            <a:rect l="0" t="0" r="r" b="b"/>
            <a:pathLst>
              <a:path w="1" h="3099816" fill="none">
                <a:moveTo>
                  <a:pt x="0" y="0"/>
                </a:moveTo>
                <a:lnTo>
                  <a:pt x="0" y="3099816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</p:sp>
      <p:sp>
        <p:nvSpPr>
          <p:cNvPr id="349" name="Sum Node 349"/>
          <p:cNvSpPr/>
          <p:nvPr/>
        </p:nvSpPr>
        <p:spPr>
          <a:xfrm>
            <a:off x="5687568" y="3488436"/>
            <a:ext cx="365760" cy="3657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C234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0C234B"/>
                </a:solidFill>
              </a:rPr>
              <a:t>Σ</a:t>
            </a:r>
          </a:p>
        </p:txBody>
      </p:sp>
      <p:sp>
        <p:nvSpPr>
          <p:cNvPr id="350" name="Sum To Blend 350"/>
          <p:cNvSpPr/>
          <p:nvPr/>
        </p:nvSpPr>
        <p:spPr>
          <a:xfrm>
            <a:off x="6053328" y="3671316"/>
            <a:ext cx="210312" cy="1"/>
          </a:xfrm>
          <a:custGeom>
            <a:avLst/>
            <a:gdLst/>
            <a:ahLst/>
            <a:cxnLst/>
            <a:rect l="0" t="0" r="r" b="b"/>
            <a:pathLst>
              <a:path w="210312" h="1" fill="none">
                <a:moveTo>
                  <a:pt x="0" y="0"/>
                </a:moveTo>
                <a:lnTo>
                  <a:pt x="210312" y="0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</p:sp>
      <p:sp>
        <p:nvSpPr>
          <p:cNvPr id="351" name="Output Card 351"/>
          <p:cNvSpPr/>
          <p:nvPr/>
        </p:nvSpPr>
        <p:spPr>
          <a:xfrm>
            <a:off x="6263640" y="1298448"/>
            <a:ext cx="2423160" cy="4617720"/>
          </a:xfrm>
          <a:prstGeom prst="roundRect">
            <a:avLst>
              <a:gd name="adj" fmla="val 5000"/>
            </a:avLst>
          </a:prstGeom>
          <a:solidFill>
            <a:srgbClr val="E9EEF5"/>
          </a:solidFill>
          <a:ln w="9525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2" name="Blend Title 352"/>
          <p:cNvSpPr/>
          <p:nvPr/>
        </p:nvSpPr>
        <p:spPr>
          <a:xfrm>
            <a:off x="6263640" y="13441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i="0" dirty="0">
                <a:solidFill>
                  <a:srgbClr val="0C234B"/>
                </a:solidFill>
              </a:rPr>
              <a:t>Blended Grid 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3" name="Blend Eq 353"/>
              <p:cNvSpPr/>
              <p:nvPr/>
            </p:nvSpPr>
            <p:spPr>
              <a:xfrm>
                <a:off x="6309360" y="1627632"/>
                <a:ext cx="233172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̂"/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3" name="Blend Eq 353"/>
              <p:cNvSpPr/>
              <p:nvPr/>
            </p:nvSpPr>
            <p:spPr>
              <a:xfrm>
                <a:off x="6309360" y="1627632"/>
                <a:ext cx="2331720" cy="3108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Ŷ = Σ_p Â[p] · Y_p</a:t>
                </a:r>
              </a:p>
            </p:txBody>
          </p:sp>
        </mc:Fallback>
      </mc:AlternateContent>
      <p:sp>
        <p:nvSpPr>
          <p:cNvPr id="354" name="Blended r0c0 Band 354"/>
          <p:cNvSpPr/>
          <p:nvPr/>
        </p:nvSpPr>
        <p:spPr>
          <a:xfrm>
            <a:off x="6597396" y="2011680"/>
            <a:ext cx="307238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5" name="Blended r0c0 Band 355"/>
          <p:cNvSpPr/>
          <p:nvPr/>
        </p:nvSpPr>
        <p:spPr>
          <a:xfrm>
            <a:off x="6904634" y="2011680"/>
            <a:ext cx="118506" cy="438912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6" name="Blended r0c0 Band 356"/>
          <p:cNvSpPr/>
          <p:nvPr/>
        </p:nvSpPr>
        <p:spPr>
          <a:xfrm>
            <a:off x="7023141" y="2011680"/>
            <a:ext cx="13167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7" name="Blended r0c0 Cell 357"/>
          <p:cNvSpPr/>
          <p:nvPr/>
        </p:nvSpPr>
        <p:spPr>
          <a:xfrm>
            <a:off x="6597396" y="2011680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8" name="Blended r0c1 Band 358"/>
          <p:cNvSpPr/>
          <p:nvPr/>
        </p:nvSpPr>
        <p:spPr>
          <a:xfrm>
            <a:off x="7036308" y="2011680"/>
            <a:ext cx="307238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59" name="Blended r0c1 Band 359"/>
          <p:cNvSpPr/>
          <p:nvPr/>
        </p:nvSpPr>
        <p:spPr>
          <a:xfrm>
            <a:off x="7343546" y="2011680"/>
            <a:ext cx="118506" cy="438912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0" name="Blended r0c1 Band 360"/>
          <p:cNvSpPr/>
          <p:nvPr/>
        </p:nvSpPr>
        <p:spPr>
          <a:xfrm>
            <a:off x="7462053" y="2011680"/>
            <a:ext cx="13167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1" name="Blended r0c1 Cell 361"/>
          <p:cNvSpPr/>
          <p:nvPr/>
        </p:nvSpPr>
        <p:spPr>
          <a:xfrm>
            <a:off x="7036308" y="2011680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2" name="Blended r0c2 Band 362"/>
          <p:cNvSpPr/>
          <p:nvPr/>
        </p:nvSpPr>
        <p:spPr>
          <a:xfrm>
            <a:off x="7475220" y="2011680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3" name="Blended r0c2 Cell 363"/>
          <p:cNvSpPr/>
          <p:nvPr/>
        </p:nvSpPr>
        <p:spPr>
          <a:xfrm>
            <a:off x="7475220" y="2011680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4" name="Blended r0c3 Band 364"/>
          <p:cNvSpPr/>
          <p:nvPr/>
        </p:nvSpPr>
        <p:spPr>
          <a:xfrm>
            <a:off x="7914132" y="2011680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5" name="Blended r0c3 Cell 365"/>
          <p:cNvSpPr/>
          <p:nvPr/>
        </p:nvSpPr>
        <p:spPr>
          <a:xfrm>
            <a:off x="7914132" y="2011680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6" name="Blended r1c0 Band 366"/>
          <p:cNvSpPr/>
          <p:nvPr/>
        </p:nvSpPr>
        <p:spPr>
          <a:xfrm>
            <a:off x="6597396" y="2450592"/>
            <a:ext cx="307238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7" name="Blended r1c0 Band 367"/>
          <p:cNvSpPr/>
          <p:nvPr/>
        </p:nvSpPr>
        <p:spPr>
          <a:xfrm>
            <a:off x="6904634" y="2450592"/>
            <a:ext cx="118506" cy="438912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8" name="Blended r1c0 Band 368"/>
          <p:cNvSpPr/>
          <p:nvPr/>
        </p:nvSpPr>
        <p:spPr>
          <a:xfrm>
            <a:off x="7023141" y="2450592"/>
            <a:ext cx="13167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69" name="Blended r1c0 Cell 369"/>
          <p:cNvSpPr/>
          <p:nvPr/>
        </p:nvSpPr>
        <p:spPr>
          <a:xfrm>
            <a:off x="6597396" y="2450592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0" name="Blended r1c1 Band 370"/>
          <p:cNvSpPr/>
          <p:nvPr/>
        </p:nvSpPr>
        <p:spPr>
          <a:xfrm>
            <a:off x="7036308" y="2450592"/>
            <a:ext cx="158008" cy="438912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1" name="Blended r1c1 Band 371"/>
          <p:cNvSpPr/>
          <p:nvPr/>
        </p:nvSpPr>
        <p:spPr>
          <a:xfrm>
            <a:off x="7194316" y="2450592"/>
            <a:ext cx="131674" cy="438912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2" name="Blended r1c1 Band 372"/>
          <p:cNvSpPr/>
          <p:nvPr/>
        </p:nvSpPr>
        <p:spPr>
          <a:xfrm>
            <a:off x="7325990" y="2450592"/>
            <a:ext cx="118506" cy="438912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3" name="Blended r1c1 Band 373"/>
          <p:cNvSpPr/>
          <p:nvPr/>
        </p:nvSpPr>
        <p:spPr>
          <a:xfrm>
            <a:off x="7444496" y="2450592"/>
            <a:ext cx="30724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4" name="Blended r1c1 Cell 374"/>
          <p:cNvSpPr/>
          <p:nvPr/>
        </p:nvSpPr>
        <p:spPr>
          <a:xfrm>
            <a:off x="7036308" y="2450592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5" name="Blended r1c2 Band 375"/>
          <p:cNvSpPr/>
          <p:nvPr/>
        </p:nvSpPr>
        <p:spPr>
          <a:xfrm>
            <a:off x="7475220" y="2450592"/>
            <a:ext cx="263347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6" name="Blended r1c2 Band 376"/>
          <p:cNvSpPr/>
          <p:nvPr/>
        </p:nvSpPr>
        <p:spPr>
          <a:xfrm>
            <a:off x="7738567" y="2450592"/>
            <a:ext cx="158008" cy="438912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7" name="Blended r1c2 Band 377"/>
          <p:cNvSpPr/>
          <p:nvPr/>
        </p:nvSpPr>
        <p:spPr>
          <a:xfrm>
            <a:off x="7896576" y="2450592"/>
            <a:ext cx="17556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8" name="Blended r1c2 Cell 378"/>
          <p:cNvSpPr/>
          <p:nvPr/>
        </p:nvSpPr>
        <p:spPr>
          <a:xfrm>
            <a:off x="7475220" y="2450592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79" name="Blended r1c3 Band 379"/>
          <p:cNvSpPr/>
          <p:nvPr/>
        </p:nvSpPr>
        <p:spPr>
          <a:xfrm>
            <a:off x="7914132" y="2450592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0" name="Blended r1c3 Cell 380"/>
          <p:cNvSpPr/>
          <p:nvPr/>
        </p:nvSpPr>
        <p:spPr>
          <a:xfrm>
            <a:off x="7914132" y="2450592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1" name="Blended r2c0 Band 381"/>
          <p:cNvSpPr/>
          <p:nvPr/>
        </p:nvSpPr>
        <p:spPr>
          <a:xfrm>
            <a:off x="6597396" y="2889504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2" name="Blended r2c0 Cell 382"/>
          <p:cNvSpPr/>
          <p:nvPr/>
        </p:nvSpPr>
        <p:spPr>
          <a:xfrm>
            <a:off x="6597396" y="2889504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3" name="Blended r2c1 Band 383"/>
          <p:cNvSpPr/>
          <p:nvPr/>
        </p:nvSpPr>
        <p:spPr>
          <a:xfrm>
            <a:off x="7036308" y="2889504"/>
            <a:ext cx="263347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4" name="Blended r2c1 Band 384"/>
          <p:cNvSpPr/>
          <p:nvPr/>
        </p:nvSpPr>
        <p:spPr>
          <a:xfrm>
            <a:off x="7299655" y="2889504"/>
            <a:ext cx="158008" cy="438912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5" name="Blended r2c1 Band 385"/>
          <p:cNvSpPr/>
          <p:nvPr/>
        </p:nvSpPr>
        <p:spPr>
          <a:xfrm>
            <a:off x="7457664" y="2889504"/>
            <a:ext cx="17556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6" name="Blended r2c1 Cell 386"/>
          <p:cNvSpPr/>
          <p:nvPr/>
        </p:nvSpPr>
        <p:spPr>
          <a:xfrm>
            <a:off x="7036308" y="2889504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7" name="Blended r2c2 Band 387"/>
          <p:cNvSpPr/>
          <p:nvPr/>
        </p:nvSpPr>
        <p:spPr>
          <a:xfrm>
            <a:off x="7475220" y="2889504"/>
            <a:ext cx="175565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8" name="Blended r2c2 Band 388"/>
          <p:cNvSpPr/>
          <p:nvPr/>
        </p:nvSpPr>
        <p:spPr>
          <a:xfrm>
            <a:off x="7650785" y="2889504"/>
            <a:ext cx="158008" cy="438912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89" name="Blended r2c2 Band 389"/>
          <p:cNvSpPr/>
          <p:nvPr/>
        </p:nvSpPr>
        <p:spPr>
          <a:xfrm>
            <a:off x="7808793" y="2889504"/>
            <a:ext cx="79004" cy="438912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0" name="Blended r2c2 Band 390"/>
          <p:cNvSpPr/>
          <p:nvPr/>
        </p:nvSpPr>
        <p:spPr>
          <a:xfrm>
            <a:off x="7887797" y="2889504"/>
            <a:ext cx="26335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1" name="Blended r2c2 Cell 391"/>
          <p:cNvSpPr/>
          <p:nvPr/>
        </p:nvSpPr>
        <p:spPr>
          <a:xfrm>
            <a:off x="7475220" y="2889504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2" name="Blended r2c3 Band 392"/>
          <p:cNvSpPr/>
          <p:nvPr/>
        </p:nvSpPr>
        <p:spPr>
          <a:xfrm>
            <a:off x="7914132" y="2889504"/>
            <a:ext cx="35113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3" name="Blended r2c3 Band 393"/>
          <p:cNvSpPr/>
          <p:nvPr/>
        </p:nvSpPr>
        <p:spPr>
          <a:xfrm>
            <a:off x="8265262" y="2889504"/>
            <a:ext cx="79004" cy="438912"/>
          </a:xfrm>
          <a:prstGeom prst="rect">
            <a:avLst/>
          </a:prstGeom>
          <a:solidFill>
            <a:srgbClr val="2ECC4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4" name="Blended r2c3 Band 394"/>
          <p:cNvSpPr/>
          <p:nvPr/>
        </p:nvSpPr>
        <p:spPr>
          <a:xfrm>
            <a:off x="8344266" y="2889504"/>
            <a:ext cx="8778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5" name="Blended r2c3 Cell 395"/>
          <p:cNvSpPr/>
          <p:nvPr/>
        </p:nvSpPr>
        <p:spPr>
          <a:xfrm>
            <a:off x="7914132" y="2889504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6" name="Blended r3c0 Band 396"/>
          <p:cNvSpPr/>
          <p:nvPr/>
        </p:nvSpPr>
        <p:spPr>
          <a:xfrm>
            <a:off x="6597396" y="3328416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7" name="Blended r3c0 Cell 397"/>
          <p:cNvSpPr/>
          <p:nvPr/>
        </p:nvSpPr>
        <p:spPr>
          <a:xfrm>
            <a:off x="6597396" y="3328416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8" name="Blended r3c1 Band 398"/>
          <p:cNvSpPr/>
          <p:nvPr/>
        </p:nvSpPr>
        <p:spPr>
          <a:xfrm>
            <a:off x="7036308" y="3328416"/>
            <a:ext cx="438912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399" name="Blended r3c1 Cell 399"/>
          <p:cNvSpPr/>
          <p:nvPr/>
        </p:nvSpPr>
        <p:spPr>
          <a:xfrm>
            <a:off x="7036308" y="3328416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0" name="Blended r3c2 Band 400"/>
          <p:cNvSpPr/>
          <p:nvPr/>
        </p:nvSpPr>
        <p:spPr>
          <a:xfrm>
            <a:off x="7475220" y="3328416"/>
            <a:ext cx="35113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1" name="Blended r3c2 Band 401"/>
          <p:cNvSpPr/>
          <p:nvPr/>
        </p:nvSpPr>
        <p:spPr>
          <a:xfrm>
            <a:off x="7826350" y="3328416"/>
            <a:ext cx="79004" cy="438912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2" name="Blended r3c2 Band 402"/>
          <p:cNvSpPr/>
          <p:nvPr/>
        </p:nvSpPr>
        <p:spPr>
          <a:xfrm>
            <a:off x="7905354" y="3328416"/>
            <a:ext cx="8778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3" name="Blended r3c2 Cell 403"/>
          <p:cNvSpPr/>
          <p:nvPr/>
        </p:nvSpPr>
        <p:spPr>
          <a:xfrm>
            <a:off x="7475220" y="3328416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4" name="Blended r3c3 Band 404"/>
          <p:cNvSpPr/>
          <p:nvPr/>
        </p:nvSpPr>
        <p:spPr>
          <a:xfrm>
            <a:off x="7914132" y="3328416"/>
            <a:ext cx="307238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5" name="Blended r3c3 Band 405"/>
          <p:cNvSpPr/>
          <p:nvPr/>
        </p:nvSpPr>
        <p:spPr>
          <a:xfrm>
            <a:off x="8221370" y="3328416"/>
            <a:ext cx="79004" cy="438912"/>
          </a:xfrm>
          <a:prstGeom prst="rect">
            <a:avLst/>
          </a:prstGeom>
          <a:solidFill>
            <a:srgbClr val="FF851B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6" name="Blended r3c3 Band 406"/>
          <p:cNvSpPr/>
          <p:nvPr/>
        </p:nvSpPr>
        <p:spPr>
          <a:xfrm>
            <a:off x="8300375" y="3328416"/>
            <a:ext cx="39502" cy="438912"/>
          </a:xfrm>
          <a:prstGeom prst="rect">
            <a:avLst/>
          </a:prstGeom>
          <a:solidFill>
            <a:srgbClr val="FF4136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7" name="Blended r3c3 Band 407"/>
          <p:cNvSpPr/>
          <p:nvPr/>
        </p:nvSpPr>
        <p:spPr>
          <a:xfrm>
            <a:off x="8339877" y="3328416"/>
            <a:ext cx="13167" cy="43891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8" name="Blended r3c3 Cell 408"/>
          <p:cNvSpPr/>
          <p:nvPr/>
        </p:nvSpPr>
        <p:spPr>
          <a:xfrm>
            <a:off x="7914132" y="3328416"/>
            <a:ext cx="438912" cy="438912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09" name="Blended Frame 409"/>
          <p:cNvSpPr/>
          <p:nvPr/>
        </p:nvSpPr>
        <p:spPr>
          <a:xfrm>
            <a:off x="6597396" y="2011680"/>
            <a:ext cx="1755648" cy="1755648"/>
          </a:xfrm>
          <a:prstGeom prst="rect">
            <a:avLst/>
          </a:prstGeom>
          <a:noFill/>
          <a:ln w="12700">
            <a:solidFill>
              <a:srgbClr val="0C234B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10" name="Cell 5 Mark 410"/>
          <p:cNvSpPr/>
          <p:nvPr/>
        </p:nvSpPr>
        <p:spPr>
          <a:xfrm>
            <a:off x="7036308" y="2450592"/>
            <a:ext cx="438912" cy="438912"/>
          </a:xfrm>
          <a:prstGeom prst="rect">
            <a:avLst/>
          </a:prstGeom>
          <a:noFill/>
          <a:ln w="28575">
            <a:solidFill>
              <a:srgbClr val="FFB000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11" name="Cell 5 Callout Title 411"/>
          <p:cNvSpPr/>
          <p:nvPr/>
        </p:nvSpPr>
        <p:spPr>
          <a:xfrm>
            <a:off x="6355080" y="379476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i="0" dirty="0">
                <a:solidFill>
                  <a:srgbClr val="222222"/>
                </a:solidFill>
              </a:rPr>
              <a:t>Cell 5 (Gold Outline):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2" name="Cell 5 Callout Eq 412"/>
              <p:cNvSpPr/>
              <p:nvPr/>
            </p:nvSpPr>
            <p:spPr>
              <a:xfrm>
                <a:off x="6309360" y="4014216"/>
                <a:ext cx="233172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n-US" sz="1050" b="0" i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0.4 </m:t>
                      </m:r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b="0" i="0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0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TL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+0.3 </m:t>
                      </m:r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050" b="0" i="0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0">
                                  <a:solidFill>
                                    <a:srgbClr val="595959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BR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+0.3 </m:t>
                      </m:r>
                      <m:sSub>
                        <m:sSubPr>
                          <m:ctrl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12" name="Cell 5 Callout Eq 412"/>
              <p:cNvSpPr/>
              <p:nvPr/>
            </p:nvSpPr>
            <p:spPr>
              <a:xfrm>
                <a:off x="6309360" y="4014216"/>
                <a:ext cx="2331720" cy="237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50" b="0" i="0" dirty="0">
                    <a:solidFill>
                      <a:srgbClr val="222222"/>
                    </a:solidFill>
                  </a:rPr>
                  <a:t>0.4 Ŝ_TL + 0.3 Ŝ_BR + 0.3 x_5</a:t>
                </a:r>
              </a:p>
            </p:txBody>
          </p:sp>
        </mc:Fallback>
      </mc:AlternateContent>
      <p:sp>
        <p:nvSpPr>
          <p:cNvPr id="413" name="Cell 5 Callout 413"/>
          <p:cNvSpPr/>
          <p:nvPr/>
        </p:nvSpPr>
        <p:spPr>
          <a:xfrm>
            <a:off x="6355080" y="4224528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= 0.36 Red, 0.27 Orange,</a:t>
            </a:r>
          </a:p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0.30 Blue, 0.07 Other</a:t>
            </a:r>
          </a:p>
        </p:txBody>
      </p:sp>
      <p:sp>
        <p:nvSpPr>
          <p:cNvPr id="414" name="Loss Box 414"/>
          <p:cNvSpPr/>
          <p:nvPr/>
        </p:nvSpPr>
        <p:spPr>
          <a:xfrm>
            <a:off x="6373368" y="4645152"/>
            <a:ext cx="2203704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7F7F7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15" name="Loss Title 415"/>
          <p:cNvSpPr/>
          <p:nvPr/>
        </p:nvSpPr>
        <p:spPr>
          <a:xfrm>
            <a:off x="6373368" y="4681728"/>
            <a:ext cx="2203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i="0" dirty="0">
                <a:solidFill>
                  <a:srgbClr val="222222"/>
                </a:solidFill>
              </a:rPr>
              <a:t>One Loss on 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6" name="Loss Eq 416"/>
              <p:cNvSpPr/>
              <p:nvPr/>
            </p:nvSpPr>
            <p:spPr>
              <a:xfrm>
                <a:off x="6400800" y="4956048"/>
                <a:ext cx="2148840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exec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lin"/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 log</m:t>
                      </m:r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100" b="0" i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100" b="0" i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100" b="0" i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100" b="0" i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6" name="Loss Eq 416"/>
              <p:cNvSpPr/>
              <p:nvPr/>
            </p:nvSpPr>
            <p:spPr>
              <a:xfrm>
                <a:off x="6400800" y="4956048"/>
                <a:ext cx="2148840" cy="329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100" b="0" i="0" dirty="0">
                    <a:solidFill>
                      <a:srgbClr val="222222"/>
                    </a:solidFill>
                  </a:rPr>
                  <a:t>L_exec = −(1/16) Σ_c log Ŷ_c[y_c]</a:t>
                </a:r>
              </a:p>
            </p:txBody>
          </p:sp>
        </mc:Fallback>
      </mc:AlternateContent>
      <p:sp>
        <p:nvSpPr>
          <p:cNvPr id="417" name="Loss Note 417"/>
          <p:cNvSpPr/>
          <p:nvPr/>
        </p:nvSpPr>
        <p:spPr>
          <a:xfrm>
            <a:off x="6400800" y="5248656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Not 16 Losses Averaged</a:t>
            </a:r>
          </a:p>
        </p:txBody>
      </p:sp>
      <p:sp>
        <p:nvSpPr>
          <p:cNvPr id="418" name="Legend Other 418"/>
          <p:cNvSpPr/>
          <p:nvPr/>
        </p:nvSpPr>
        <p:spPr>
          <a:xfrm>
            <a:off x="6391656" y="5568696"/>
            <a:ext cx="182880" cy="182880"/>
          </a:xfrm>
          <a:prstGeom prst="rect">
            <a:avLst/>
          </a:prstGeom>
          <a:solidFill>
            <a:srgbClr val="E4E4E4"/>
          </a:solidFill>
          <a:ln w="6350">
            <a:solidFill>
              <a:srgbClr val="7F7F7F"/>
            </a:solidFill>
          </a:ln>
        </p:spPr>
        <p:txBody>
          <a:bodyPr wrap="square" lIns="36576" tIns="36576" rIns="36576" bIns="36576" anchor="ctr">
            <a:noAutofit/>
          </a:bodyPr>
          <a:lstStyle/>
          <a:p>
            <a:endParaRPr lang="en-US"/>
          </a:p>
        </p:txBody>
      </p:sp>
      <p:sp>
        <p:nvSpPr>
          <p:cNvPr id="419" name="Legend Other Text 419"/>
          <p:cNvSpPr/>
          <p:nvPr/>
        </p:nvSpPr>
        <p:spPr>
          <a:xfrm>
            <a:off x="6629400" y="549554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= Other 9 Colors</a:t>
            </a:r>
          </a:p>
          <a:p>
            <a:pPr algn="l">
              <a:lnSpc>
                <a:spcPct val="100000"/>
              </a:lnSpc>
            </a:pPr>
            <a:r>
              <a:rPr lang="en-US" sz="1000" b="0" i="0" dirty="0">
                <a:solidFill>
                  <a:srgbClr val="595959"/>
                </a:solidFill>
              </a:rPr>
              <a:t>Band Width = Probability</a:t>
            </a:r>
          </a:p>
        </p:txBody>
      </p:sp>
    </p:spTree>
    <p:extLst>
      <p:ext uri="{BB962C8B-B14F-4D97-AF65-F5344CB8AC3E}">
        <p14:creationId xmlns:p14="http://schemas.microsoft.com/office/powerpoint/2010/main" val="139762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60F0E6-1ACA-415C-9205-D2FA031CA28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84887ff-c039-43b5-abfa-4284895319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33553</TotalTime>
  <Words>5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Training Iteration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Leake</dc:creator>
  <cp:lastModifiedBy>Leake, James Tyler - (jtylerleake)</cp:lastModifiedBy>
  <cp:revision>1819</cp:revision>
  <cp:lastPrinted>2026-07-27T22:34:17Z</cp:lastPrinted>
  <dcterms:created xsi:type="dcterms:W3CDTF">2026-06-22T16:07:56Z</dcterms:created>
  <dcterms:modified xsi:type="dcterms:W3CDTF">2026-10-09T19:42:35Z</dcterms:modified>
</cp:coreProperties>
</file>